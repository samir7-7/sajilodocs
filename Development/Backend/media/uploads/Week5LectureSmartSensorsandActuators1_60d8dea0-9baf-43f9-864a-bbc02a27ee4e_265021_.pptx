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media/image19.jpg" ContentType="image/jpg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78" r:id="rId5"/>
    <p:sldId id="280" r:id="rId6"/>
    <p:sldId id="279" r:id="rId7"/>
    <p:sldId id="277" r:id="rId8"/>
    <p:sldId id="281" r:id="rId9"/>
    <p:sldId id="282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276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2l4dNNL4b0jmoa/gjz1n4ORb4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81" autoAdjust="0"/>
  </p:normalViewPr>
  <p:slideViewPr>
    <p:cSldViewPr snapToGrid="0">
      <p:cViewPr varScale="1">
        <p:scale>
          <a:sx n="75" d="100"/>
          <a:sy n="75" d="100"/>
        </p:scale>
        <p:origin x="94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66" name="Google Shape;6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3" name="Google Shape;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5402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smtClean="0"/>
              <a:t>Reference: https://www.ti.com/document-viewer/lit/html/SSZTCA2</a:t>
            </a:r>
            <a:endParaRPr dirty="0"/>
          </a:p>
        </p:txBody>
      </p:sp>
      <p:sp>
        <p:nvSpPr>
          <p:cNvPr id="258" name="Google Shape;25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341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58" name="Google Shape;25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31835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4894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69288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8453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>
            <a:spLocks noGrp="1"/>
          </p:cNvSpPr>
          <p:nvPr>
            <p:ph type="ctrTitle"/>
          </p:nvPr>
        </p:nvSpPr>
        <p:spPr>
          <a:xfrm>
            <a:off x="1524000" y="1122362"/>
            <a:ext cx="9144000" cy="285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6000"/>
              <a:buFont typeface="Calibri"/>
              <a:buNone/>
              <a:defRPr sz="6000">
                <a:solidFill>
                  <a:srgbClr val="1F386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2"/>
          <p:cNvSpPr txBox="1">
            <a:spLocks noGrp="1"/>
          </p:cNvSpPr>
          <p:nvPr>
            <p:ph type="subTitle" idx="1"/>
          </p:nvPr>
        </p:nvSpPr>
        <p:spPr>
          <a:xfrm>
            <a:off x="1524000" y="4067174"/>
            <a:ext cx="914400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6" name="Google Shape;26;p22" descr="A picture containing drawing, foo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2400" y="228600"/>
            <a:ext cx="645622" cy="539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3"/>
          <p:cNvSpPr txBox="1">
            <a:spLocks noGrp="1"/>
          </p:cNvSpPr>
          <p:nvPr>
            <p:ph type="body" idx="1"/>
          </p:nvPr>
        </p:nvSpPr>
        <p:spPr>
          <a:xfrm>
            <a:off x="178205" y="1727383"/>
            <a:ext cx="11175595" cy="4492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  <a:defRPr>
                <a:solidFill>
                  <a:srgbClr val="1F386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3"/>
          <p:cNvSpPr txBox="1">
            <a:spLocks noGrp="1"/>
          </p:cNvSpPr>
          <p:nvPr>
            <p:ph type="dt" idx="10"/>
          </p:nvPr>
        </p:nvSpPr>
        <p:spPr>
          <a:xfrm>
            <a:off x="9155017" y="6366984"/>
            <a:ext cx="13424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56989D9-8D8A-48F7-B141-ADA866345EC9}" type="datetime4">
              <a:rPr lang="en-US" smtClean="0"/>
              <a:t>November 14, 2025</a:t>
            </a:fld>
            <a:endParaRPr/>
          </a:p>
        </p:txBody>
      </p:sp>
      <p:sp>
        <p:nvSpPr>
          <p:cNvPr id="31" name="Google Shape;31;p23"/>
          <p:cNvSpPr txBox="1">
            <a:spLocks noGrp="1"/>
          </p:cNvSpPr>
          <p:nvPr>
            <p:ph type="ftr" idx="11"/>
          </p:nvPr>
        </p:nvSpPr>
        <p:spPr>
          <a:xfrm>
            <a:off x="3170317" y="6356350"/>
            <a:ext cx="5731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 smtClean="0"/>
              <a:t>Lecture 5 – Smart Sensors and Smart Actuators</a:t>
            </a:r>
            <a:endParaRPr lang="en-US" dirty="0"/>
          </a:p>
        </p:txBody>
      </p:sp>
      <p:sp>
        <p:nvSpPr>
          <p:cNvPr id="32" name="Google Shape;32;p23"/>
          <p:cNvSpPr txBox="1">
            <a:spLocks noGrp="1"/>
          </p:cNvSpPr>
          <p:nvPr>
            <p:ph type="sldNum" idx="12"/>
          </p:nvPr>
        </p:nvSpPr>
        <p:spPr>
          <a:xfrm>
            <a:off x="10668000" y="6356350"/>
            <a:ext cx="685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4773" y="1558155"/>
            <a:ext cx="4723448" cy="6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dt" idx="10"/>
          </p:nvPr>
        </p:nvSpPr>
        <p:spPr>
          <a:xfrm>
            <a:off x="9155017" y="6366984"/>
            <a:ext cx="13424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C3C22B7-7E9C-48D7-8CF4-D52414601039}" type="datetime4">
              <a:rPr lang="en-US" smtClean="0"/>
              <a:t>November 14, 2025</a:t>
            </a:fld>
            <a:endParaRPr/>
          </a:p>
        </p:txBody>
      </p:sp>
      <p:sp>
        <p:nvSpPr>
          <p:cNvPr id="39" name="Google Shape;39;p24"/>
          <p:cNvSpPr txBox="1">
            <a:spLocks noGrp="1"/>
          </p:cNvSpPr>
          <p:nvPr>
            <p:ph type="ftr" idx="11"/>
          </p:nvPr>
        </p:nvSpPr>
        <p:spPr>
          <a:xfrm>
            <a:off x="3170317" y="6356350"/>
            <a:ext cx="5731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Lecture 5 – Smart Sensors and Smart Actuators</a:t>
            </a:r>
            <a:endParaRPr/>
          </a:p>
        </p:txBody>
      </p:sp>
      <p:sp>
        <p:nvSpPr>
          <p:cNvPr id="40" name="Google Shape;40;p24"/>
          <p:cNvSpPr txBox="1">
            <a:spLocks noGrp="1"/>
          </p:cNvSpPr>
          <p:nvPr>
            <p:ph type="sldNum" idx="12"/>
          </p:nvPr>
        </p:nvSpPr>
        <p:spPr>
          <a:xfrm>
            <a:off x="10668000" y="6356350"/>
            <a:ext cx="685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4773" y="1558155"/>
            <a:ext cx="4723448" cy="6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5"/>
          <p:cNvSpPr txBox="1">
            <a:spLocks noGrp="1"/>
          </p:cNvSpPr>
          <p:nvPr>
            <p:ph type="dt" idx="10"/>
          </p:nvPr>
        </p:nvSpPr>
        <p:spPr>
          <a:xfrm>
            <a:off x="9155017" y="6366984"/>
            <a:ext cx="13424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678A421-2EB0-4E7B-A2F3-586439E020A8}" type="datetime4">
              <a:rPr lang="en-US" smtClean="0"/>
              <a:t>November 14, 2025</a:t>
            </a:fld>
            <a:endParaRPr/>
          </a:p>
        </p:txBody>
      </p:sp>
      <p:sp>
        <p:nvSpPr>
          <p:cNvPr id="49" name="Google Shape;49;p25"/>
          <p:cNvSpPr txBox="1">
            <a:spLocks noGrp="1"/>
          </p:cNvSpPr>
          <p:nvPr>
            <p:ph type="ftr" idx="11"/>
          </p:nvPr>
        </p:nvSpPr>
        <p:spPr>
          <a:xfrm>
            <a:off x="3170317" y="6356350"/>
            <a:ext cx="5731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Lecture 5 – Smart Sensors and Smart Actuators</a:t>
            </a:r>
            <a:endParaRPr/>
          </a:p>
        </p:txBody>
      </p:sp>
      <p:sp>
        <p:nvSpPr>
          <p:cNvPr id="50" name="Google Shape;50;p25"/>
          <p:cNvSpPr txBox="1">
            <a:spLocks noGrp="1"/>
          </p:cNvSpPr>
          <p:nvPr>
            <p:ph type="sldNum" idx="12"/>
          </p:nvPr>
        </p:nvSpPr>
        <p:spPr>
          <a:xfrm>
            <a:off x="10668000" y="6356350"/>
            <a:ext cx="685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" name="Google Shape;5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4773" y="1618601"/>
            <a:ext cx="4723448" cy="6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dt" idx="10"/>
          </p:nvPr>
        </p:nvSpPr>
        <p:spPr>
          <a:xfrm>
            <a:off x="9155017" y="6366984"/>
            <a:ext cx="13424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7425756-9BE0-4D54-91DE-21C4DEC5DE43}" type="datetime4">
              <a:rPr lang="en-US" smtClean="0"/>
              <a:t>November 14, 2025</a:t>
            </a:fld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ftr" idx="11"/>
          </p:nvPr>
        </p:nvSpPr>
        <p:spPr>
          <a:xfrm>
            <a:off x="3170317" y="6356350"/>
            <a:ext cx="5731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Lecture 5 – Smart Sensors and Smart Actuators</a:t>
            </a:r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sldNum" idx="12"/>
          </p:nvPr>
        </p:nvSpPr>
        <p:spPr>
          <a:xfrm>
            <a:off x="10668000" y="6356350"/>
            <a:ext cx="685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4773" y="1558155"/>
            <a:ext cx="4723448" cy="6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dt" idx="10"/>
          </p:nvPr>
        </p:nvSpPr>
        <p:spPr>
          <a:xfrm>
            <a:off x="9155017" y="6366984"/>
            <a:ext cx="13424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30B5B22-F758-4CDA-80E7-FE105FDC6EA7}" type="datetime4">
              <a:rPr lang="en-US" smtClean="0"/>
              <a:t>November 14, 2025</a:t>
            </a:fld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ftr" idx="11"/>
          </p:nvPr>
        </p:nvSpPr>
        <p:spPr>
          <a:xfrm>
            <a:off x="3170317" y="6356350"/>
            <a:ext cx="5731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mtClean="0"/>
              <a:t>Lecture 5 – Smart Sensors and Smart Actuators</a:t>
            </a:r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sldNum" idx="12"/>
          </p:nvPr>
        </p:nvSpPr>
        <p:spPr>
          <a:xfrm>
            <a:off x="10668000" y="6356350"/>
            <a:ext cx="685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4773" y="1558155"/>
            <a:ext cx="4723448" cy="62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r>
              <a:rPr lang="en-US" spc="-5" smtClean="0"/>
              <a:t>Lecture 5 – Smart Sensors and Smart Actuators</a:t>
            </a: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fld id="{370A760D-6031-4C7B-BCC8-B25C9D46A4FA}" type="datetime4">
              <a:rPr lang="en-US" spc="-5" smtClean="0"/>
              <a:t>November 14, 2025</a:t>
            </a:fld>
            <a:endParaRPr lang="de-DE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5"/>
              </a:spcBef>
            </a:pPr>
            <a:fld id="{81D60167-4931-47E6-BA6A-407CBD079E47}" type="slidenum">
              <a:rPr lang="en-US" smtClean="0"/>
              <a:pPr marL="38100">
                <a:spcBef>
                  <a:spcPts val="105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067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r>
              <a:rPr lang="en-US" spc="-5" smtClean="0"/>
              <a:t>Lecture 5 – Smart Sensors and Smart Actuators</a:t>
            </a:r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fld id="{AF3ED0CC-178A-4C2A-8ED1-EB3035D10E83}" type="datetime4">
              <a:rPr lang="en-US" spc="-5" smtClean="0"/>
              <a:t>November 14, 2025</a:t>
            </a:fld>
            <a:endParaRPr lang="de-DE"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pPr marL="38100">
              <a:spcBef>
                <a:spcPts val="105"/>
              </a:spcBef>
            </a:pPr>
            <a:fld id="{81D60167-4931-47E6-BA6A-407CBD079E47}" type="slidenum">
              <a:rPr lang="en-US" smtClean="0"/>
              <a:pPr marL="38100">
                <a:spcBef>
                  <a:spcPts val="105"/>
                </a:spcBef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83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1" descr="A picture containing street, person, riding, lamp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 t="7812" b="7813"/>
          <a:stretch/>
        </p:blipFill>
        <p:spPr>
          <a:xfrm>
            <a:off x="0" y="1714"/>
            <a:ext cx="12188952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1"/>
          <p:cNvSpPr/>
          <p:nvPr/>
        </p:nvSpPr>
        <p:spPr>
          <a:xfrm>
            <a:off x="-82210" y="-1714"/>
            <a:ext cx="12103694" cy="6859714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7000">
                <a:srgbClr val="FFFFFF">
                  <a:alpha val="9411"/>
                </a:srgbClr>
              </a:gs>
              <a:gs pos="80000">
                <a:srgbClr val="FFFFFF">
                  <a:alpha val="84313"/>
                </a:srgbClr>
              </a:gs>
              <a:gs pos="100000">
                <a:srgbClr val="FFFFFF">
                  <a:alpha val="84313"/>
                </a:srgbClr>
              </a:gs>
            </a:gsLst>
            <a:lin ang="10800000" scaled="0"/>
          </a:gra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1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body" idx="1"/>
          </p:nvPr>
        </p:nvSpPr>
        <p:spPr>
          <a:xfrm>
            <a:off x="178205" y="1727383"/>
            <a:ext cx="11175595" cy="4492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9155017" y="6366984"/>
            <a:ext cx="13424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473D82-BB5B-45AB-8831-C625A0FE7DE4}" type="datetime4">
              <a:rPr lang="en-US" smtClean="0"/>
              <a:t>November 14, 2025</a:t>
            </a:fld>
            <a:endParaRPr dirty="0"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3170317" y="6356350"/>
            <a:ext cx="5731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 smtClean="0"/>
              <a:t>Lecture 5 – Smart Sensors and Smart Actuators</a:t>
            </a:r>
            <a:endParaRPr lang="en-US" dirty="0"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10668000" y="6356350"/>
            <a:ext cx="685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 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21"/>
          <p:cNvGrpSpPr/>
          <p:nvPr/>
        </p:nvGrpSpPr>
        <p:grpSpPr>
          <a:xfrm>
            <a:off x="12021484" y="-1714"/>
            <a:ext cx="167468" cy="6858000"/>
            <a:chOff x="12021484" y="-1714"/>
            <a:chExt cx="167468" cy="6858000"/>
          </a:xfrm>
        </p:grpSpPr>
        <p:sp>
          <p:nvSpPr>
            <p:cNvPr id="18" name="Google Shape;18;p21"/>
            <p:cNvSpPr/>
            <p:nvPr/>
          </p:nvSpPr>
          <p:spPr>
            <a:xfrm>
              <a:off x="12106742" y="-1714"/>
              <a:ext cx="82210" cy="6858000"/>
            </a:xfrm>
            <a:prstGeom prst="rect">
              <a:avLst/>
            </a:prstGeom>
            <a:solidFill>
              <a:srgbClr val="232D82"/>
            </a:solidFill>
            <a:ln w="12700" cap="flat" cmpd="sng">
              <a:solidFill>
                <a:srgbClr val="232D8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1"/>
            <p:cNvSpPr/>
            <p:nvPr/>
          </p:nvSpPr>
          <p:spPr>
            <a:xfrm>
              <a:off x="12021484" y="-1714"/>
              <a:ext cx="82210" cy="6858000"/>
            </a:xfrm>
            <a:prstGeom prst="rect">
              <a:avLst/>
            </a:prstGeom>
            <a:solidFill>
              <a:srgbClr val="DA1820"/>
            </a:solidFill>
            <a:ln w="12700" cap="flat" cmpd="sng">
              <a:solidFill>
                <a:srgbClr val="DA182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" name="Google Shape;20;p21" descr="A picture containing drawing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73564" y="6341526"/>
            <a:ext cx="464545" cy="456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1" descr="A picture containing drawing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08625" y="6326116"/>
            <a:ext cx="1152377" cy="335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1" descr="A close up of a sign&#10;&#10;Description automatically generated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32101" y="6341526"/>
            <a:ext cx="867700" cy="35707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72">
          <p15:clr>
            <a:srgbClr val="F26B43"/>
          </p15:clr>
        </p15:guide>
        <p15:guide id="2" pos="7152">
          <p15:clr>
            <a:srgbClr val="F26B43"/>
          </p15:clr>
        </p15:guide>
        <p15:guide id="3" orient="horz" pos="4248">
          <p15:clr>
            <a:srgbClr val="F26B43"/>
          </p15:clr>
        </p15:guide>
        <p15:guide id="4" pos="72">
          <p15:clr>
            <a:srgbClr val="F26B43"/>
          </p15:clr>
        </p15:guide>
        <p15:guide id="5" pos="96">
          <p15:clr>
            <a:srgbClr val="F26B43"/>
          </p15:clr>
        </p15:guide>
        <p15:guide id="6" orient="horz" pos="144">
          <p15:clr>
            <a:srgbClr val="F26B43"/>
          </p15:clr>
        </p15:guide>
        <p15:guide id="7" orient="horz" pos="1008">
          <p15:clr>
            <a:srgbClr val="F26B43"/>
          </p15:clr>
        </p15:guide>
        <p15:guide id="8" orient="horz" pos="1080">
          <p15:clr>
            <a:srgbClr val="F26B43"/>
          </p15:clr>
        </p15:guide>
        <p15:guide id="9" orient="horz" pos="3912">
          <p15:clr>
            <a:srgbClr val="F26B43"/>
          </p15:clr>
        </p15:guide>
        <p15:guide id="10" pos="6720">
          <p15:clr>
            <a:srgbClr val="F26B43"/>
          </p15:clr>
        </p15:guide>
        <p15:guide id="11" pos="6624">
          <p15:clr>
            <a:srgbClr val="F26B43"/>
          </p15:clr>
        </p15:guide>
        <p15:guide id="12" pos="5904">
          <p15:clr>
            <a:srgbClr val="F26B43"/>
          </p15:clr>
        </p15:guide>
        <p15:guide id="13" orient="horz" pos="3984">
          <p15:clr>
            <a:srgbClr val="F26B43"/>
          </p15:clr>
        </p15:guide>
        <p15:guide id="14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www.national.com/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>
            <a:spLocks noGrp="1"/>
          </p:cNvSpPr>
          <p:nvPr>
            <p:ph type="ctrTitle"/>
          </p:nvPr>
        </p:nvSpPr>
        <p:spPr>
          <a:xfrm>
            <a:off x="224589" y="1122362"/>
            <a:ext cx="11742822" cy="285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buSzPts val="4800"/>
            </a:pPr>
            <a:r>
              <a:rPr lang="en-US" sz="4800" dirty="0"/>
              <a:t>Lecture </a:t>
            </a:r>
            <a:r>
              <a:rPr lang="en-US" sz="4800" dirty="0" smtClean="0"/>
              <a:t>5</a:t>
            </a: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/>
            </a:r>
            <a:br>
              <a:rPr lang="en-US" sz="4800" dirty="0"/>
            </a:br>
            <a:r>
              <a:rPr lang="en-US" sz="4800" dirty="0"/>
              <a:t>SMART SENSORS and </a:t>
            </a:r>
            <a:r>
              <a:rPr lang="en-US" sz="4800" dirty="0" smtClean="0"/>
              <a:t>SMART </a:t>
            </a:r>
            <a:r>
              <a:rPr lang="en-US" sz="4800" dirty="0"/>
              <a:t>ACTUATORS</a:t>
            </a:r>
            <a:endParaRPr sz="4800" dirty="0"/>
          </a:p>
        </p:txBody>
      </p:sp>
      <p:sp>
        <p:nvSpPr>
          <p:cNvPr id="69" name="Google Shape;69;p1"/>
          <p:cNvSpPr txBox="1">
            <a:spLocks noGrp="1"/>
          </p:cNvSpPr>
          <p:nvPr>
            <p:ph type="subTitle" idx="1"/>
          </p:nvPr>
        </p:nvSpPr>
        <p:spPr>
          <a:xfrm>
            <a:off x="1524000" y="4103750"/>
            <a:ext cx="9144000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5496"/>
              </a:buClr>
              <a:buSzPts val="2800"/>
              <a:buNone/>
            </a:pPr>
            <a:r>
              <a:rPr lang="en-US" sz="2800" b="1" dirty="0" smtClean="0">
                <a:solidFill>
                  <a:srgbClr val="2E5496"/>
                </a:solidFill>
              </a:rPr>
              <a:t>CC5053NP</a:t>
            </a:r>
            <a:r>
              <a:rPr lang="en-US" sz="2800" dirty="0" smtClean="0">
                <a:solidFill>
                  <a:srgbClr val="1F3864"/>
                </a:solidFill>
              </a:rPr>
              <a:t> </a:t>
            </a:r>
            <a:r>
              <a:rPr lang="en-US" sz="2800" dirty="0">
                <a:solidFill>
                  <a:srgbClr val="1F3864"/>
                </a:solidFill>
              </a:rPr>
              <a:t>- Cloud Computing and the Internet of Things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body" idx="1"/>
          </p:nvPr>
        </p:nvSpPr>
        <p:spPr>
          <a:xfrm>
            <a:off x="754379" y="1576451"/>
            <a:ext cx="10683240" cy="464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3200" dirty="0" smtClean="0"/>
              <a:t>Sensors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3200" dirty="0" smtClean="0"/>
              <a:t>Sensor Output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3200" dirty="0" smtClean="0"/>
              <a:t>Smart Sensor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3200" dirty="0" smtClean="0"/>
              <a:t>Smart Sensor Types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3200" dirty="0" smtClean="0"/>
              <a:t>Smart Actuator and Types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3200" dirty="0" smtClean="0"/>
              <a:t>Advantages of using Smart Sensors and Actuators</a:t>
            </a:r>
            <a:endParaRPr dirty="0"/>
          </a:p>
          <a:p>
            <a:pPr marL="22860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Char char="•"/>
            </a:pPr>
            <a:r>
              <a:rPr lang="en-US" sz="3200" dirty="0" smtClean="0"/>
              <a:t>Case Studies</a:t>
            </a:r>
            <a:endParaRPr dirty="0"/>
          </a:p>
          <a:p>
            <a:pPr marL="228600" lvl="0" indent="-25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09150"/>
              <a:buNone/>
            </a:pPr>
            <a:endParaRPr dirty="0"/>
          </a:p>
          <a:p>
            <a:pPr marL="228600" lvl="0" indent="-25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endParaRPr sz="3200" dirty="0"/>
          </a:p>
          <a:p>
            <a:pPr marL="228600" lvl="0" indent="-25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endParaRPr sz="3200" dirty="0"/>
          </a:p>
          <a:p>
            <a:pPr marL="228600" lvl="0" indent="-25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endParaRPr sz="3200" dirty="0"/>
          </a:p>
          <a:p>
            <a:pPr marL="228600" lvl="0" indent="-25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endParaRPr sz="3200" dirty="0"/>
          </a:p>
          <a:p>
            <a:pPr marL="228600" lvl="0" indent="-254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7647"/>
              <a:buNone/>
            </a:pPr>
            <a:endParaRPr sz="3200" dirty="0"/>
          </a:p>
        </p:txBody>
      </p:sp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800"/>
              <a:buFont typeface="Calibri"/>
              <a:buNone/>
            </a:pPr>
            <a:r>
              <a:rPr lang="en-US" sz="4800"/>
              <a:t>Lecture Objectives</a:t>
            </a: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D6CD39-A4F6-459B-917C-E6C4C87BD14C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   </a:t>
            </a:r>
            <a:fld id="{00000000-1234-1234-1234-123412341234}" type="slidenum">
              <a:rPr lang="en-US" smtClean="0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lang="en-US" dirty="0" smtClean="0"/>
              <a:t>What is a Sensor</a:t>
            </a:r>
            <a:endParaRPr dirty="0"/>
          </a:p>
        </p:txBody>
      </p:sp>
      <p:sp>
        <p:nvSpPr>
          <p:cNvPr id="8" name="object 3"/>
          <p:cNvSpPr txBox="1"/>
          <p:nvPr/>
        </p:nvSpPr>
        <p:spPr>
          <a:xfrm>
            <a:off x="346300" y="1576451"/>
            <a:ext cx="11220057" cy="234251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300"/>
              </a:spcBef>
              <a:buFont typeface="Wingdings"/>
              <a:buChar char=""/>
              <a:tabLst>
                <a:tab pos="469900" algn="l"/>
              </a:tabLst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Device that senses a </a:t>
            </a:r>
            <a:r>
              <a:rPr sz="2800" b="1" spc="-5" dirty="0">
                <a:solidFill>
                  <a:srgbClr val="3333CC"/>
                </a:solidFill>
                <a:latin typeface="Arial"/>
                <a:cs typeface="Arial"/>
              </a:rPr>
              <a:t>physical</a:t>
            </a:r>
            <a:r>
              <a:rPr sz="2800" b="1" spc="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Arial"/>
                <a:cs typeface="Arial"/>
              </a:rPr>
              <a:t>quantity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469900" algn="l"/>
              </a:tabLst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This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physical quantity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becomes </a:t>
            </a:r>
            <a:r>
              <a:rPr sz="2800" b="1" spc="-5" dirty="0">
                <a:solidFill>
                  <a:srgbClr val="3333CC"/>
                </a:solidFill>
                <a:latin typeface="Arial"/>
                <a:cs typeface="Arial"/>
              </a:rPr>
              <a:t>input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to the</a:t>
            </a:r>
            <a:r>
              <a:rPr sz="2800" spc="7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sensor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469900" algn="l"/>
              </a:tabLst>
            </a:pPr>
            <a:r>
              <a:rPr sz="2800" b="1" spc="-5" dirty="0">
                <a:solidFill>
                  <a:srgbClr val="3333CC"/>
                </a:solidFill>
                <a:latin typeface="Arial"/>
                <a:cs typeface="Arial"/>
              </a:rPr>
              <a:t>Output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of the sensor is an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electrical</a:t>
            </a:r>
            <a:r>
              <a:rPr sz="2800" spc="3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quantity</a:t>
            </a:r>
            <a:endParaRPr sz="2800" dirty="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1205"/>
              </a:spcBef>
              <a:buFont typeface="Wingdings"/>
              <a:buChar char=""/>
              <a:tabLst>
                <a:tab pos="469900" algn="l"/>
              </a:tabLst>
            </a:pP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Input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is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called measured quantity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or</a:t>
            </a:r>
            <a:r>
              <a:rPr sz="2800" spc="2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3333CC"/>
                </a:solidFill>
                <a:latin typeface="Arial"/>
                <a:cs typeface="Arial"/>
              </a:rPr>
              <a:t>“</a:t>
            </a:r>
            <a:r>
              <a:rPr sz="2800" b="1" spc="-5" dirty="0" err="1" smtClean="0">
                <a:solidFill>
                  <a:srgbClr val="3333CC"/>
                </a:solidFill>
                <a:latin typeface="Arial"/>
                <a:cs typeface="Arial"/>
              </a:rPr>
              <a:t>measu</a:t>
            </a:r>
            <a:r>
              <a:rPr lang="en-US" sz="2800" b="1" spc="-5" dirty="0" err="1" smtClean="0">
                <a:solidFill>
                  <a:srgbClr val="3333CC"/>
                </a:solidFill>
                <a:latin typeface="Arial"/>
                <a:cs typeface="Arial"/>
              </a:rPr>
              <a:t>rand</a:t>
            </a:r>
            <a:r>
              <a:rPr sz="2400" b="1" spc="-5" dirty="0" smtClean="0">
                <a:solidFill>
                  <a:srgbClr val="3333CC"/>
                </a:solidFill>
                <a:latin typeface="Arial"/>
                <a:cs typeface="Arial"/>
              </a:rPr>
              <a:t>”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7323035" y="4666662"/>
            <a:ext cx="2992039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88035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3333CC"/>
                </a:solidFill>
                <a:latin typeface="Verdana"/>
                <a:cs typeface="Verdana"/>
              </a:rPr>
              <a:t>Output  (Electrical</a:t>
            </a:r>
            <a:r>
              <a:rPr sz="2200" spc="-5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3333CC"/>
                </a:solidFill>
                <a:latin typeface="Verdana"/>
                <a:cs typeface="Verdana"/>
              </a:rPr>
              <a:t>quantity)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1299411" y="4568761"/>
            <a:ext cx="2702965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15010">
              <a:lnSpc>
                <a:spcPct val="100000"/>
              </a:lnSpc>
              <a:spcBef>
                <a:spcPts val="95"/>
              </a:spcBef>
            </a:pPr>
            <a:r>
              <a:rPr sz="2200" spc="-5" dirty="0">
                <a:solidFill>
                  <a:srgbClr val="3333CC"/>
                </a:solidFill>
                <a:latin typeface="Verdana"/>
                <a:cs typeface="Verdana"/>
              </a:rPr>
              <a:t>Input  </a:t>
            </a:r>
            <a:r>
              <a:rPr sz="2200" spc="-10" dirty="0">
                <a:solidFill>
                  <a:srgbClr val="3333CC"/>
                </a:solidFill>
                <a:latin typeface="Verdana"/>
                <a:cs typeface="Verdana"/>
              </a:rPr>
              <a:t>(Physical</a:t>
            </a:r>
            <a:r>
              <a:rPr sz="2200" spc="-15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3333CC"/>
                </a:solidFill>
                <a:latin typeface="Verdana"/>
                <a:cs typeface="Verdana"/>
              </a:rPr>
              <a:t>quantity</a:t>
            </a:r>
            <a:endParaRPr sz="2200" dirty="0">
              <a:latin typeface="Verdana"/>
              <a:cs typeface="Verdana"/>
            </a:endParaRPr>
          </a:p>
          <a:p>
            <a:pPr marL="208915">
              <a:lnSpc>
                <a:spcPct val="100000"/>
              </a:lnSpc>
            </a:pPr>
            <a:r>
              <a:rPr sz="2200" spc="-5" dirty="0">
                <a:solidFill>
                  <a:srgbClr val="3333CC"/>
                </a:solidFill>
                <a:latin typeface="Verdana"/>
                <a:cs typeface="Verdana"/>
              </a:rPr>
              <a:t>or</a:t>
            </a:r>
            <a:r>
              <a:rPr sz="2200" spc="-20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2200" spc="-5" dirty="0">
                <a:solidFill>
                  <a:srgbClr val="3333CC"/>
                </a:solidFill>
                <a:latin typeface="Verdana"/>
                <a:cs typeface="Verdana"/>
              </a:rPr>
              <a:t>Measurand)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11" name="object 6"/>
          <p:cNvSpPr/>
          <p:nvPr/>
        </p:nvSpPr>
        <p:spPr>
          <a:xfrm>
            <a:off x="4525099" y="4540838"/>
            <a:ext cx="2098452" cy="762000"/>
          </a:xfrm>
          <a:custGeom>
            <a:avLst/>
            <a:gdLst/>
            <a:ahLst/>
            <a:cxnLst/>
            <a:rect l="l" t="t" r="r" b="b"/>
            <a:pathLst>
              <a:path w="1600200" h="762000">
                <a:moveTo>
                  <a:pt x="0" y="762000"/>
                </a:moveTo>
                <a:lnTo>
                  <a:pt x="1600200" y="762000"/>
                </a:lnTo>
                <a:lnTo>
                  <a:pt x="16002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/>
          <p:cNvSpPr txBox="1"/>
          <p:nvPr/>
        </p:nvSpPr>
        <p:spPr>
          <a:xfrm>
            <a:off x="4978098" y="4632261"/>
            <a:ext cx="1645453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Verdana"/>
                <a:cs typeface="Verdana"/>
              </a:rPr>
              <a:t>Se</a:t>
            </a:r>
            <a:r>
              <a:rPr sz="2800" spc="-20" dirty="0">
                <a:latin typeface="Verdana"/>
                <a:cs typeface="Verdana"/>
              </a:rPr>
              <a:t>n</a:t>
            </a:r>
            <a:r>
              <a:rPr sz="2800" spc="-5" dirty="0">
                <a:latin typeface="Verdana"/>
                <a:cs typeface="Verdana"/>
              </a:rPr>
              <a:t>s</a:t>
            </a:r>
            <a:r>
              <a:rPr sz="2800" spc="-20" dirty="0">
                <a:latin typeface="Verdana"/>
                <a:cs typeface="Verdana"/>
              </a:rPr>
              <a:t>o</a:t>
            </a:r>
            <a:r>
              <a:rPr sz="2800" spc="-5" dirty="0">
                <a:latin typeface="Verdana"/>
                <a:cs typeface="Verdana"/>
              </a:rPr>
              <a:t>r</a:t>
            </a:r>
            <a:endParaRPr sz="2800" dirty="0">
              <a:latin typeface="Verdana"/>
              <a:cs typeface="Verdana"/>
            </a:endParaRPr>
          </a:p>
        </p:txBody>
      </p:sp>
      <p:grpSp>
        <p:nvGrpSpPr>
          <p:cNvPr id="13" name="object 8"/>
          <p:cNvGrpSpPr/>
          <p:nvPr/>
        </p:nvGrpSpPr>
        <p:grpSpPr>
          <a:xfrm>
            <a:off x="3759722" y="4814015"/>
            <a:ext cx="3701436" cy="334010"/>
            <a:chOff x="2901695" y="4504944"/>
            <a:chExt cx="2822575" cy="334010"/>
          </a:xfrm>
        </p:grpSpPr>
        <p:pic>
          <p:nvPicPr>
            <p:cNvPr id="14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1695" y="4504944"/>
              <a:ext cx="765047" cy="333756"/>
            </a:xfrm>
            <a:prstGeom prst="rect">
              <a:avLst/>
            </a:prstGeom>
          </p:spPr>
        </p:pic>
        <p:sp>
          <p:nvSpPr>
            <p:cNvPr id="15" name="object 10"/>
            <p:cNvSpPr/>
            <p:nvPr/>
          </p:nvSpPr>
          <p:spPr>
            <a:xfrm>
              <a:off x="2954273" y="4612767"/>
              <a:ext cx="546735" cy="118110"/>
            </a:xfrm>
            <a:custGeom>
              <a:avLst/>
              <a:gdLst/>
              <a:ahLst/>
              <a:cxnLst/>
              <a:rect l="l" t="t" r="r" b="b"/>
              <a:pathLst>
                <a:path w="546735" h="118110">
                  <a:moveTo>
                    <a:pt x="473949" y="71741"/>
                  </a:moveTo>
                  <a:lnTo>
                    <a:pt x="432308" y="95884"/>
                  </a:lnTo>
                  <a:lnTo>
                    <a:pt x="430149" y="103631"/>
                  </a:lnTo>
                  <a:lnTo>
                    <a:pt x="437261" y="115823"/>
                  </a:lnTo>
                  <a:lnTo>
                    <a:pt x="445008" y="117855"/>
                  </a:lnTo>
                  <a:lnTo>
                    <a:pt x="451103" y="114426"/>
                  </a:lnTo>
                  <a:lnTo>
                    <a:pt x="524359" y="71881"/>
                  </a:lnTo>
                  <a:lnTo>
                    <a:pt x="473949" y="71741"/>
                  </a:lnTo>
                  <a:close/>
                </a:path>
                <a:path w="546735" h="118110">
                  <a:moveTo>
                    <a:pt x="495798" y="59053"/>
                  </a:moveTo>
                  <a:lnTo>
                    <a:pt x="473949" y="71741"/>
                  </a:lnTo>
                  <a:lnTo>
                    <a:pt x="520953" y="71881"/>
                  </a:lnTo>
                  <a:lnTo>
                    <a:pt x="524359" y="71881"/>
                  </a:lnTo>
                  <a:lnTo>
                    <a:pt x="527421" y="70103"/>
                  </a:lnTo>
                  <a:lnTo>
                    <a:pt x="514603" y="70103"/>
                  </a:lnTo>
                  <a:lnTo>
                    <a:pt x="495798" y="59053"/>
                  </a:lnTo>
                  <a:close/>
                </a:path>
                <a:path w="546735" h="118110">
                  <a:moveTo>
                    <a:pt x="532897" y="66923"/>
                  </a:moveTo>
                  <a:lnTo>
                    <a:pt x="524359" y="71881"/>
                  </a:lnTo>
                  <a:lnTo>
                    <a:pt x="527938" y="71881"/>
                  </a:lnTo>
                  <a:lnTo>
                    <a:pt x="532897" y="66923"/>
                  </a:lnTo>
                  <a:close/>
                </a:path>
                <a:path w="546735" h="118110">
                  <a:moveTo>
                    <a:pt x="12826" y="44957"/>
                  </a:moveTo>
                  <a:lnTo>
                    <a:pt x="5842" y="44957"/>
                  </a:lnTo>
                  <a:lnTo>
                    <a:pt x="126" y="50545"/>
                  </a:lnTo>
                  <a:lnTo>
                    <a:pt x="0" y="64642"/>
                  </a:lnTo>
                  <a:lnTo>
                    <a:pt x="5714" y="70357"/>
                  </a:lnTo>
                  <a:lnTo>
                    <a:pt x="473949" y="71741"/>
                  </a:lnTo>
                  <a:lnTo>
                    <a:pt x="495798" y="59053"/>
                  </a:lnTo>
                  <a:lnTo>
                    <a:pt x="474166" y="46341"/>
                  </a:lnTo>
                  <a:lnTo>
                    <a:pt x="12826" y="44957"/>
                  </a:lnTo>
                  <a:close/>
                </a:path>
                <a:path w="546735" h="118110">
                  <a:moveTo>
                    <a:pt x="514603" y="48132"/>
                  </a:moveTo>
                  <a:lnTo>
                    <a:pt x="495798" y="59053"/>
                  </a:lnTo>
                  <a:lnTo>
                    <a:pt x="514603" y="70103"/>
                  </a:lnTo>
                  <a:lnTo>
                    <a:pt x="514603" y="48132"/>
                  </a:lnTo>
                  <a:close/>
                </a:path>
                <a:path w="546735" h="118110">
                  <a:moveTo>
                    <a:pt x="527383" y="48132"/>
                  </a:moveTo>
                  <a:lnTo>
                    <a:pt x="514603" y="48132"/>
                  </a:lnTo>
                  <a:lnTo>
                    <a:pt x="514603" y="70103"/>
                  </a:lnTo>
                  <a:lnTo>
                    <a:pt x="527421" y="70103"/>
                  </a:lnTo>
                  <a:lnTo>
                    <a:pt x="532897" y="66923"/>
                  </a:lnTo>
                  <a:lnTo>
                    <a:pt x="533653" y="66166"/>
                  </a:lnTo>
                  <a:lnTo>
                    <a:pt x="533780" y="52196"/>
                  </a:lnTo>
                  <a:lnTo>
                    <a:pt x="533025" y="51441"/>
                  </a:lnTo>
                  <a:lnTo>
                    <a:pt x="527383" y="48132"/>
                  </a:lnTo>
                  <a:close/>
                </a:path>
                <a:path w="546735" h="118110">
                  <a:moveTo>
                    <a:pt x="533025" y="51441"/>
                  </a:moveTo>
                  <a:lnTo>
                    <a:pt x="533780" y="52196"/>
                  </a:lnTo>
                  <a:lnTo>
                    <a:pt x="533653" y="66166"/>
                  </a:lnTo>
                  <a:lnTo>
                    <a:pt x="532897" y="66923"/>
                  </a:lnTo>
                  <a:lnTo>
                    <a:pt x="546226" y="59181"/>
                  </a:lnTo>
                  <a:lnTo>
                    <a:pt x="533025" y="51441"/>
                  </a:lnTo>
                  <a:close/>
                </a:path>
                <a:path w="546735" h="118110">
                  <a:moveTo>
                    <a:pt x="474166" y="46341"/>
                  </a:moveTo>
                  <a:lnTo>
                    <a:pt x="495798" y="59053"/>
                  </a:lnTo>
                  <a:lnTo>
                    <a:pt x="514603" y="48132"/>
                  </a:lnTo>
                  <a:lnTo>
                    <a:pt x="527383" y="48132"/>
                  </a:lnTo>
                  <a:lnTo>
                    <a:pt x="524567" y="46481"/>
                  </a:lnTo>
                  <a:lnTo>
                    <a:pt x="474166" y="46341"/>
                  </a:lnTo>
                  <a:close/>
                </a:path>
                <a:path w="546735" h="118110">
                  <a:moveTo>
                    <a:pt x="528065" y="46481"/>
                  </a:moveTo>
                  <a:lnTo>
                    <a:pt x="524567" y="46481"/>
                  </a:lnTo>
                  <a:lnTo>
                    <a:pt x="533025" y="51441"/>
                  </a:lnTo>
                  <a:lnTo>
                    <a:pt x="528065" y="46481"/>
                  </a:lnTo>
                  <a:close/>
                </a:path>
                <a:path w="546735" h="118110">
                  <a:moveTo>
                    <a:pt x="445388" y="0"/>
                  </a:moveTo>
                  <a:lnTo>
                    <a:pt x="437514" y="2031"/>
                  </a:lnTo>
                  <a:lnTo>
                    <a:pt x="433959" y="8000"/>
                  </a:lnTo>
                  <a:lnTo>
                    <a:pt x="430402" y="14096"/>
                  </a:lnTo>
                  <a:lnTo>
                    <a:pt x="432435" y="21843"/>
                  </a:lnTo>
                  <a:lnTo>
                    <a:pt x="474166" y="46341"/>
                  </a:lnTo>
                  <a:lnTo>
                    <a:pt x="521080" y="46481"/>
                  </a:lnTo>
                  <a:lnTo>
                    <a:pt x="524567" y="46481"/>
                  </a:lnTo>
                  <a:lnTo>
                    <a:pt x="4453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35295" y="4504944"/>
              <a:ext cx="688848" cy="333756"/>
            </a:xfrm>
            <a:prstGeom prst="rect">
              <a:avLst/>
            </a:prstGeom>
          </p:spPr>
        </p:pic>
        <p:sp>
          <p:nvSpPr>
            <p:cNvPr id="17" name="object 12"/>
            <p:cNvSpPr/>
            <p:nvPr/>
          </p:nvSpPr>
          <p:spPr>
            <a:xfrm>
              <a:off x="5087873" y="4612767"/>
              <a:ext cx="470534" cy="118110"/>
            </a:xfrm>
            <a:custGeom>
              <a:avLst/>
              <a:gdLst/>
              <a:ahLst/>
              <a:cxnLst/>
              <a:rect l="l" t="t" r="r" b="b"/>
              <a:pathLst>
                <a:path w="470535" h="118110">
                  <a:moveTo>
                    <a:pt x="397675" y="71715"/>
                  </a:moveTo>
                  <a:lnTo>
                    <a:pt x="355980" y="95884"/>
                  </a:lnTo>
                  <a:lnTo>
                    <a:pt x="353949" y="103631"/>
                  </a:lnTo>
                  <a:lnTo>
                    <a:pt x="357504" y="109727"/>
                  </a:lnTo>
                  <a:lnTo>
                    <a:pt x="360934" y="115823"/>
                  </a:lnTo>
                  <a:lnTo>
                    <a:pt x="368808" y="117855"/>
                  </a:lnTo>
                  <a:lnTo>
                    <a:pt x="374776" y="114299"/>
                  </a:lnTo>
                  <a:lnTo>
                    <a:pt x="448079" y="71881"/>
                  </a:lnTo>
                  <a:lnTo>
                    <a:pt x="397675" y="71715"/>
                  </a:lnTo>
                  <a:close/>
                </a:path>
                <a:path w="470535" h="118110">
                  <a:moveTo>
                    <a:pt x="419571" y="59037"/>
                  </a:moveTo>
                  <a:lnTo>
                    <a:pt x="397675" y="71715"/>
                  </a:lnTo>
                  <a:lnTo>
                    <a:pt x="444753" y="71881"/>
                  </a:lnTo>
                  <a:lnTo>
                    <a:pt x="448079" y="71881"/>
                  </a:lnTo>
                  <a:lnTo>
                    <a:pt x="451152" y="70103"/>
                  </a:lnTo>
                  <a:lnTo>
                    <a:pt x="438403" y="70103"/>
                  </a:lnTo>
                  <a:lnTo>
                    <a:pt x="419571" y="59037"/>
                  </a:lnTo>
                  <a:close/>
                </a:path>
                <a:path w="470535" h="118110">
                  <a:moveTo>
                    <a:pt x="456764" y="66856"/>
                  </a:moveTo>
                  <a:lnTo>
                    <a:pt x="448079" y="71881"/>
                  </a:lnTo>
                  <a:lnTo>
                    <a:pt x="451738" y="71881"/>
                  </a:lnTo>
                  <a:lnTo>
                    <a:pt x="456764" y="66856"/>
                  </a:lnTo>
                  <a:close/>
                </a:path>
                <a:path w="470535" h="118110">
                  <a:moveTo>
                    <a:pt x="12826" y="44957"/>
                  </a:moveTo>
                  <a:lnTo>
                    <a:pt x="5841" y="44957"/>
                  </a:lnTo>
                  <a:lnTo>
                    <a:pt x="126" y="50545"/>
                  </a:lnTo>
                  <a:lnTo>
                    <a:pt x="0" y="64642"/>
                  </a:lnTo>
                  <a:lnTo>
                    <a:pt x="5714" y="70357"/>
                  </a:lnTo>
                  <a:lnTo>
                    <a:pt x="397675" y="71715"/>
                  </a:lnTo>
                  <a:lnTo>
                    <a:pt x="419571" y="59037"/>
                  </a:lnTo>
                  <a:lnTo>
                    <a:pt x="397924" y="46316"/>
                  </a:lnTo>
                  <a:lnTo>
                    <a:pt x="12826" y="44957"/>
                  </a:lnTo>
                  <a:close/>
                </a:path>
                <a:path w="470535" h="118110">
                  <a:moveTo>
                    <a:pt x="438403" y="48132"/>
                  </a:moveTo>
                  <a:lnTo>
                    <a:pt x="419571" y="59037"/>
                  </a:lnTo>
                  <a:lnTo>
                    <a:pt x="438403" y="70103"/>
                  </a:lnTo>
                  <a:lnTo>
                    <a:pt x="438403" y="48132"/>
                  </a:lnTo>
                  <a:close/>
                </a:path>
                <a:path w="470535" h="118110">
                  <a:moveTo>
                    <a:pt x="451183" y="48132"/>
                  </a:moveTo>
                  <a:lnTo>
                    <a:pt x="438403" y="48132"/>
                  </a:lnTo>
                  <a:lnTo>
                    <a:pt x="438403" y="70103"/>
                  </a:lnTo>
                  <a:lnTo>
                    <a:pt x="451152" y="70103"/>
                  </a:lnTo>
                  <a:lnTo>
                    <a:pt x="456764" y="66856"/>
                  </a:lnTo>
                  <a:lnTo>
                    <a:pt x="457453" y="66166"/>
                  </a:lnTo>
                  <a:lnTo>
                    <a:pt x="457580" y="52196"/>
                  </a:lnTo>
                  <a:lnTo>
                    <a:pt x="456825" y="51441"/>
                  </a:lnTo>
                  <a:lnTo>
                    <a:pt x="451183" y="48132"/>
                  </a:lnTo>
                  <a:close/>
                </a:path>
                <a:path w="470535" h="118110">
                  <a:moveTo>
                    <a:pt x="456825" y="51441"/>
                  </a:moveTo>
                  <a:lnTo>
                    <a:pt x="457580" y="52196"/>
                  </a:lnTo>
                  <a:lnTo>
                    <a:pt x="457453" y="66166"/>
                  </a:lnTo>
                  <a:lnTo>
                    <a:pt x="456764" y="66856"/>
                  </a:lnTo>
                  <a:lnTo>
                    <a:pt x="470026" y="59181"/>
                  </a:lnTo>
                  <a:lnTo>
                    <a:pt x="456825" y="51441"/>
                  </a:lnTo>
                  <a:close/>
                </a:path>
                <a:path w="470535" h="118110">
                  <a:moveTo>
                    <a:pt x="397924" y="46316"/>
                  </a:moveTo>
                  <a:lnTo>
                    <a:pt x="419571" y="59037"/>
                  </a:lnTo>
                  <a:lnTo>
                    <a:pt x="438403" y="48132"/>
                  </a:lnTo>
                  <a:lnTo>
                    <a:pt x="451183" y="48132"/>
                  </a:lnTo>
                  <a:lnTo>
                    <a:pt x="448367" y="46481"/>
                  </a:lnTo>
                  <a:lnTo>
                    <a:pt x="397924" y="46316"/>
                  </a:lnTo>
                  <a:close/>
                </a:path>
                <a:path w="470535" h="118110">
                  <a:moveTo>
                    <a:pt x="451865" y="46481"/>
                  </a:moveTo>
                  <a:lnTo>
                    <a:pt x="448367" y="46481"/>
                  </a:lnTo>
                  <a:lnTo>
                    <a:pt x="456825" y="51441"/>
                  </a:lnTo>
                  <a:lnTo>
                    <a:pt x="451865" y="46481"/>
                  </a:lnTo>
                  <a:close/>
                </a:path>
                <a:path w="470535" h="118110">
                  <a:moveTo>
                    <a:pt x="369188" y="0"/>
                  </a:moveTo>
                  <a:lnTo>
                    <a:pt x="361441" y="1904"/>
                  </a:lnTo>
                  <a:lnTo>
                    <a:pt x="354329" y="14096"/>
                  </a:lnTo>
                  <a:lnTo>
                    <a:pt x="356235" y="21843"/>
                  </a:lnTo>
                  <a:lnTo>
                    <a:pt x="397924" y="46316"/>
                  </a:lnTo>
                  <a:lnTo>
                    <a:pt x="444880" y="46481"/>
                  </a:lnTo>
                  <a:lnTo>
                    <a:pt x="448367" y="46481"/>
                  </a:lnTo>
                  <a:lnTo>
                    <a:pt x="36918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49B0562-5A76-4D5D-8BA3-976171BB450D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   </a:t>
            </a:r>
            <a:fld id="{00000000-1234-1234-1234-123412341234}" type="slidenum">
              <a:rPr lang="en-US" smtClean="0"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lang="en-US" dirty="0" smtClean="0"/>
              <a:t>Sensor Output</a:t>
            </a:r>
            <a:endParaRPr dirty="0"/>
          </a:p>
        </p:txBody>
      </p:sp>
      <p:sp>
        <p:nvSpPr>
          <p:cNvPr id="18" name="object 3"/>
          <p:cNvSpPr txBox="1"/>
          <p:nvPr/>
        </p:nvSpPr>
        <p:spPr>
          <a:xfrm>
            <a:off x="222168" y="1576451"/>
            <a:ext cx="11131631" cy="46288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985" marR="5080" indent="-629920">
              <a:lnSpc>
                <a:spcPct val="100000"/>
              </a:lnSpc>
              <a:spcBef>
                <a:spcPts val="95"/>
              </a:spcBef>
              <a:buFont typeface="Wingdings"/>
              <a:buChar char=""/>
              <a:tabLst>
                <a:tab pos="641985" algn="l"/>
                <a:tab pos="642620" algn="l"/>
              </a:tabLst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The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electrical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output of a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sensor can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be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one 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of the two</a:t>
            </a:r>
            <a:r>
              <a:rPr sz="2800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types:</a:t>
            </a:r>
            <a:endParaRPr sz="2800" dirty="0">
              <a:latin typeface="Arial"/>
              <a:cs typeface="Arial"/>
            </a:endParaRPr>
          </a:p>
          <a:p>
            <a:pPr marL="1045210" lvl="1" indent="-283210">
              <a:lnSpc>
                <a:spcPct val="100000"/>
              </a:lnSpc>
              <a:spcBef>
                <a:spcPts val="5"/>
              </a:spcBef>
              <a:buSzPct val="96428"/>
              <a:buFont typeface="Wingdings"/>
              <a:buChar char=""/>
              <a:tabLst>
                <a:tab pos="1045844" algn="l"/>
              </a:tabLst>
            </a:pPr>
            <a:r>
              <a:rPr sz="2800" b="1" i="1" spc="-5" dirty="0">
                <a:solidFill>
                  <a:srgbClr val="3333CC"/>
                </a:solidFill>
                <a:latin typeface="Arial"/>
                <a:cs typeface="Arial"/>
              </a:rPr>
              <a:t>Variation of </a:t>
            </a:r>
            <a:r>
              <a:rPr sz="2800" b="1" i="1" dirty="0">
                <a:solidFill>
                  <a:srgbClr val="3333CC"/>
                </a:solidFill>
                <a:latin typeface="Arial"/>
                <a:cs typeface="Arial"/>
              </a:rPr>
              <a:t>an electrical</a:t>
            </a:r>
            <a:r>
              <a:rPr sz="2800" b="1" i="1" spc="-1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b="1" i="1" spc="-5" dirty="0" smtClean="0">
                <a:solidFill>
                  <a:srgbClr val="3333CC"/>
                </a:solidFill>
                <a:latin typeface="Arial"/>
                <a:cs typeface="Arial"/>
              </a:rPr>
              <a:t>parameter</a:t>
            </a:r>
            <a:r>
              <a:rPr lang="en-US" sz="2800" b="1" i="1" spc="-5" dirty="0" smtClean="0">
                <a:solidFill>
                  <a:srgbClr val="3333CC"/>
                </a:solidFill>
              </a:rPr>
              <a:t>: Passive Sensor</a:t>
            </a:r>
            <a:endParaRPr sz="2800" dirty="0">
              <a:latin typeface="Arial"/>
              <a:cs typeface="Arial"/>
            </a:endParaRPr>
          </a:p>
          <a:p>
            <a:pPr marL="1045210" lvl="1" indent="-283210">
              <a:lnSpc>
                <a:spcPct val="100000"/>
              </a:lnSpc>
              <a:buSzPct val="96428"/>
              <a:buFont typeface="Wingdings"/>
              <a:buChar char=""/>
              <a:tabLst>
                <a:tab pos="1045844" algn="l"/>
              </a:tabLst>
            </a:pPr>
            <a:r>
              <a:rPr sz="2800" b="1" i="1" spc="-5" dirty="0">
                <a:solidFill>
                  <a:srgbClr val="3333CC"/>
                </a:solidFill>
                <a:latin typeface="Arial"/>
                <a:cs typeface="Arial"/>
              </a:rPr>
              <a:t>An </a:t>
            </a:r>
            <a:r>
              <a:rPr sz="2800" b="1" i="1" dirty="0">
                <a:solidFill>
                  <a:srgbClr val="3333CC"/>
                </a:solidFill>
                <a:latin typeface="Arial"/>
                <a:cs typeface="Arial"/>
              </a:rPr>
              <a:t>electrical</a:t>
            </a:r>
            <a:r>
              <a:rPr sz="2800" b="1" i="1" spc="-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b="1" i="1" spc="-5" dirty="0" smtClean="0">
                <a:solidFill>
                  <a:srgbClr val="3333CC"/>
                </a:solidFill>
                <a:latin typeface="Arial"/>
                <a:cs typeface="Arial"/>
              </a:rPr>
              <a:t>signal</a:t>
            </a:r>
            <a:r>
              <a:rPr lang="en-US" sz="2800" b="1" i="1" spc="-5" dirty="0" smtClean="0">
                <a:solidFill>
                  <a:srgbClr val="3333CC"/>
                </a:solidFill>
                <a:latin typeface="Arial"/>
                <a:cs typeface="Arial"/>
              </a:rPr>
              <a:t>: Active Sensor</a:t>
            </a:r>
            <a:endParaRPr sz="2800" dirty="0">
              <a:latin typeface="Arial"/>
              <a:cs typeface="Arial"/>
            </a:endParaRPr>
          </a:p>
          <a:p>
            <a:pPr marL="641985" indent="-629920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641985" algn="l"/>
                <a:tab pos="642620" algn="l"/>
              </a:tabLst>
            </a:pP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Variation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of </a:t>
            </a:r>
            <a:r>
              <a:rPr sz="2800" dirty="0">
                <a:solidFill>
                  <a:srgbClr val="3333CC"/>
                </a:solidFill>
                <a:latin typeface="Arial"/>
                <a:cs typeface="Arial"/>
              </a:rPr>
              <a:t>electrical parameter</a:t>
            </a:r>
            <a:r>
              <a:rPr sz="2800" spc="1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means</a:t>
            </a:r>
            <a:endParaRPr sz="2800" dirty="0">
              <a:latin typeface="Arial"/>
              <a:cs typeface="Arial"/>
            </a:endParaRPr>
          </a:p>
          <a:p>
            <a:pPr marL="1045210" lvl="1" indent="-283210">
              <a:lnSpc>
                <a:spcPct val="100000"/>
              </a:lnSpc>
              <a:buClr>
                <a:srgbClr val="3333CC"/>
              </a:buClr>
              <a:buSzPct val="96428"/>
              <a:buFont typeface="Wingdings"/>
              <a:buChar char=""/>
              <a:tabLst>
                <a:tab pos="1045844" algn="l"/>
              </a:tabLst>
            </a:pPr>
            <a:r>
              <a:rPr sz="2800" spc="-5" dirty="0">
                <a:latin typeface="Arial"/>
                <a:cs typeface="Arial"/>
              </a:rPr>
              <a:t>Variation of </a:t>
            </a:r>
            <a:r>
              <a:rPr sz="2800" dirty="0">
                <a:latin typeface="Arial"/>
                <a:cs typeface="Arial"/>
              </a:rPr>
              <a:t>resistance </a:t>
            </a:r>
            <a:endParaRPr lang="en-US" sz="2800" dirty="0" smtClean="0">
              <a:latin typeface="Arial"/>
              <a:cs typeface="Arial"/>
            </a:endParaRPr>
          </a:p>
          <a:p>
            <a:pPr marL="1045210" lvl="1" indent="-283210">
              <a:lnSpc>
                <a:spcPct val="100000"/>
              </a:lnSpc>
              <a:buClr>
                <a:srgbClr val="3333CC"/>
              </a:buClr>
              <a:buSzPct val="96428"/>
              <a:buFont typeface="Wingdings"/>
              <a:buChar char=""/>
              <a:tabLst>
                <a:tab pos="1045844" algn="l"/>
              </a:tabLst>
            </a:pPr>
            <a:r>
              <a:rPr sz="2800" spc="-5" dirty="0" smtClean="0">
                <a:latin typeface="Arial"/>
                <a:cs typeface="Arial"/>
              </a:rPr>
              <a:t>Variation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spc="-5" dirty="0" smtClean="0">
                <a:latin typeface="Arial"/>
                <a:cs typeface="Arial"/>
              </a:rPr>
              <a:t>inductance</a:t>
            </a:r>
            <a:endParaRPr sz="2800" dirty="0">
              <a:latin typeface="Arial"/>
              <a:cs typeface="Arial"/>
            </a:endParaRPr>
          </a:p>
          <a:p>
            <a:pPr marL="1045210" lvl="1" indent="-28321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96428"/>
              <a:buFont typeface="Wingdings"/>
              <a:buChar char=""/>
              <a:tabLst>
                <a:tab pos="1045844" algn="l"/>
              </a:tabLst>
            </a:pPr>
            <a:r>
              <a:rPr sz="2800" dirty="0">
                <a:latin typeface="Arial"/>
                <a:cs typeface="Arial"/>
              </a:rPr>
              <a:t>Variation </a:t>
            </a:r>
            <a:r>
              <a:rPr sz="2800" spc="-5" dirty="0">
                <a:latin typeface="Arial"/>
                <a:cs typeface="Arial"/>
              </a:rPr>
              <a:t>of </a:t>
            </a:r>
            <a:r>
              <a:rPr sz="2800" dirty="0" smtClean="0">
                <a:latin typeface="Arial"/>
                <a:cs typeface="Arial"/>
              </a:rPr>
              <a:t>capacitance</a:t>
            </a:r>
            <a:endParaRPr sz="2800" dirty="0">
              <a:latin typeface="Arial"/>
              <a:cs typeface="Arial"/>
            </a:endParaRPr>
          </a:p>
          <a:p>
            <a:pPr marL="641985" indent="-629920">
              <a:lnSpc>
                <a:spcPct val="100000"/>
              </a:lnSpc>
              <a:spcBef>
                <a:spcPts val="1200"/>
              </a:spcBef>
              <a:buFont typeface="Wingdings"/>
              <a:buChar char=""/>
              <a:tabLst>
                <a:tab pos="641985" algn="l"/>
                <a:tab pos="642620" algn="l"/>
              </a:tabLst>
            </a:pPr>
            <a:r>
              <a:rPr sz="2800" spc="-5" dirty="0">
                <a:solidFill>
                  <a:srgbClr val="3333CC"/>
                </a:solidFill>
                <a:latin typeface="Arial"/>
                <a:cs typeface="Arial"/>
              </a:rPr>
              <a:t>Electrical signal means</a:t>
            </a:r>
            <a:endParaRPr sz="2800" dirty="0">
              <a:latin typeface="Arial"/>
              <a:cs typeface="Arial"/>
            </a:endParaRPr>
          </a:p>
          <a:p>
            <a:pPr marL="1045210" lvl="1" indent="-283210">
              <a:lnSpc>
                <a:spcPct val="100000"/>
              </a:lnSpc>
              <a:buClr>
                <a:srgbClr val="3333CC"/>
              </a:buClr>
              <a:buSzPct val="96428"/>
              <a:buFont typeface="Wingdings"/>
              <a:buChar char=""/>
              <a:tabLst>
                <a:tab pos="1045844" algn="l"/>
              </a:tabLst>
            </a:pPr>
            <a:r>
              <a:rPr sz="2800" spc="-5" dirty="0">
                <a:latin typeface="Arial"/>
                <a:cs typeface="Arial"/>
              </a:rPr>
              <a:t>Voltage signal,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or</a:t>
            </a:r>
            <a:endParaRPr sz="2800" dirty="0">
              <a:latin typeface="Arial"/>
              <a:cs typeface="Arial"/>
            </a:endParaRPr>
          </a:p>
          <a:p>
            <a:pPr marL="1045210" lvl="1" indent="-283210">
              <a:lnSpc>
                <a:spcPct val="100000"/>
              </a:lnSpc>
              <a:buClr>
                <a:srgbClr val="3333CC"/>
              </a:buClr>
              <a:buSzPct val="96428"/>
              <a:buFont typeface="Wingdings"/>
              <a:buChar char=""/>
              <a:tabLst>
                <a:tab pos="1045844" algn="l"/>
              </a:tabLst>
            </a:pPr>
            <a:r>
              <a:rPr sz="2800" spc="-5" dirty="0">
                <a:latin typeface="Arial"/>
                <a:cs typeface="Arial"/>
              </a:rPr>
              <a:t>Current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signal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EA48121-0FA7-45A8-AC1F-746CFA564334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   </a:t>
            </a:r>
            <a:fld id="{00000000-1234-1234-1234-123412341234}" type="slidenum">
              <a:rPr lang="en-US" smtClean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662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lang="en-US" dirty="0" smtClean="0"/>
              <a:t>Sensor Output</a:t>
            </a:r>
            <a:endParaRPr dirty="0"/>
          </a:p>
        </p:txBody>
      </p:sp>
      <p:pic>
        <p:nvPicPr>
          <p:cNvPr id="1028" name="Picture 4" descr="GUID-2A49E8E9-05B4-4AA7-9861-8F6BBC9F24F8-low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760"/>
          <a:stretch/>
        </p:blipFill>
        <p:spPr bwMode="auto">
          <a:xfrm>
            <a:off x="0" y="1902744"/>
            <a:ext cx="5149515" cy="352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GUID-40A91E49-0145-45BD-99AF-5A28B042BADB-low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57"/>
          <a:stretch/>
        </p:blipFill>
        <p:spPr bwMode="auto">
          <a:xfrm>
            <a:off x="6683216" y="1893219"/>
            <a:ext cx="4438149" cy="3533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2DE6DCC-6F4C-4E57-946C-A09EBF8A3C7B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   </a:t>
            </a:r>
            <a:fld id="{00000000-1234-1234-1234-123412341234}" type="slidenum">
              <a:rPr lang="en-US" smtClean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1376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lang="en-US" dirty="0" smtClean="0"/>
              <a:t>Smart Sensors</a:t>
            </a:r>
            <a:endParaRPr dirty="0"/>
          </a:p>
        </p:txBody>
      </p:sp>
      <p:sp>
        <p:nvSpPr>
          <p:cNvPr id="262" name="Google Shape;262;p16"/>
          <p:cNvSpPr txBox="1">
            <a:spLocks noGrp="1"/>
          </p:cNvSpPr>
          <p:nvPr>
            <p:ph type="dt" idx="10"/>
          </p:nvPr>
        </p:nvSpPr>
        <p:spPr>
          <a:xfrm>
            <a:off x="9155017" y="6366984"/>
            <a:ext cx="13424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519F23F8-8B5C-488A-ADA5-CCC76C3D9993}" type="datetime4">
              <a:rPr lang="en-US" smtClean="0"/>
              <a:t>November 14, 2025</a:t>
            </a:fld>
            <a:endParaRPr/>
          </a:p>
        </p:txBody>
      </p:sp>
      <p:sp>
        <p:nvSpPr>
          <p:cNvPr id="263" name="Google Shape;263;p16"/>
          <p:cNvSpPr txBox="1">
            <a:spLocks noGrp="1"/>
          </p:cNvSpPr>
          <p:nvPr>
            <p:ph type="ftr" idx="11"/>
          </p:nvPr>
        </p:nvSpPr>
        <p:spPr>
          <a:xfrm>
            <a:off x="3170317" y="6356350"/>
            <a:ext cx="573197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mtClean="0"/>
              <a:t>Lecture 5 – Smart Sensors and Smart Actuators</a:t>
            </a:r>
            <a:endParaRPr/>
          </a:p>
        </p:txBody>
      </p:sp>
      <p:sp>
        <p:nvSpPr>
          <p:cNvPr id="264" name="Google Shape;264;p16"/>
          <p:cNvSpPr txBox="1">
            <a:spLocks noGrp="1"/>
          </p:cNvSpPr>
          <p:nvPr>
            <p:ph type="sldNum" idx="12"/>
          </p:nvPr>
        </p:nvSpPr>
        <p:spPr>
          <a:xfrm>
            <a:off x="10668000" y="6356350"/>
            <a:ext cx="685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| 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" name="object 3"/>
          <p:cNvSpPr txBox="1"/>
          <p:nvPr/>
        </p:nvSpPr>
        <p:spPr>
          <a:xfrm>
            <a:off x="255396" y="1819399"/>
            <a:ext cx="8246920" cy="2662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  <a:tabLst>
                <a:tab pos="351790" algn="l"/>
              </a:tabLst>
            </a:pPr>
            <a:r>
              <a:rPr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sensors now labeled as Smart Sensors by  the </a:t>
            </a:r>
            <a:r>
              <a:rPr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manufacturers</a:t>
            </a:r>
            <a:r>
              <a:rPr lang="en-US" sz="24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100000"/>
              </a:lnSpc>
            </a:pPr>
            <a:endParaRPr sz="2500" dirty="0">
              <a:latin typeface="Arial"/>
              <a:cs typeface="Arial"/>
            </a:endParaRPr>
          </a:p>
          <a:p>
            <a:pPr marL="351155" marR="5080" indent="-155575" algn="just">
              <a:lnSpc>
                <a:spcPct val="100000"/>
              </a:lnSpc>
            </a:pPr>
            <a:r>
              <a:rPr sz="2600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sz="2600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Smart Sensor </a:t>
            </a:r>
            <a:r>
              <a:rPr sz="2600" b="1" i="1" spc="-5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sz="2600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sz="2600" b="1" i="1" dirty="0" smtClean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micro-sensor </a:t>
            </a:r>
            <a:r>
              <a:rPr sz="2600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integrated with appropriate micro-electronics,  such </a:t>
            </a:r>
            <a:r>
              <a:rPr sz="2600" b="1" i="1" spc="-5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that </a:t>
            </a:r>
            <a:r>
              <a:rPr sz="2600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sz="2600" b="1" i="1" spc="-5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final </a:t>
            </a:r>
            <a:r>
              <a:rPr sz="2600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sz="2600" b="1" i="1" spc="-5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 </a:t>
            </a:r>
            <a:r>
              <a:rPr sz="2600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fully or easily  compatible with the intended end device </a:t>
            </a:r>
            <a:r>
              <a:rPr sz="2600" b="1" i="1" spc="5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  </a:t>
            </a:r>
            <a:r>
              <a:rPr sz="2600" b="1" i="1" dirty="0">
                <a:solidFill>
                  <a:srgbClr val="0000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devices”</a:t>
            </a:r>
            <a:endParaRPr sz="2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object 4"/>
          <p:cNvSpPr txBox="1"/>
          <p:nvPr/>
        </p:nvSpPr>
        <p:spPr>
          <a:xfrm>
            <a:off x="3955542" y="4814690"/>
            <a:ext cx="1752600" cy="76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479425">
              <a:lnSpc>
                <a:spcPct val="100000"/>
              </a:lnSpc>
              <a:spcBef>
                <a:spcPts val="590"/>
              </a:spcBef>
            </a:pPr>
            <a:r>
              <a:rPr sz="2000" spc="-5" dirty="0">
                <a:latin typeface="Verdana"/>
                <a:cs typeface="Verdana"/>
              </a:rPr>
              <a:t>Micro-</a:t>
            </a:r>
            <a:endParaRPr sz="2000" dirty="0">
              <a:latin typeface="Verdana"/>
              <a:cs typeface="Verdana"/>
            </a:endParaRPr>
          </a:p>
          <a:p>
            <a:pPr marL="36957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sensor</a:t>
            </a:r>
          </a:p>
        </p:txBody>
      </p:sp>
      <p:sp>
        <p:nvSpPr>
          <p:cNvPr id="11" name="object 5"/>
          <p:cNvSpPr/>
          <p:nvPr/>
        </p:nvSpPr>
        <p:spPr>
          <a:xfrm>
            <a:off x="3345814" y="515759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33400" y="0"/>
                </a:moveTo>
                <a:lnTo>
                  <a:pt x="533400" y="76200"/>
                </a:lnTo>
                <a:lnTo>
                  <a:pt x="590550" y="47625"/>
                </a:lnTo>
                <a:lnTo>
                  <a:pt x="546100" y="47625"/>
                </a:lnTo>
                <a:lnTo>
                  <a:pt x="546100" y="28575"/>
                </a:lnTo>
                <a:lnTo>
                  <a:pt x="590550" y="28575"/>
                </a:lnTo>
                <a:lnTo>
                  <a:pt x="533400" y="0"/>
                </a:lnTo>
                <a:close/>
              </a:path>
              <a:path w="609600" h="76200">
                <a:moveTo>
                  <a:pt x="533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533400" y="47625"/>
                </a:lnTo>
                <a:lnTo>
                  <a:pt x="533400" y="28575"/>
                </a:lnTo>
                <a:close/>
              </a:path>
              <a:path w="609600" h="76200">
                <a:moveTo>
                  <a:pt x="590550" y="28575"/>
                </a:moveTo>
                <a:lnTo>
                  <a:pt x="546100" y="28575"/>
                </a:lnTo>
                <a:lnTo>
                  <a:pt x="546100" y="47625"/>
                </a:lnTo>
                <a:lnTo>
                  <a:pt x="590550" y="47625"/>
                </a:lnTo>
                <a:lnTo>
                  <a:pt x="609600" y="38100"/>
                </a:lnTo>
                <a:lnTo>
                  <a:pt x="5905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/>
          <p:nvPr/>
        </p:nvSpPr>
        <p:spPr>
          <a:xfrm>
            <a:off x="6317742" y="4814690"/>
            <a:ext cx="1752600" cy="76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4930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590"/>
              </a:spcBef>
            </a:pPr>
            <a:r>
              <a:rPr sz="2000" spc="-5" dirty="0">
                <a:latin typeface="Verdana"/>
                <a:cs typeface="Verdana"/>
              </a:rPr>
              <a:t>Micro-</a:t>
            </a:r>
            <a:endParaRPr sz="2000">
              <a:latin typeface="Verdana"/>
              <a:cs typeface="Verdana"/>
            </a:endParaRPr>
          </a:p>
          <a:p>
            <a:pPr marL="107950">
              <a:lnSpc>
                <a:spcPct val="100000"/>
              </a:lnSpc>
            </a:pPr>
            <a:r>
              <a:rPr sz="2000" spc="-5" dirty="0">
                <a:latin typeface="Verdana"/>
                <a:cs typeface="Verdana"/>
              </a:rPr>
              <a:t>electronics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7"/>
          <p:cNvSpPr/>
          <p:nvPr/>
        </p:nvSpPr>
        <p:spPr>
          <a:xfrm>
            <a:off x="8070214" y="515759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33400" y="0"/>
                </a:moveTo>
                <a:lnTo>
                  <a:pt x="533400" y="76200"/>
                </a:lnTo>
                <a:lnTo>
                  <a:pt x="590550" y="47625"/>
                </a:lnTo>
                <a:lnTo>
                  <a:pt x="546100" y="47625"/>
                </a:lnTo>
                <a:lnTo>
                  <a:pt x="546100" y="28575"/>
                </a:lnTo>
                <a:lnTo>
                  <a:pt x="590550" y="28575"/>
                </a:lnTo>
                <a:lnTo>
                  <a:pt x="533400" y="0"/>
                </a:lnTo>
                <a:close/>
              </a:path>
              <a:path w="609600" h="76200">
                <a:moveTo>
                  <a:pt x="533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533400" y="47625"/>
                </a:lnTo>
                <a:lnTo>
                  <a:pt x="533400" y="28575"/>
                </a:lnTo>
                <a:close/>
              </a:path>
              <a:path w="609600" h="76200">
                <a:moveTo>
                  <a:pt x="590550" y="28575"/>
                </a:moveTo>
                <a:lnTo>
                  <a:pt x="546100" y="28575"/>
                </a:lnTo>
                <a:lnTo>
                  <a:pt x="546100" y="47625"/>
                </a:lnTo>
                <a:lnTo>
                  <a:pt x="590550" y="47625"/>
                </a:lnTo>
                <a:lnTo>
                  <a:pt x="609600" y="38100"/>
                </a:lnTo>
                <a:lnTo>
                  <a:pt x="5905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8"/>
          <p:cNvSpPr txBox="1"/>
          <p:nvPr/>
        </p:nvSpPr>
        <p:spPr>
          <a:xfrm>
            <a:off x="8650350" y="4788781"/>
            <a:ext cx="117221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El</a:t>
            </a:r>
            <a:r>
              <a:rPr sz="2000" spc="-15" dirty="0">
                <a:latin typeface="Verdana"/>
                <a:cs typeface="Verdana"/>
              </a:rPr>
              <a:t>e</a:t>
            </a:r>
            <a:r>
              <a:rPr sz="2000" dirty="0">
                <a:latin typeface="Verdana"/>
                <a:cs typeface="Verdana"/>
              </a:rPr>
              <a:t>ctr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cal  output  </a:t>
            </a:r>
            <a:r>
              <a:rPr sz="2000" spc="-5" dirty="0">
                <a:latin typeface="Verdana"/>
                <a:cs typeface="Verdana"/>
              </a:rPr>
              <a:t>signal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9"/>
          <p:cNvSpPr txBox="1"/>
          <p:nvPr/>
        </p:nvSpPr>
        <p:spPr>
          <a:xfrm>
            <a:off x="1806956" y="5047481"/>
            <a:ext cx="14147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Measu</a:t>
            </a:r>
            <a:r>
              <a:rPr sz="2000" spc="-45" dirty="0">
                <a:latin typeface="Verdana"/>
                <a:cs typeface="Verdana"/>
              </a:rPr>
              <a:t>r</a:t>
            </a:r>
            <a:r>
              <a:rPr sz="2000" dirty="0"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0"/>
          <p:cNvSpPr/>
          <p:nvPr/>
        </p:nvSpPr>
        <p:spPr>
          <a:xfrm>
            <a:off x="5720714" y="5176640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33400" y="0"/>
                </a:moveTo>
                <a:lnTo>
                  <a:pt x="533400" y="76200"/>
                </a:lnTo>
                <a:lnTo>
                  <a:pt x="590550" y="47625"/>
                </a:lnTo>
                <a:lnTo>
                  <a:pt x="546100" y="47625"/>
                </a:lnTo>
                <a:lnTo>
                  <a:pt x="546100" y="28575"/>
                </a:lnTo>
                <a:lnTo>
                  <a:pt x="590550" y="28575"/>
                </a:lnTo>
                <a:lnTo>
                  <a:pt x="533400" y="0"/>
                </a:lnTo>
                <a:close/>
              </a:path>
              <a:path w="609600" h="76200">
                <a:moveTo>
                  <a:pt x="533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533400" y="47625"/>
                </a:lnTo>
                <a:lnTo>
                  <a:pt x="533400" y="28575"/>
                </a:lnTo>
                <a:close/>
              </a:path>
              <a:path w="609600" h="76200">
                <a:moveTo>
                  <a:pt x="590550" y="28575"/>
                </a:moveTo>
                <a:lnTo>
                  <a:pt x="546100" y="28575"/>
                </a:lnTo>
                <a:lnTo>
                  <a:pt x="546100" y="47625"/>
                </a:lnTo>
                <a:lnTo>
                  <a:pt x="590550" y="47625"/>
                </a:lnTo>
                <a:lnTo>
                  <a:pt x="609600" y="38100"/>
                </a:lnTo>
                <a:lnTo>
                  <a:pt x="5905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1"/>
          <p:cNvGrpSpPr/>
          <p:nvPr/>
        </p:nvGrpSpPr>
        <p:grpSpPr>
          <a:xfrm>
            <a:off x="4004691" y="5748140"/>
            <a:ext cx="4057650" cy="157480"/>
            <a:chOff x="2809875" y="5867400"/>
            <a:chExt cx="4057650" cy="157480"/>
          </a:xfrm>
        </p:grpSpPr>
        <p:sp>
          <p:nvSpPr>
            <p:cNvPr id="18" name="object 12"/>
            <p:cNvSpPr/>
            <p:nvPr/>
          </p:nvSpPr>
          <p:spPr>
            <a:xfrm>
              <a:off x="2819400" y="6019800"/>
              <a:ext cx="4038600" cy="0"/>
            </a:xfrm>
            <a:custGeom>
              <a:avLst/>
              <a:gdLst/>
              <a:ahLst/>
              <a:cxnLst/>
              <a:rect l="l" t="t" r="r" b="b"/>
              <a:pathLst>
                <a:path w="4038600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3"/>
            <p:cNvSpPr/>
            <p:nvPr/>
          </p:nvSpPr>
          <p:spPr>
            <a:xfrm>
              <a:off x="2819400" y="5867400"/>
              <a:ext cx="4038600" cy="152400"/>
            </a:xfrm>
            <a:custGeom>
              <a:avLst/>
              <a:gdLst/>
              <a:ahLst/>
              <a:cxnLst/>
              <a:rect l="l" t="t" r="r" b="b"/>
              <a:pathLst>
                <a:path w="4038600" h="152400">
                  <a:moveTo>
                    <a:pt x="0" y="0"/>
                  </a:moveTo>
                  <a:lnTo>
                    <a:pt x="0" y="152400"/>
                  </a:lnTo>
                </a:path>
                <a:path w="4038600" h="152400">
                  <a:moveTo>
                    <a:pt x="4038600" y="0"/>
                  </a:moveTo>
                  <a:lnTo>
                    <a:pt x="4038600" y="1524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14"/>
          <p:cNvSpPr txBox="1"/>
          <p:nvPr/>
        </p:nvSpPr>
        <p:spPr>
          <a:xfrm>
            <a:off x="4855591" y="5932036"/>
            <a:ext cx="2540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Integrated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together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1" name="object 23"/>
          <p:cNvSpPr txBox="1"/>
          <p:nvPr/>
        </p:nvSpPr>
        <p:spPr>
          <a:xfrm>
            <a:off x="8679814" y="2152321"/>
            <a:ext cx="3200400" cy="2246630"/>
          </a:xfrm>
          <a:prstGeom prst="rect">
            <a:avLst/>
          </a:prstGeom>
          <a:ln w="12700">
            <a:solidFill>
              <a:srgbClr val="FF00FF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295275" indent="-203200">
              <a:lnSpc>
                <a:spcPct val="100000"/>
              </a:lnSpc>
              <a:spcBef>
                <a:spcPts val="355"/>
              </a:spcBef>
              <a:buClr>
                <a:srgbClr val="000000"/>
              </a:buClr>
              <a:buSzPct val="83333"/>
              <a:buFont typeface="Wingdings"/>
              <a:buChar char=""/>
              <a:tabLst>
                <a:tab pos="295910" algn="l"/>
              </a:tabLst>
            </a:pPr>
            <a:r>
              <a:rPr sz="2400" dirty="0">
                <a:solidFill>
                  <a:srgbClr val="3333CC"/>
                </a:solidFill>
                <a:latin typeface="Verdana"/>
                <a:cs typeface="Verdana"/>
              </a:rPr>
              <a:t>Indicating </a:t>
            </a:r>
            <a:r>
              <a:rPr sz="2400" spc="-5" dirty="0">
                <a:solidFill>
                  <a:srgbClr val="3333CC"/>
                </a:solidFill>
                <a:latin typeface="Verdana"/>
                <a:cs typeface="Verdana"/>
              </a:rPr>
              <a:t>device</a:t>
            </a:r>
            <a:endParaRPr sz="2400" dirty="0">
              <a:latin typeface="Verdana"/>
              <a:cs typeface="Verdana"/>
            </a:endParaRPr>
          </a:p>
          <a:p>
            <a:pPr marL="339090" indent="-24701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39725" algn="l"/>
              </a:tabLst>
            </a:pPr>
            <a:r>
              <a:rPr sz="2400" spc="-5" dirty="0">
                <a:solidFill>
                  <a:srgbClr val="3333CC"/>
                </a:solidFill>
                <a:latin typeface="Verdana"/>
                <a:cs typeface="Verdana"/>
              </a:rPr>
              <a:t>Display device</a:t>
            </a:r>
            <a:endParaRPr sz="2400" dirty="0">
              <a:latin typeface="Verdana"/>
              <a:cs typeface="Verdana"/>
            </a:endParaRPr>
          </a:p>
          <a:p>
            <a:pPr marL="339090" indent="-24701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39725" algn="l"/>
              </a:tabLst>
            </a:pPr>
            <a:r>
              <a:rPr sz="2400" spc="-10" dirty="0">
                <a:solidFill>
                  <a:srgbClr val="3333CC"/>
                </a:solidFill>
                <a:latin typeface="Verdana"/>
                <a:cs typeface="Verdana"/>
              </a:rPr>
              <a:t>Storage </a:t>
            </a:r>
            <a:r>
              <a:rPr sz="2400" spc="-5" dirty="0">
                <a:solidFill>
                  <a:srgbClr val="3333CC"/>
                </a:solidFill>
                <a:latin typeface="Verdana"/>
                <a:cs typeface="Verdana"/>
              </a:rPr>
              <a:t>device</a:t>
            </a:r>
            <a:endParaRPr sz="2400" dirty="0">
              <a:latin typeface="Verdana"/>
              <a:cs typeface="Verdana"/>
            </a:endParaRPr>
          </a:p>
          <a:p>
            <a:pPr marL="339090" indent="-247015">
              <a:lnSpc>
                <a:spcPct val="100000"/>
              </a:lnSpc>
              <a:spcBef>
                <a:spcPts val="605"/>
              </a:spcBef>
              <a:buFont typeface="Wingdings"/>
              <a:buChar char=""/>
              <a:tabLst>
                <a:tab pos="339725" algn="l"/>
              </a:tabLst>
            </a:pPr>
            <a:r>
              <a:rPr sz="2400" spc="-5" dirty="0">
                <a:solidFill>
                  <a:srgbClr val="3333CC"/>
                </a:solidFill>
                <a:latin typeface="Verdana"/>
                <a:cs typeface="Verdana"/>
              </a:rPr>
              <a:t>Comm.</a:t>
            </a:r>
            <a:r>
              <a:rPr sz="2400" spc="-10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2400" spc="-5" dirty="0">
                <a:solidFill>
                  <a:srgbClr val="3333CC"/>
                </a:solidFill>
                <a:latin typeface="Verdana"/>
                <a:cs typeface="Verdana"/>
              </a:rPr>
              <a:t>device</a:t>
            </a:r>
            <a:endParaRPr sz="2400" dirty="0">
              <a:latin typeface="Verdana"/>
              <a:cs typeface="Verdana"/>
            </a:endParaRPr>
          </a:p>
          <a:p>
            <a:pPr marL="339090" indent="-247015">
              <a:lnSpc>
                <a:spcPct val="100000"/>
              </a:lnSpc>
              <a:spcBef>
                <a:spcPts val="600"/>
              </a:spcBef>
              <a:buFont typeface="Wingdings"/>
              <a:buChar char=""/>
              <a:tabLst>
                <a:tab pos="339725" algn="l"/>
              </a:tabLst>
            </a:pPr>
            <a:r>
              <a:rPr lang="en-US" sz="2400" dirty="0" smtClean="0">
                <a:solidFill>
                  <a:srgbClr val="3333CC"/>
                </a:solidFill>
                <a:latin typeface="Verdana"/>
                <a:cs typeface="Verdana"/>
              </a:rPr>
              <a:t>Controller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0042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>
            <a:spLocks noGrp="1"/>
          </p:cNvSpPr>
          <p:nvPr>
            <p:ph type="title"/>
          </p:nvPr>
        </p:nvSpPr>
        <p:spPr>
          <a:xfrm>
            <a:off x="173564" y="250888"/>
            <a:ext cx="11180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4400"/>
              <a:buFont typeface="Calibri"/>
              <a:buNone/>
            </a:pPr>
            <a:r>
              <a:rPr lang="en-US" dirty="0" smtClean="0"/>
              <a:t>Level Of Integration</a:t>
            </a:r>
            <a:endParaRPr dirty="0"/>
          </a:p>
        </p:txBody>
      </p:sp>
      <p:sp>
        <p:nvSpPr>
          <p:cNvPr id="19" name="object 3"/>
          <p:cNvSpPr txBox="1"/>
          <p:nvPr/>
        </p:nvSpPr>
        <p:spPr>
          <a:xfrm>
            <a:off x="61270" y="1802840"/>
            <a:ext cx="14732897" cy="261353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04800" indent="-292735">
              <a:lnSpc>
                <a:spcPct val="100000"/>
              </a:lnSpc>
              <a:spcBef>
                <a:spcPts val="700"/>
              </a:spcBef>
              <a:buFont typeface="Wingdings"/>
              <a:buChar char=""/>
              <a:tabLst>
                <a:tab pos="305435" algn="l"/>
              </a:tabLst>
            </a:pPr>
            <a:r>
              <a:rPr sz="2400" dirty="0">
                <a:solidFill>
                  <a:srgbClr val="3333CC"/>
                </a:solidFill>
                <a:latin typeface="Arial"/>
                <a:cs typeface="Arial"/>
              </a:rPr>
              <a:t>The </a:t>
            </a:r>
            <a:r>
              <a:rPr sz="2400" spc="-5" dirty="0">
                <a:solidFill>
                  <a:srgbClr val="3333CC"/>
                </a:solidFill>
                <a:latin typeface="Arial"/>
                <a:cs typeface="Arial"/>
              </a:rPr>
              <a:t>output signal </a:t>
            </a:r>
            <a:r>
              <a:rPr sz="2400" dirty="0">
                <a:solidFill>
                  <a:srgbClr val="3333CC"/>
                </a:solidFill>
                <a:latin typeface="Arial"/>
                <a:cs typeface="Arial"/>
              </a:rPr>
              <a:t>of smart </a:t>
            </a:r>
            <a:r>
              <a:rPr sz="2400" spc="-5" dirty="0">
                <a:solidFill>
                  <a:srgbClr val="3333CC"/>
                </a:solidFill>
                <a:latin typeface="Arial"/>
                <a:cs typeface="Arial"/>
              </a:rPr>
              <a:t>sensor can have one </a:t>
            </a:r>
            <a:r>
              <a:rPr sz="2400" dirty="0">
                <a:solidFill>
                  <a:srgbClr val="3333CC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3333CC"/>
                </a:solidFill>
                <a:latin typeface="Arial"/>
                <a:cs typeface="Arial"/>
              </a:rPr>
              <a:t>three</a:t>
            </a:r>
            <a:r>
              <a:rPr sz="2400" spc="5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CC"/>
                </a:solidFill>
                <a:latin typeface="Arial"/>
                <a:cs typeface="Arial"/>
              </a:rPr>
              <a:t>forms:</a:t>
            </a:r>
            <a:endParaRPr sz="2400" dirty="0">
              <a:latin typeface="Arial"/>
              <a:cs typeface="Arial"/>
            </a:endParaRPr>
          </a:p>
          <a:p>
            <a:pPr marL="828040" lvl="1" indent="-358775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  <a:tabLst>
                <a:tab pos="828675" algn="l"/>
              </a:tabLst>
            </a:pPr>
            <a:r>
              <a:rPr sz="2400" spc="-5" dirty="0">
                <a:latin typeface="Arial"/>
                <a:cs typeface="Arial"/>
              </a:rPr>
              <a:t>Analog</a:t>
            </a:r>
            <a:endParaRPr sz="2400" dirty="0">
              <a:latin typeface="Arial"/>
              <a:cs typeface="Arial"/>
            </a:endParaRPr>
          </a:p>
          <a:p>
            <a:pPr marL="762635" lvl="1" indent="-29337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  <a:tabLst>
                <a:tab pos="763270" algn="l"/>
              </a:tabLst>
            </a:pPr>
            <a:r>
              <a:rPr lang="en-US" sz="2400" spc="-5" dirty="0" smtClean="0">
                <a:latin typeface="Arial"/>
                <a:cs typeface="Arial"/>
              </a:rPr>
              <a:t> </a:t>
            </a:r>
            <a:r>
              <a:rPr sz="2400" spc="-5" dirty="0" smtClean="0">
                <a:latin typeface="Arial"/>
                <a:cs typeface="Arial"/>
              </a:rPr>
              <a:t>Digital</a:t>
            </a:r>
            <a:endParaRPr sz="2400" dirty="0">
              <a:latin typeface="Arial"/>
              <a:cs typeface="Arial"/>
            </a:endParaRPr>
          </a:p>
          <a:p>
            <a:pPr marL="844550" lvl="1" indent="-375285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  <a:tabLst>
                <a:tab pos="845185" algn="l"/>
              </a:tabLst>
            </a:pPr>
            <a:r>
              <a:rPr sz="2400" dirty="0" smtClean="0">
                <a:latin typeface="Arial"/>
                <a:cs typeface="Arial"/>
              </a:rPr>
              <a:t>PWM</a:t>
            </a:r>
            <a:endParaRPr sz="3550" dirty="0">
              <a:latin typeface="Arial"/>
              <a:cs typeface="Arial"/>
            </a:endParaRPr>
          </a:p>
          <a:p>
            <a:pPr marL="304800" indent="-292735">
              <a:lnSpc>
                <a:spcPct val="100000"/>
              </a:lnSpc>
              <a:buFont typeface="Wingdings"/>
              <a:buChar char=""/>
              <a:tabLst>
                <a:tab pos="305435" algn="l"/>
              </a:tabLst>
            </a:pPr>
            <a:r>
              <a:rPr sz="2400" spc="-5" dirty="0">
                <a:solidFill>
                  <a:srgbClr val="3333CC"/>
                </a:solidFill>
                <a:latin typeface="Arial"/>
                <a:cs typeface="Arial"/>
              </a:rPr>
              <a:t>Extent/ level </a:t>
            </a:r>
            <a:r>
              <a:rPr sz="2400" dirty="0">
                <a:solidFill>
                  <a:srgbClr val="3333CC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3333CC"/>
                </a:solidFill>
                <a:latin typeface="Arial"/>
                <a:cs typeface="Arial"/>
              </a:rPr>
              <a:t>integration </a:t>
            </a:r>
            <a:r>
              <a:rPr sz="2400" dirty="0">
                <a:solidFill>
                  <a:srgbClr val="3333CC"/>
                </a:solidFill>
                <a:latin typeface="Arial"/>
                <a:cs typeface="Arial"/>
              </a:rPr>
              <a:t>of </a:t>
            </a:r>
            <a:r>
              <a:rPr sz="2400" spc="-5" dirty="0">
                <a:solidFill>
                  <a:srgbClr val="3333CC"/>
                </a:solidFill>
                <a:latin typeface="Arial"/>
                <a:cs typeface="Arial"/>
              </a:rPr>
              <a:t>electronics with the</a:t>
            </a:r>
            <a:r>
              <a:rPr sz="2400" spc="85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333CC"/>
                </a:solidFill>
                <a:latin typeface="Arial"/>
                <a:cs typeface="Arial"/>
              </a:rPr>
              <a:t>micro-sensor:</a:t>
            </a:r>
            <a:endParaRPr sz="2400" dirty="0">
              <a:latin typeface="Arial"/>
              <a:cs typeface="Arial"/>
            </a:endParaRPr>
          </a:p>
          <a:p>
            <a:pPr marL="808355" lvl="1" indent="-33909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  <a:tabLst>
                <a:tab pos="808990" algn="l"/>
              </a:tabLst>
            </a:pPr>
            <a:r>
              <a:rPr sz="2400" spc="-5" dirty="0">
                <a:latin typeface="Arial"/>
                <a:cs typeface="Arial"/>
              </a:rPr>
              <a:t>Lowest Level: </a:t>
            </a:r>
            <a:r>
              <a:rPr lang="en-US" sz="2400" spc="-5" dirty="0" smtClean="0">
                <a:latin typeface="Arial"/>
                <a:cs typeface="Arial"/>
              </a:rPr>
              <a:t>  </a:t>
            </a:r>
            <a:r>
              <a:rPr sz="2400" dirty="0" smtClean="0">
                <a:latin typeface="Arial"/>
                <a:cs typeface="Arial"/>
              </a:rPr>
              <a:t>Smart </a:t>
            </a:r>
            <a:r>
              <a:rPr sz="2400" spc="-5" dirty="0">
                <a:latin typeface="Arial"/>
                <a:cs typeface="Arial"/>
              </a:rPr>
              <a:t>sensor with analog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output</a:t>
            </a:r>
          </a:p>
        </p:txBody>
      </p:sp>
      <p:sp>
        <p:nvSpPr>
          <p:cNvPr id="20" name="object 4"/>
          <p:cNvSpPr txBox="1"/>
          <p:nvPr/>
        </p:nvSpPr>
        <p:spPr>
          <a:xfrm>
            <a:off x="535939" y="4385817"/>
            <a:ext cx="3158644" cy="90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00"/>
              </a:spcBef>
              <a:buClr>
                <a:srgbClr val="3333CC"/>
              </a:buClr>
              <a:buFont typeface="Wingdings"/>
              <a:buChar char=""/>
              <a:tabLst>
                <a:tab pos="351790" algn="l"/>
              </a:tabLst>
            </a:pPr>
            <a:r>
              <a:rPr sz="2400" spc="-5" dirty="0">
                <a:latin typeface="Arial"/>
                <a:cs typeface="Arial"/>
              </a:rPr>
              <a:t>Low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Level:</a:t>
            </a:r>
            <a:endParaRPr sz="2400" dirty="0">
              <a:latin typeface="Arial"/>
              <a:cs typeface="Arial"/>
            </a:endParaRPr>
          </a:p>
          <a:p>
            <a:pPr marL="351155" indent="-33909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  <a:tabLst>
                <a:tab pos="351790" algn="l"/>
              </a:tabLst>
            </a:pPr>
            <a:r>
              <a:rPr sz="2400" spc="-5" dirty="0">
                <a:latin typeface="Arial"/>
                <a:cs typeface="Arial"/>
              </a:rPr>
              <a:t>High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Level: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1" name="object 5"/>
          <p:cNvSpPr txBox="1"/>
          <p:nvPr/>
        </p:nvSpPr>
        <p:spPr>
          <a:xfrm>
            <a:off x="2821050" y="4385817"/>
            <a:ext cx="8581352" cy="90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700"/>
              </a:spcBef>
            </a:pPr>
            <a:r>
              <a:rPr lang="en-US" sz="2400" spc="-5" dirty="0" smtClean="0">
                <a:latin typeface="Arial"/>
                <a:cs typeface="Arial"/>
              </a:rPr>
              <a:t> </a:t>
            </a:r>
            <a:r>
              <a:rPr sz="2400" spc="-5" dirty="0" smtClean="0">
                <a:latin typeface="Arial"/>
                <a:cs typeface="Arial"/>
              </a:rPr>
              <a:t>Smart </a:t>
            </a:r>
            <a:r>
              <a:rPr sz="2400" spc="-5" dirty="0">
                <a:latin typeface="Arial"/>
                <a:cs typeface="Arial"/>
              </a:rPr>
              <a:t>sensor with </a:t>
            </a:r>
            <a:r>
              <a:rPr lang="en-US" sz="2400" spc="-5" dirty="0" err="1" smtClean="0">
                <a:latin typeface="Arial"/>
                <a:cs typeface="Arial"/>
              </a:rPr>
              <a:t>pwm</a:t>
            </a:r>
            <a:r>
              <a:rPr lang="en-US" sz="2400" spc="-5" dirty="0" smtClean="0">
                <a:latin typeface="Arial"/>
                <a:cs typeface="Arial"/>
              </a:rPr>
              <a:t> </a:t>
            </a:r>
            <a:r>
              <a:rPr sz="2400" spc="-5" dirty="0" smtClean="0">
                <a:latin typeface="Arial"/>
                <a:cs typeface="Arial"/>
              </a:rPr>
              <a:t>output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lang="en-US" sz="2400" dirty="0" smtClean="0">
                <a:latin typeface="Arial"/>
                <a:cs typeface="Arial"/>
              </a:rPr>
              <a:t> </a:t>
            </a:r>
            <a:r>
              <a:rPr sz="2400" dirty="0" smtClean="0">
                <a:latin typeface="Arial"/>
                <a:cs typeface="Arial"/>
              </a:rPr>
              <a:t>Smart </a:t>
            </a:r>
            <a:r>
              <a:rPr sz="2400" spc="-5" dirty="0">
                <a:latin typeface="Arial"/>
                <a:cs typeface="Arial"/>
              </a:rPr>
              <a:t>sensor with digital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output</a:t>
            </a:r>
          </a:p>
        </p:txBody>
      </p:sp>
      <p:sp>
        <p:nvSpPr>
          <p:cNvPr id="22" name="object 6"/>
          <p:cNvSpPr txBox="1"/>
          <p:nvPr/>
        </p:nvSpPr>
        <p:spPr>
          <a:xfrm>
            <a:off x="535939" y="5295772"/>
            <a:ext cx="9228380" cy="90995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1155" indent="-339090">
              <a:lnSpc>
                <a:spcPct val="100000"/>
              </a:lnSpc>
              <a:spcBef>
                <a:spcPts val="700"/>
              </a:spcBef>
              <a:buClr>
                <a:srgbClr val="3333CC"/>
              </a:buClr>
              <a:buFont typeface="Wingdings"/>
              <a:buChar char=""/>
              <a:tabLst>
                <a:tab pos="351790" algn="l"/>
              </a:tabLst>
            </a:pPr>
            <a:r>
              <a:rPr sz="2400" spc="-5" dirty="0">
                <a:latin typeface="Arial"/>
                <a:cs typeface="Arial"/>
              </a:rPr>
              <a:t>Higher Level:  </a:t>
            </a:r>
            <a:r>
              <a:rPr lang="en-US" sz="2400" spc="-5" dirty="0" smtClean="0">
                <a:latin typeface="Arial"/>
                <a:cs typeface="Arial"/>
              </a:rPr>
              <a:t> </a:t>
            </a:r>
            <a:r>
              <a:rPr sz="2400" dirty="0" smtClean="0">
                <a:latin typeface="Arial"/>
                <a:cs typeface="Arial"/>
              </a:rPr>
              <a:t>Smart </a:t>
            </a:r>
            <a:r>
              <a:rPr sz="2400" spc="-5" dirty="0">
                <a:latin typeface="Arial"/>
                <a:cs typeface="Arial"/>
              </a:rPr>
              <a:t>intelligent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sensor</a:t>
            </a:r>
            <a:endParaRPr sz="2400" dirty="0">
              <a:latin typeface="Arial"/>
              <a:cs typeface="Arial"/>
            </a:endParaRPr>
          </a:p>
          <a:p>
            <a:pPr marL="351155" indent="-33909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  <a:tabLst>
                <a:tab pos="351790" algn="l"/>
              </a:tabLst>
            </a:pPr>
            <a:r>
              <a:rPr sz="2400" spc="-5" dirty="0">
                <a:latin typeface="Arial"/>
                <a:cs typeface="Arial"/>
              </a:rPr>
              <a:t>Highest Level: </a:t>
            </a:r>
            <a:r>
              <a:rPr sz="2400" spc="-5" dirty="0" smtClean="0">
                <a:latin typeface="Arial"/>
                <a:cs typeface="Arial"/>
              </a:rPr>
              <a:t>Smart </a:t>
            </a:r>
            <a:r>
              <a:rPr sz="2400" spc="-5" dirty="0">
                <a:latin typeface="Arial"/>
                <a:cs typeface="Arial"/>
              </a:rPr>
              <a:t>network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sensor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251BC9D-064E-4DE7-9EB4-FF4D12250B6B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   </a:t>
            </a:r>
            <a:fld id="{00000000-1234-1234-1234-123412341234}" type="slidenum">
              <a:rPr lang="en-US" smtClean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093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Smart Sensor with Analog </a:t>
            </a:r>
            <a:r>
              <a:rPr lang="en-US" dirty="0"/>
              <a:t>Output</a:t>
            </a:r>
            <a:endParaRPr lang="en-US" dirty="0"/>
          </a:p>
        </p:txBody>
      </p:sp>
      <p:sp>
        <p:nvSpPr>
          <p:cNvPr id="12" name="object 3"/>
          <p:cNvSpPr txBox="1"/>
          <p:nvPr/>
        </p:nvSpPr>
        <p:spPr>
          <a:xfrm>
            <a:off x="838200" y="3316705"/>
            <a:ext cx="1752600" cy="7620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74295" rIns="0" bIns="0" rtlCol="0">
            <a:spAutoFit/>
          </a:bodyPr>
          <a:lstStyle/>
          <a:p>
            <a:pPr marL="369570" marR="472440" indent="109220">
              <a:lnSpc>
                <a:spcPct val="100000"/>
              </a:lnSpc>
              <a:spcBef>
                <a:spcPts val="585"/>
              </a:spcBef>
            </a:pPr>
            <a:r>
              <a:rPr sz="2000" dirty="0">
                <a:latin typeface="Verdana"/>
                <a:cs typeface="Verdana"/>
              </a:rPr>
              <a:t>M</a:t>
            </a:r>
            <a:r>
              <a:rPr sz="2000" spc="-10" dirty="0">
                <a:latin typeface="Verdana"/>
                <a:cs typeface="Verdana"/>
              </a:rPr>
              <a:t>i</a:t>
            </a:r>
            <a:r>
              <a:rPr sz="2000" dirty="0">
                <a:latin typeface="Verdana"/>
                <a:cs typeface="Verdana"/>
              </a:rPr>
              <a:t>cr</a:t>
            </a:r>
            <a:r>
              <a:rPr sz="2000" spc="-10" dirty="0">
                <a:latin typeface="Verdana"/>
                <a:cs typeface="Verdana"/>
              </a:rPr>
              <a:t>o</a:t>
            </a:r>
            <a:r>
              <a:rPr sz="2000" dirty="0">
                <a:latin typeface="Verdana"/>
                <a:cs typeface="Verdana"/>
              </a:rPr>
              <a:t>-  sensor</a:t>
            </a:r>
          </a:p>
        </p:txBody>
      </p:sp>
      <p:sp>
        <p:nvSpPr>
          <p:cNvPr id="13" name="object 4"/>
          <p:cNvSpPr txBox="1"/>
          <p:nvPr/>
        </p:nvSpPr>
        <p:spPr>
          <a:xfrm>
            <a:off x="3200400" y="3178656"/>
            <a:ext cx="1905000" cy="990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91770" marR="138430" indent="-132715">
              <a:lnSpc>
                <a:spcPct val="100000"/>
              </a:lnSpc>
              <a:spcBef>
                <a:spcPts val="285"/>
              </a:spcBef>
            </a:pPr>
            <a:r>
              <a:rPr sz="2000" spc="-5" dirty="0">
                <a:latin typeface="Verdana"/>
                <a:cs typeface="Verdana"/>
              </a:rPr>
              <a:t>Analog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signal  processing  Unit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(ASPU)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5718809" y="3313733"/>
            <a:ext cx="238696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Analog </a:t>
            </a:r>
            <a:r>
              <a:rPr sz="1800" spc="-5" dirty="0">
                <a:latin typeface="Verdana"/>
                <a:cs typeface="Verdana"/>
              </a:rPr>
              <a:t>output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signal</a:t>
            </a:r>
            <a:endParaRPr sz="1800" dirty="0">
              <a:latin typeface="Verdana"/>
              <a:cs typeface="Verdana"/>
            </a:endParaRPr>
          </a:p>
          <a:p>
            <a:pPr marL="253365">
              <a:lnSpc>
                <a:spcPct val="100000"/>
              </a:lnSpc>
              <a:tabLst>
                <a:tab pos="926465" algn="l"/>
              </a:tabLst>
            </a:pPr>
            <a:r>
              <a:rPr sz="1800" spc="-5" dirty="0">
                <a:latin typeface="Verdana"/>
                <a:cs typeface="Verdana"/>
              </a:rPr>
              <a:t>e.g.	0-1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</a:t>
            </a:r>
          </a:p>
          <a:p>
            <a:pPr marL="926465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0-5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V</a:t>
            </a:r>
          </a:p>
          <a:p>
            <a:pPr marL="926465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4-20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</a:t>
            </a:r>
          </a:p>
          <a:p>
            <a:pPr marL="926465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0-20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</a:t>
            </a:r>
          </a:p>
        </p:txBody>
      </p:sp>
      <p:sp>
        <p:nvSpPr>
          <p:cNvPr id="15" name="object 6"/>
          <p:cNvSpPr/>
          <p:nvPr/>
        </p:nvSpPr>
        <p:spPr>
          <a:xfrm>
            <a:off x="2590800" y="3659605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33400" y="0"/>
                </a:moveTo>
                <a:lnTo>
                  <a:pt x="533400" y="76200"/>
                </a:lnTo>
                <a:lnTo>
                  <a:pt x="590550" y="47625"/>
                </a:lnTo>
                <a:lnTo>
                  <a:pt x="546100" y="47625"/>
                </a:lnTo>
                <a:lnTo>
                  <a:pt x="546100" y="28575"/>
                </a:lnTo>
                <a:lnTo>
                  <a:pt x="590550" y="28575"/>
                </a:lnTo>
                <a:lnTo>
                  <a:pt x="533400" y="0"/>
                </a:lnTo>
                <a:close/>
              </a:path>
              <a:path w="609600" h="76200">
                <a:moveTo>
                  <a:pt x="533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533400" y="47625"/>
                </a:lnTo>
                <a:lnTo>
                  <a:pt x="533400" y="28575"/>
                </a:lnTo>
                <a:close/>
              </a:path>
              <a:path w="609600" h="76200">
                <a:moveTo>
                  <a:pt x="590550" y="28575"/>
                </a:moveTo>
                <a:lnTo>
                  <a:pt x="546100" y="28575"/>
                </a:lnTo>
                <a:lnTo>
                  <a:pt x="546100" y="47625"/>
                </a:lnTo>
                <a:lnTo>
                  <a:pt x="590550" y="47625"/>
                </a:lnTo>
                <a:lnTo>
                  <a:pt x="609600" y="38100"/>
                </a:lnTo>
                <a:lnTo>
                  <a:pt x="5905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7"/>
          <p:cNvSpPr/>
          <p:nvPr/>
        </p:nvSpPr>
        <p:spPr>
          <a:xfrm>
            <a:off x="5114925" y="3659605"/>
            <a:ext cx="609600" cy="76200"/>
          </a:xfrm>
          <a:custGeom>
            <a:avLst/>
            <a:gdLst/>
            <a:ahLst/>
            <a:cxnLst/>
            <a:rect l="l" t="t" r="r" b="b"/>
            <a:pathLst>
              <a:path w="609600" h="76200">
                <a:moveTo>
                  <a:pt x="533400" y="0"/>
                </a:moveTo>
                <a:lnTo>
                  <a:pt x="533400" y="76200"/>
                </a:lnTo>
                <a:lnTo>
                  <a:pt x="590550" y="47625"/>
                </a:lnTo>
                <a:lnTo>
                  <a:pt x="546100" y="47625"/>
                </a:lnTo>
                <a:lnTo>
                  <a:pt x="546100" y="28575"/>
                </a:lnTo>
                <a:lnTo>
                  <a:pt x="590550" y="28575"/>
                </a:lnTo>
                <a:lnTo>
                  <a:pt x="533400" y="0"/>
                </a:lnTo>
                <a:close/>
              </a:path>
              <a:path w="609600" h="76200">
                <a:moveTo>
                  <a:pt x="533400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533400" y="47625"/>
                </a:lnTo>
                <a:lnTo>
                  <a:pt x="533400" y="28575"/>
                </a:lnTo>
                <a:close/>
              </a:path>
              <a:path w="609600" h="76200">
                <a:moveTo>
                  <a:pt x="590550" y="28575"/>
                </a:moveTo>
                <a:lnTo>
                  <a:pt x="546100" y="28575"/>
                </a:lnTo>
                <a:lnTo>
                  <a:pt x="546100" y="47625"/>
                </a:lnTo>
                <a:lnTo>
                  <a:pt x="590550" y="47625"/>
                </a:lnTo>
                <a:lnTo>
                  <a:pt x="609600" y="38100"/>
                </a:lnTo>
                <a:lnTo>
                  <a:pt x="5905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8"/>
          <p:cNvGrpSpPr/>
          <p:nvPr/>
        </p:nvGrpSpPr>
        <p:grpSpPr>
          <a:xfrm>
            <a:off x="828675" y="4550256"/>
            <a:ext cx="4057650" cy="157480"/>
            <a:chOff x="828675" y="3748151"/>
            <a:chExt cx="4057650" cy="157480"/>
          </a:xfrm>
        </p:grpSpPr>
        <p:sp>
          <p:nvSpPr>
            <p:cNvPr id="18" name="object 9"/>
            <p:cNvSpPr/>
            <p:nvPr/>
          </p:nvSpPr>
          <p:spPr>
            <a:xfrm>
              <a:off x="838200" y="3900551"/>
              <a:ext cx="4038600" cy="0"/>
            </a:xfrm>
            <a:custGeom>
              <a:avLst/>
              <a:gdLst/>
              <a:ahLst/>
              <a:cxnLst/>
              <a:rect l="l" t="t" r="r" b="b"/>
              <a:pathLst>
                <a:path w="4038600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0"/>
            <p:cNvSpPr/>
            <p:nvPr/>
          </p:nvSpPr>
          <p:spPr>
            <a:xfrm>
              <a:off x="838200" y="3748151"/>
              <a:ext cx="4038600" cy="152400"/>
            </a:xfrm>
            <a:custGeom>
              <a:avLst/>
              <a:gdLst/>
              <a:ahLst/>
              <a:cxnLst/>
              <a:rect l="l" t="t" r="r" b="b"/>
              <a:pathLst>
                <a:path w="4038600" h="152400">
                  <a:moveTo>
                    <a:pt x="0" y="0"/>
                  </a:moveTo>
                  <a:lnTo>
                    <a:pt x="0" y="152400"/>
                  </a:lnTo>
                </a:path>
                <a:path w="4038600" h="152400">
                  <a:moveTo>
                    <a:pt x="4038600" y="0"/>
                  </a:moveTo>
                  <a:lnTo>
                    <a:pt x="4038600" y="152400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11"/>
          <p:cNvSpPr txBox="1"/>
          <p:nvPr/>
        </p:nvSpPr>
        <p:spPr>
          <a:xfrm>
            <a:off x="1655445" y="4731993"/>
            <a:ext cx="2540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Verdana"/>
                <a:cs typeface="Verdana"/>
              </a:rPr>
              <a:t>Integrated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together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3EBC71B-F5B4-4E81-983D-EFB396647709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   </a:t>
            </a:r>
            <a:fld id="{00000000-1234-1234-1234-123412341234}" type="slidenum">
              <a:rPr lang="en-US" smtClean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390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Smart Sensor with </a:t>
            </a:r>
            <a:r>
              <a:rPr lang="en-US" dirty="0" smtClean="0"/>
              <a:t>PWM </a:t>
            </a:r>
            <a:r>
              <a:rPr lang="en-US" dirty="0"/>
              <a:t>Output</a:t>
            </a:r>
            <a:endParaRPr lang="en-US" dirty="0"/>
          </a:p>
        </p:txBody>
      </p:sp>
      <p:sp>
        <p:nvSpPr>
          <p:cNvPr id="40" name="object 3"/>
          <p:cNvSpPr txBox="1"/>
          <p:nvPr/>
        </p:nvSpPr>
        <p:spPr>
          <a:xfrm>
            <a:off x="1652340" y="3545302"/>
            <a:ext cx="1143000" cy="60960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235"/>
              </a:spcBef>
            </a:pPr>
            <a:r>
              <a:rPr sz="1800" spc="-5" dirty="0">
                <a:latin typeface="Verdana"/>
                <a:cs typeface="Verdana"/>
              </a:rPr>
              <a:t>Micro-</a:t>
            </a:r>
            <a:endParaRPr sz="1800" dirty="0">
              <a:latin typeface="Verdana"/>
              <a:cs typeface="Verdana"/>
            </a:endParaRPr>
          </a:p>
          <a:p>
            <a:pPr marL="153670">
              <a:lnSpc>
                <a:spcPct val="100000"/>
              </a:lnSpc>
            </a:pPr>
            <a:r>
              <a:rPr sz="1800" spc="-5" dirty="0">
                <a:latin typeface="Verdana"/>
                <a:cs typeface="Verdana"/>
              </a:rPr>
              <a:t>sensor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1" name="object 4"/>
          <p:cNvSpPr/>
          <p:nvPr/>
        </p:nvSpPr>
        <p:spPr>
          <a:xfrm>
            <a:off x="3362141" y="3545302"/>
            <a:ext cx="1143000" cy="609600"/>
          </a:xfrm>
          <a:custGeom>
            <a:avLst/>
            <a:gdLst/>
            <a:ahLst/>
            <a:cxnLst/>
            <a:rect l="l" t="t" r="r" b="b"/>
            <a:pathLst>
              <a:path w="1143000" h="609600">
                <a:moveTo>
                  <a:pt x="0" y="609600"/>
                </a:moveTo>
                <a:lnTo>
                  <a:pt x="1143000" y="609600"/>
                </a:lnTo>
                <a:lnTo>
                  <a:pt x="11430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5"/>
          <p:cNvSpPr txBox="1"/>
          <p:nvPr/>
        </p:nvSpPr>
        <p:spPr>
          <a:xfrm>
            <a:off x="3611950" y="3699606"/>
            <a:ext cx="642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SPU</a:t>
            </a:r>
          </a:p>
        </p:txBody>
      </p:sp>
      <p:sp>
        <p:nvSpPr>
          <p:cNvPr id="43" name="object 6"/>
          <p:cNvSpPr/>
          <p:nvPr/>
        </p:nvSpPr>
        <p:spPr>
          <a:xfrm>
            <a:off x="5067116" y="3545302"/>
            <a:ext cx="1143000" cy="609600"/>
          </a:xfrm>
          <a:custGeom>
            <a:avLst/>
            <a:gdLst/>
            <a:ahLst/>
            <a:cxnLst/>
            <a:rect l="l" t="t" r="r" b="b"/>
            <a:pathLst>
              <a:path w="1143000" h="609600">
                <a:moveTo>
                  <a:pt x="0" y="609600"/>
                </a:moveTo>
                <a:lnTo>
                  <a:pt x="1143000" y="609600"/>
                </a:lnTo>
                <a:lnTo>
                  <a:pt x="11430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7"/>
          <p:cNvSpPr txBox="1"/>
          <p:nvPr/>
        </p:nvSpPr>
        <p:spPr>
          <a:xfrm>
            <a:off x="5349310" y="3699606"/>
            <a:ext cx="581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P</a:t>
            </a:r>
            <a:r>
              <a:rPr sz="1800" spc="-10" dirty="0">
                <a:latin typeface="Verdana"/>
                <a:cs typeface="Verdana"/>
              </a:rPr>
              <a:t>W</a:t>
            </a:r>
            <a:r>
              <a:rPr sz="1800" dirty="0">
                <a:latin typeface="Verdana"/>
                <a:cs typeface="Verdana"/>
              </a:rPr>
              <a:t>M</a:t>
            </a:r>
          </a:p>
        </p:txBody>
      </p:sp>
      <p:sp>
        <p:nvSpPr>
          <p:cNvPr id="45" name="object 8"/>
          <p:cNvSpPr txBox="1"/>
          <p:nvPr/>
        </p:nvSpPr>
        <p:spPr>
          <a:xfrm>
            <a:off x="6783393" y="3667933"/>
            <a:ext cx="2306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 smtClean="0">
                <a:latin typeface="Verdana"/>
                <a:cs typeface="Verdana"/>
              </a:rPr>
              <a:t>PWM</a:t>
            </a:r>
            <a:r>
              <a:rPr sz="1800" spc="-65" dirty="0" smtClean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output</a:t>
            </a:r>
          </a:p>
        </p:txBody>
      </p:sp>
      <p:grpSp>
        <p:nvGrpSpPr>
          <p:cNvPr id="46" name="object 9"/>
          <p:cNvGrpSpPr/>
          <p:nvPr/>
        </p:nvGrpSpPr>
        <p:grpSpPr>
          <a:xfrm>
            <a:off x="1566615" y="4612102"/>
            <a:ext cx="4667250" cy="95250"/>
            <a:chOff x="523875" y="4114800"/>
            <a:chExt cx="4667250" cy="95250"/>
          </a:xfrm>
        </p:grpSpPr>
        <p:sp>
          <p:nvSpPr>
            <p:cNvPr id="47" name="object 10"/>
            <p:cNvSpPr/>
            <p:nvPr/>
          </p:nvSpPr>
          <p:spPr>
            <a:xfrm>
              <a:off x="533400" y="4205223"/>
              <a:ext cx="4648200" cy="0"/>
            </a:xfrm>
            <a:custGeom>
              <a:avLst/>
              <a:gdLst/>
              <a:ahLst/>
              <a:cxnLst/>
              <a:rect l="l" t="t" r="r" b="b"/>
              <a:pathLst>
                <a:path w="4648200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11"/>
            <p:cNvSpPr/>
            <p:nvPr/>
          </p:nvSpPr>
          <p:spPr>
            <a:xfrm>
              <a:off x="533400" y="4114800"/>
              <a:ext cx="4648200" cy="90805"/>
            </a:xfrm>
            <a:custGeom>
              <a:avLst/>
              <a:gdLst/>
              <a:ahLst/>
              <a:cxnLst/>
              <a:rect l="l" t="t" r="r" b="b"/>
              <a:pathLst>
                <a:path w="4648200" h="90804">
                  <a:moveTo>
                    <a:pt x="0" y="0"/>
                  </a:moveTo>
                  <a:lnTo>
                    <a:pt x="0" y="90424"/>
                  </a:lnTo>
                </a:path>
                <a:path w="4648200" h="90804">
                  <a:moveTo>
                    <a:pt x="4648200" y="0"/>
                  </a:moveTo>
                  <a:lnTo>
                    <a:pt x="4648200" y="9042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12"/>
          <p:cNvGrpSpPr/>
          <p:nvPr/>
        </p:nvGrpSpPr>
        <p:grpSpPr>
          <a:xfrm>
            <a:off x="2795340" y="3775680"/>
            <a:ext cx="7244080" cy="2060575"/>
            <a:chOff x="1752600" y="3278378"/>
            <a:chExt cx="7244080" cy="2060575"/>
          </a:xfrm>
        </p:grpSpPr>
        <p:sp>
          <p:nvSpPr>
            <p:cNvPr id="50" name="object 13"/>
            <p:cNvSpPr/>
            <p:nvPr/>
          </p:nvSpPr>
          <p:spPr>
            <a:xfrm>
              <a:off x="1752600" y="3278378"/>
              <a:ext cx="3977004" cy="149225"/>
            </a:xfrm>
            <a:custGeom>
              <a:avLst/>
              <a:gdLst/>
              <a:ahLst/>
              <a:cxnLst/>
              <a:rect l="l" t="t" r="r" b="b"/>
              <a:pathLst>
                <a:path w="3977004" h="149225">
                  <a:moveTo>
                    <a:pt x="566674" y="74422"/>
                  </a:moveTo>
                  <a:lnTo>
                    <a:pt x="549541" y="64897"/>
                  </a:lnTo>
                  <a:lnTo>
                    <a:pt x="432816" y="0"/>
                  </a:lnTo>
                  <a:lnTo>
                    <a:pt x="427101" y="1651"/>
                  </a:lnTo>
                  <a:lnTo>
                    <a:pt x="424434" y="6350"/>
                  </a:lnTo>
                  <a:lnTo>
                    <a:pt x="421894" y="10922"/>
                  </a:lnTo>
                  <a:lnTo>
                    <a:pt x="423545" y="16637"/>
                  </a:lnTo>
                  <a:lnTo>
                    <a:pt x="428244" y="19304"/>
                  </a:lnTo>
                  <a:lnTo>
                    <a:pt x="510298" y="64897"/>
                  </a:lnTo>
                  <a:lnTo>
                    <a:pt x="0" y="64897"/>
                  </a:lnTo>
                  <a:lnTo>
                    <a:pt x="0" y="83947"/>
                  </a:lnTo>
                  <a:lnTo>
                    <a:pt x="510298" y="83947"/>
                  </a:lnTo>
                  <a:lnTo>
                    <a:pt x="428244" y="129540"/>
                  </a:lnTo>
                  <a:lnTo>
                    <a:pt x="423545" y="132207"/>
                  </a:lnTo>
                  <a:lnTo>
                    <a:pt x="421894" y="137922"/>
                  </a:lnTo>
                  <a:lnTo>
                    <a:pt x="424434" y="142494"/>
                  </a:lnTo>
                  <a:lnTo>
                    <a:pt x="427101" y="147193"/>
                  </a:lnTo>
                  <a:lnTo>
                    <a:pt x="432816" y="148844"/>
                  </a:lnTo>
                  <a:lnTo>
                    <a:pt x="549541" y="83947"/>
                  </a:lnTo>
                  <a:lnTo>
                    <a:pt x="566674" y="74422"/>
                  </a:lnTo>
                  <a:close/>
                </a:path>
                <a:path w="3977004" h="149225">
                  <a:moveTo>
                    <a:pt x="2286000" y="74422"/>
                  </a:moveTo>
                  <a:lnTo>
                    <a:pt x="2268867" y="64897"/>
                  </a:lnTo>
                  <a:lnTo>
                    <a:pt x="2152142" y="0"/>
                  </a:lnTo>
                  <a:lnTo>
                    <a:pt x="2146300" y="1651"/>
                  </a:lnTo>
                  <a:lnTo>
                    <a:pt x="2143760" y="6350"/>
                  </a:lnTo>
                  <a:lnTo>
                    <a:pt x="2141220" y="10922"/>
                  </a:lnTo>
                  <a:lnTo>
                    <a:pt x="2142871" y="16637"/>
                  </a:lnTo>
                  <a:lnTo>
                    <a:pt x="2147443" y="19304"/>
                  </a:lnTo>
                  <a:lnTo>
                    <a:pt x="2229497" y="64897"/>
                  </a:lnTo>
                  <a:lnTo>
                    <a:pt x="1719199" y="64897"/>
                  </a:lnTo>
                  <a:lnTo>
                    <a:pt x="1719199" y="83947"/>
                  </a:lnTo>
                  <a:lnTo>
                    <a:pt x="2229497" y="83947"/>
                  </a:lnTo>
                  <a:lnTo>
                    <a:pt x="2147443" y="129540"/>
                  </a:lnTo>
                  <a:lnTo>
                    <a:pt x="2142871" y="132207"/>
                  </a:lnTo>
                  <a:lnTo>
                    <a:pt x="2141220" y="137922"/>
                  </a:lnTo>
                  <a:lnTo>
                    <a:pt x="2143760" y="142494"/>
                  </a:lnTo>
                  <a:lnTo>
                    <a:pt x="2146300" y="147193"/>
                  </a:lnTo>
                  <a:lnTo>
                    <a:pt x="2152142" y="148844"/>
                  </a:lnTo>
                  <a:lnTo>
                    <a:pt x="2268867" y="83947"/>
                  </a:lnTo>
                  <a:lnTo>
                    <a:pt x="2286000" y="74422"/>
                  </a:lnTo>
                  <a:close/>
                </a:path>
                <a:path w="3977004" h="149225">
                  <a:moveTo>
                    <a:pt x="3976624" y="74422"/>
                  </a:moveTo>
                  <a:lnTo>
                    <a:pt x="3959491" y="64897"/>
                  </a:lnTo>
                  <a:lnTo>
                    <a:pt x="3842766" y="0"/>
                  </a:lnTo>
                  <a:lnTo>
                    <a:pt x="3837051" y="1651"/>
                  </a:lnTo>
                  <a:lnTo>
                    <a:pt x="3834384" y="6350"/>
                  </a:lnTo>
                  <a:lnTo>
                    <a:pt x="3831844" y="10922"/>
                  </a:lnTo>
                  <a:lnTo>
                    <a:pt x="3833495" y="16637"/>
                  </a:lnTo>
                  <a:lnTo>
                    <a:pt x="3838194" y="19304"/>
                  </a:lnTo>
                  <a:lnTo>
                    <a:pt x="3920248" y="64897"/>
                  </a:lnTo>
                  <a:lnTo>
                    <a:pt x="3409950" y="64897"/>
                  </a:lnTo>
                  <a:lnTo>
                    <a:pt x="3409950" y="83947"/>
                  </a:lnTo>
                  <a:lnTo>
                    <a:pt x="3920248" y="83947"/>
                  </a:lnTo>
                  <a:lnTo>
                    <a:pt x="3937406" y="74422"/>
                  </a:lnTo>
                  <a:lnTo>
                    <a:pt x="3838194" y="129540"/>
                  </a:lnTo>
                  <a:lnTo>
                    <a:pt x="3833495" y="132207"/>
                  </a:lnTo>
                  <a:lnTo>
                    <a:pt x="3831844" y="137922"/>
                  </a:lnTo>
                  <a:lnTo>
                    <a:pt x="3834384" y="142494"/>
                  </a:lnTo>
                  <a:lnTo>
                    <a:pt x="3837051" y="147193"/>
                  </a:lnTo>
                  <a:lnTo>
                    <a:pt x="3842766" y="148844"/>
                  </a:lnTo>
                  <a:lnTo>
                    <a:pt x="3959491" y="83947"/>
                  </a:lnTo>
                  <a:lnTo>
                    <a:pt x="3976624" y="7442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14"/>
            <p:cNvSpPr/>
            <p:nvPr/>
          </p:nvSpPr>
          <p:spPr>
            <a:xfrm>
              <a:off x="5257811" y="3493262"/>
              <a:ext cx="3733800" cy="1840864"/>
            </a:xfrm>
            <a:custGeom>
              <a:avLst/>
              <a:gdLst/>
              <a:ahLst/>
              <a:cxnLst/>
              <a:rect l="l" t="t" r="r" b="b"/>
              <a:pathLst>
                <a:path w="3733800" h="1840864">
                  <a:moveTo>
                    <a:pt x="1329805" y="0"/>
                  </a:moveTo>
                  <a:lnTo>
                    <a:pt x="1421880" y="1315085"/>
                  </a:lnTo>
                  <a:lnTo>
                    <a:pt x="1346085" y="1317982"/>
                  </a:lnTo>
                  <a:lnTo>
                    <a:pt x="1127227" y="1329205"/>
                  </a:lnTo>
                  <a:lnTo>
                    <a:pt x="989074" y="1338693"/>
                  </a:lnTo>
                  <a:lnTo>
                    <a:pt x="857725" y="1349692"/>
                  </a:lnTo>
                  <a:lnTo>
                    <a:pt x="733695" y="1362120"/>
                  </a:lnTo>
                  <a:lnTo>
                    <a:pt x="617501" y="1375896"/>
                  </a:lnTo>
                  <a:lnTo>
                    <a:pt x="562504" y="1383264"/>
                  </a:lnTo>
                  <a:lnTo>
                    <a:pt x="509659" y="1390939"/>
                  </a:lnTo>
                  <a:lnTo>
                    <a:pt x="459032" y="1398910"/>
                  </a:lnTo>
                  <a:lnTo>
                    <a:pt x="410686" y="1407167"/>
                  </a:lnTo>
                  <a:lnTo>
                    <a:pt x="364686" y="1415701"/>
                  </a:lnTo>
                  <a:lnTo>
                    <a:pt x="321096" y="1424500"/>
                  </a:lnTo>
                  <a:lnTo>
                    <a:pt x="279982" y="1433555"/>
                  </a:lnTo>
                  <a:lnTo>
                    <a:pt x="241407" y="1442855"/>
                  </a:lnTo>
                  <a:lnTo>
                    <a:pt x="172135" y="1462153"/>
                  </a:lnTo>
                  <a:lnTo>
                    <a:pt x="113796" y="1482311"/>
                  </a:lnTo>
                  <a:lnTo>
                    <a:pt x="66905" y="1503248"/>
                  </a:lnTo>
                  <a:lnTo>
                    <a:pt x="31980" y="1524883"/>
                  </a:lnTo>
                  <a:lnTo>
                    <a:pt x="2933" y="1558855"/>
                  </a:lnTo>
                  <a:lnTo>
                    <a:pt x="0" y="1570220"/>
                  </a:lnTo>
                  <a:lnTo>
                    <a:pt x="442" y="1581507"/>
                  </a:lnTo>
                  <a:lnTo>
                    <a:pt x="21432" y="1614787"/>
                  </a:lnTo>
                  <a:lnTo>
                    <a:pt x="70669" y="1646959"/>
                  </a:lnTo>
                  <a:lnTo>
                    <a:pt x="118394" y="1667639"/>
                  </a:lnTo>
                  <a:lnTo>
                    <a:pt x="177486" y="1687599"/>
                  </a:lnTo>
                  <a:lnTo>
                    <a:pt x="247469" y="1706749"/>
                  </a:lnTo>
                  <a:lnTo>
                    <a:pt x="286397" y="1715992"/>
                  </a:lnTo>
                  <a:lnTo>
                    <a:pt x="327870" y="1724998"/>
                  </a:lnTo>
                  <a:lnTo>
                    <a:pt x="371828" y="1733756"/>
                  </a:lnTo>
                  <a:lnTo>
                    <a:pt x="418212" y="1742254"/>
                  </a:lnTo>
                  <a:lnTo>
                    <a:pt x="466963" y="1750482"/>
                  </a:lnTo>
                  <a:lnTo>
                    <a:pt x="518022" y="1758428"/>
                  </a:lnTo>
                  <a:lnTo>
                    <a:pt x="571328" y="1766081"/>
                  </a:lnTo>
                  <a:lnTo>
                    <a:pt x="626823" y="1773428"/>
                  </a:lnTo>
                  <a:lnTo>
                    <a:pt x="684447" y="1780460"/>
                  </a:lnTo>
                  <a:lnTo>
                    <a:pt x="805846" y="1793529"/>
                  </a:lnTo>
                  <a:lnTo>
                    <a:pt x="935050" y="1805198"/>
                  </a:lnTo>
                  <a:lnTo>
                    <a:pt x="1071583" y="1815376"/>
                  </a:lnTo>
                  <a:lnTo>
                    <a:pt x="1214971" y="1823972"/>
                  </a:lnTo>
                  <a:lnTo>
                    <a:pt x="1441867" y="1833700"/>
                  </a:lnTo>
                  <a:lnTo>
                    <a:pt x="1671380" y="1839217"/>
                  </a:lnTo>
                  <a:lnTo>
                    <a:pt x="1882591" y="1840718"/>
                  </a:lnTo>
                  <a:lnTo>
                    <a:pt x="2089675" y="1838860"/>
                  </a:lnTo>
                  <a:lnTo>
                    <a:pt x="2291154" y="1833804"/>
                  </a:lnTo>
                  <a:lnTo>
                    <a:pt x="2485550" y="1825705"/>
                  </a:lnTo>
                  <a:lnTo>
                    <a:pt x="2671383" y="1814722"/>
                  </a:lnTo>
                  <a:lnTo>
                    <a:pt x="2789785" y="1805876"/>
                  </a:lnTo>
                  <a:lnTo>
                    <a:pt x="2903286" y="1795864"/>
                  </a:lnTo>
                  <a:lnTo>
                    <a:pt x="3011449" y="1784735"/>
                  </a:lnTo>
                  <a:lnTo>
                    <a:pt x="3113834" y="1772535"/>
                  </a:lnTo>
                  <a:lnTo>
                    <a:pt x="3210004" y="1759309"/>
                  </a:lnTo>
                  <a:lnTo>
                    <a:pt x="3255622" y="1752327"/>
                  </a:lnTo>
                  <a:lnTo>
                    <a:pt x="3299522" y="1745106"/>
                  </a:lnTo>
                  <a:lnTo>
                    <a:pt x="3341648" y="1737653"/>
                  </a:lnTo>
                  <a:lnTo>
                    <a:pt x="3381948" y="1729972"/>
                  </a:lnTo>
                  <a:lnTo>
                    <a:pt x="3420365" y="1722071"/>
                  </a:lnTo>
                  <a:lnTo>
                    <a:pt x="3491332" y="1705628"/>
                  </a:lnTo>
                  <a:lnTo>
                    <a:pt x="3554113" y="1688371"/>
                  </a:lnTo>
                  <a:lnTo>
                    <a:pt x="3608270" y="1670347"/>
                  </a:lnTo>
                  <a:lnTo>
                    <a:pt x="3653364" y="1651602"/>
                  </a:lnTo>
                  <a:lnTo>
                    <a:pt x="3688957" y="1632183"/>
                  </a:lnTo>
                  <a:lnTo>
                    <a:pt x="3724474" y="1600651"/>
                  </a:lnTo>
                  <a:lnTo>
                    <a:pt x="3733776" y="1577855"/>
                  </a:lnTo>
                  <a:lnTo>
                    <a:pt x="3733334" y="1566568"/>
                  </a:lnTo>
                  <a:lnTo>
                    <a:pt x="3712344" y="1533288"/>
                  </a:lnTo>
                  <a:lnTo>
                    <a:pt x="3663107" y="1501116"/>
                  </a:lnTo>
                  <a:lnTo>
                    <a:pt x="3615382" y="1480436"/>
                  </a:lnTo>
                  <a:lnTo>
                    <a:pt x="3556290" y="1460476"/>
                  </a:lnTo>
                  <a:lnTo>
                    <a:pt x="3486306" y="1441326"/>
                  </a:lnTo>
                  <a:lnTo>
                    <a:pt x="3447379" y="1432083"/>
                  </a:lnTo>
                  <a:lnTo>
                    <a:pt x="3405906" y="1423077"/>
                  </a:lnTo>
                  <a:lnTo>
                    <a:pt x="3361948" y="1414319"/>
                  </a:lnTo>
                  <a:lnTo>
                    <a:pt x="3315564" y="1405821"/>
                  </a:lnTo>
                  <a:lnTo>
                    <a:pt x="3266813" y="1397593"/>
                  </a:lnTo>
                  <a:lnTo>
                    <a:pt x="3215754" y="1389647"/>
                  </a:lnTo>
                  <a:lnTo>
                    <a:pt x="3162448" y="1381994"/>
                  </a:lnTo>
                  <a:lnTo>
                    <a:pt x="3106953" y="1374647"/>
                  </a:lnTo>
                  <a:lnTo>
                    <a:pt x="2989634" y="1360911"/>
                  </a:lnTo>
                  <a:lnTo>
                    <a:pt x="2864274" y="1348531"/>
                  </a:lnTo>
                  <a:lnTo>
                    <a:pt x="2731346" y="1337596"/>
                  </a:lnTo>
                  <a:lnTo>
                    <a:pt x="2591326" y="1328198"/>
                  </a:lnTo>
                  <a:lnTo>
                    <a:pt x="2444688" y="1320427"/>
                  </a:lnTo>
                  <a:lnTo>
                    <a:pt x="2213363" y="1312021"/>
                  </a:lnTo>
                  <a:lnTo>
                    <a:pt x="2133461" y="1310132"/>
                  </a:lnTo>
                  <a:lnTo>
                    <a:pt x="13298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15"/>
            <p:cNvSpPr/>
            <p:nvPr/>
          </p:nvSpPr>
          <p:spPr>
            <a:xfrm>
              <a:off x="5257811" y="3493262"/>
              <a:ext cx="3733800" cy="1840864"/>
            </a:xfrm>
            <a:custGeom>
              <a:avLst/>
              <a:gdLst/>
              <a:ahLst/>
              <a:cxnLst/>
              <a:rect l="l" t="t" r="r" b="b"/>
              <a:pathLst>
                <a:path w="3733800" h="1840864">
                  <a:moveTo>
                    <a:pt x="1329805" y="0"/>
                  </a:moveTo>
                  <a:lnTo>
                    <a:pt x="2133461" y="1310132"/>
                  </a:lnTo>
                  <a:lnTo>
                    <a:pt x="2213363" y="1312021"/>
                  </a:lnTo>
                  <a:lnTo>
                    <a:pt x="2291908" y="1314375"/>
                  </a:lnTo>
                  <a:lnTo>
                    <a:pt x="2369036" y="1317181"/>
                  </a:lnTo>
                  <a:lnTo>
                    <a:pt x="2444688" y="1320427"/>
                  </a:lnTo>
                  <a:lnTo>
                    <a:pt x="2518805" y="1324103"/>
                  </a:lnTo>
                  <a:lnTo>
                    <a:pt x="2591326" y="1328198"/>
                  </a:lnTo>
                  <a:lnTo>
                    <a:pt x="2662193" y="1332699"/>
                  </a:lnTo>
                  <a:lnTo>
                    <a:pt x="2731346" y="1337596"/>
                  </a:lnTo>
                  <a:lnTo>
                    <a:pt x="2798726" y="1342877"/>
                  </a:lnTo>
                  <a:lnTo>
                    <a:pt x="2864274" y="1348531"/>
                  </a:lnTo>
                  <a:lnTo>
                    <a:pt x="2927930" y="1354546"/>
                  </a:lnTo>
                  <a:lnTo>
                    <a:pt x="2989634" y="1360911"/>
                  </a:lnTo>
                  <a:lnTo>
                    <a:pt x="3049329" y="1367615"/>
                  </a:lnTo>
                  <a:lnTo>
                    <a:pt x="3106953" y="1374647"/>
                  </a:lnTo>
                  <a:lnTo>
                    <a:pt x="3162448" y="1381994"/>
                  </a:lnTo>
                  <a:lnTo>
                    <a:pt x="3215754" y="1389647"/>
                  </a:lnTo>
                  <a:lnTo>
                    <a:pt x="3266813" y="1397593"/>
                  </a:lnTo>
                  <a:lnTo>
                    <a:pt x="3315564" y="1405821"/>
                  </a:lnTo>
                  <a:lnTo>
                    <a:pt x="3361948" y="1414319"/>
                  </a:lnTo>
                  <a:lnTo>
                    <a:pt x="3405906" y="1423077"/>
                  </a:lnTo>
                  <a:lnTo>
                    <a:pt x="3447379" y="1432083"/>
                  </a:lnTo>
                  <a:lnTo>
                    <a:pt x="3486306" y="1441326"/>
                  </a:lnTo>
                  <a:lnTo>
                    <a:pt x="3556290" y="1460476"/>
                  </a:lnTo>
                  <a:lnTo>
                    <a:pt x="3615382" y="1480436"/>
                  </a:lnTo>
                  <a:lnTo>
                    <a:pt x="3663107" y="1501116"/>
                  </a:lnTo>
                  <a:lnTo>
                    <a:pt x="3698991" y="1522426"/>
                  </a:lnTo>
                  <a:lnTo>
                    <a:pt x="3729575" y="1555370"/>
                  </a:lnTo>
                  <a:lnTo>
                    <a:pt x="3733776" y="1577855"/>
                  </a:lnTo>
                  <a:lnTo>
                    <a:pt x="3730843" y="1589220"/>
                  </a:lnTo>
                  <a:lnTo>
                    <a:pt x="3703054" y="1622236"/>
                  </a:lnTo>
                  <a:lnTo>
                    <a:pt x="3653364" y="1651602"/>
                  </a:lnTo>
                  <a:lnTo>
                    <a:pt x="3608270" y="1670347"/>
                  </a:lnTo>
                  <a:lnTo>
                    <a:pt x="3554113" y="1688371"/>
                  </a:lnTo>
                  <a:lnTo>
                    <a:pt x="3491332" y="1705628"/>
                  </a:lnTo>
                  <a:lnTo>
                    <a:pt x="3420365" y="1722071"/>
                  </a:lnTo>
                  <a:lnTo>
                    <a:pt x="3381948" y="1729972"/>
                  </a:lnTo>
                  <a:lnTo>
                    <a:pt x="3341648" y="1737653"/>
                  </a:lnTo>
                  <a:lnTo>
                    <a:pt x="3299522" y="1745106"/>
                  </a:lnTo>
                  <a:lnTo>
                    <a:pt x="3255622" y="1752327"/>
                  </a:lnTo>
                  <a:lnTo>
                    <a:pt x="3210004" y="1759309"/>
                  </a:lnTo>
                  <a:lnTo>
                    <a:pt x="3162723" y="1766047"/>
                  </a:lnTo>
                  <a:lnTo>
                    <a:pt x="3113834" y="1772535"/>
                  </a:lnTo>
                  <a:lnTo>
                    <a:pt x="3063391" y="1778766"/>
                  </a:lnTo>
                  <a:lnTo>
                    <a:pt x="3011449" y="1784735"/>
                  </a:lnTo>
                  <a:lnTo>
                    <a:pt x="2958062" y="1790437"/>
                  </a:lnTo>
                  <a:lnTo>
                    <a:pt x="2903286" y="1795864"/>
                  </a:lnTo>
                  <a:lnTo>
                    <a:pt x="2847176" y="1801013"/>
                  </a:lnTo>
                  <a:lnTo>
                    <a:pt x="2789785" y="1805876"/>
                  </a:lnTo>
                  <a:lnTo>
                    <a:pt x="2731169" y="1810447"/>
                  </a:lnTo>
                  <a:lnTo>
                    <a:pt x="2671383" y="1814722"/>
                  </a:lnTo>
                  <a:lnTo>
                    <a:pt x="2610481" y="1818693"/>
                  </a:lnTo>
                  <a:lnTo>
                    <a:pt x="2548519" y="1822356"/>
                  </a:lnTo>
                  <a:lnTo>
                    <a:pt x="2485550" y="1825705"/>
                  </a:lnTo>
                  <a:lnTo>
                    <a:pt x="2421630" y="1828733"/>
                  </a:lnTo>
                  <a:lnTo>
                    <a:pt x="2356813" y="1831434"/>
                  </a:lnTo>
                  <a:lnTo>
                    <a:pt x="2291154" y="1833804"/>
                  </a:lnTo>
                  <a:lnTo>
                    <a:pt x="2224708" y="1835835"/>
                  </a:lnTo>
                  <a:lnTo>
                    <a:pt x="2157530" y="1837523"/>
                  </a:lnTo>
                  <a:lnTo>
                    <a:pt x="2089675" y="1838860"/>
                  </a:lnTo>
                  <a:lnTo>
                    <a:pt x="2021197" y="1839843"/>
                  </a:lnTo>
                  <a:lnTo>
                    <a:pt x="1952150" y="1840464"/>
                  </a:lnTo>
                  <a:lnTo>
                    <a:pt x="1882591" y="1840718"/>
                  </a:lnTo>
                  <a:lnTo>
                    <a:pt x="1812573" y="1840598"/>
                  </a:lnTo>
                  <a:lnTo>
                    <a:pt x="1742151" y="1840100"/>
                  </a:lnTo>
                  <a:lnTo>
                    <a:pt x="1671380" y="1839217"/>
                  </a:lnTo>
                  <a:lnTo>
                    <a:pt x="1600315" y="1837944"/>
                  </a:lnTo>
                  <a:lnTo>
                    <a:pt x="1520412" y="1836054"/>
                  </a:lnTo>
                  <a:lnTo>
                    <a:pt x="1441867" y="1833700"/>
                  </a:lnTo>
                  <a:lnTo>
                    <a:pt x="1364739" y="1830894"/>
                  </a:lnTo>
                  <a:lnTo>
                    <a:pt x="1289088" y="1827648"/>
                  </a:lnTo>
                  <a:lnTo>
                    <a:pt x="1214971" y="1823972"/>
                  </a:lnTo>
                  <a:lnTo>
                    <a:pt x="1142450" y="1819877"/>
                  </a:lnTo>
                  <a:lnTo>
                    <a:pt x="1071583" y="1815376"/>
                  </a:lnTo>
                  <a:lnTo>
                    <a:pt x="1002430" y="1810479"/>
                  </a:lnTo>
                  <a:lnTo>
                    <a:pt x="935050" y="1805198"/>
                  </a:lnTo>
                  <a:lnTo>
                    <a:pt x="869502" y="1799544"/>
                  </a:lnTo>
                  <a:lnTo>
                    <a:pt x="805846" y="1793529"/>
                  </a:lnTo>
                  <a:lnTo>
                    <a:pt x="744141" y="1787164"/>
                  </a:lnTo>
                  <a:lnTo>
                    <a:pt x="684447" y="1780460"/>
                  </a:lnTo>
                  <a:lnTo>
                    <a:pt x="626823" y="1773428"/>
                  </a:lnTo>
                  <a:lnTo>
                    <a:pt x="571328" y="1766081"/>
                  </a:lnTo>
                  <a:lnTo>
                    <a:pt x="518022" y="1758428"/>
                  </a:lnTo>
                  <a:lnTo>
                    <a:pt x="466963" y="1750482"/>
                  </a:lnTo>
                  <a:lnTo>
                    <a:pt x="418212" y="1742254"/>
                  </a:lnTo>
                  <a:lnTo>
                    <a:pt x="371828" y="1733756"/>
                  </a:lnTo>
                  <a:lnTo>
                    <a:pt x="327870" y="1724998"/>
                  </a:lnTo>
                  <a:lnTo>
                    <a:pt x="286397" y="1715992"/>
                  </a:lnTo>
                  <a:lnTo>
                    <a:pt x="247469" y="1706749"/>
                  </a:lnTo>
                  <a:lnTo>
                    <a:pt x="177486" y="1687599"/>
                  </a:lnTo>
                  <a:lnTo>
                    <a:pt x="118394" y="1667639"/>
                  </a:lnTo>
                  <a:lnTo>
                    <a:pt x="70669" y="1646959"/>
                  </a:lnTo>
                  <a:lnTo>
                    <a:pt x="34785" y="1625649"/>
                  </a:lnTo>
                  <a:lnTo>
                    <a:pt x="4201" y="1592705"/>
                  </a:lnTo>
                  <a:lnTo>
                    <a:pt x="0" y="1570220"/>
                  </a:lnTo>
                  <a:lnTo>
                    <a:pt x="2933" y="1558855"/>
                  </a:lnTo>
                  <a:lnTo>
                    <a:pt x="31980" y="1524883"/>
                  </a:lnTo>
                  <a:lnTo>
                    <a:pt x="66905" y="1503248"/>
                  </a:lnTo>
                  <a:lnTo>
                    <a:pt x="113796" y="1482311"/>
                  </a:lnTo>
                  <a:lnTo>
                    <a:pt x="172135" y="1462153"/>
                  </a:lnTo>
                  <a:lnTo>
                    <a:pt x="241407" y="1442855"/>
                  </a:lnTo>
                  <a:lnTo>
                    <a:pt x="279982" y="1433555"/>
                  </a:lnTo>
                  <a:lnTo>
                    <a:pt x="321096" y="1424500"/>
                  </a:lnTo>
                  <a:lnTo>
                    <a:pt x="364686" y="1415701"/>
                  </a:lnTo>
                  <a:lnTo>
                    <a:pt x="410686" y="1407167"/>
                  </a:lnTo>
                  <a:lnTo>
                    <a:pt x="459032" y="1398910"/>
                  </a:lnTo>
                  <a:lnTo>
                    <a:pt x="509659" y="1390939"/>
                  </a:lnTo>
                  <a:lnTo>
                    <a:pt x="562504" y="1383264"/>
                  </a:lnTo>
                  <a:lnTo>
                    <a:pt x="617501" y="1375896"/>
                  </a:lnTo>
                  <a:lnTo>
                    <a:pt x="674586" y="1368845"/>
                  </a:lnTo>
                  <a:lnTo>
                    <a:pt x="733695" y="1362120"/>
                  </a:lnTo>
                  <a:lnTo>
                    <a:pt x="794763" y="1355733"/>
                  </a:lnTo>
                  <a:lnTo>
                    <a:pt x="857725" y="1349692"/>
                  </a:lnTo>
                  <a:lnTo>
                    <a:pt x="922517" y="1344009"/>
                  </a:lnTo>
                  <a:lnTo>
                    <a:pt x="989074" y="1338693"/>
                  </a:lnTo>
                  <a:lnTo>
                    <a:pt x="1057333" y="1333755"/>
                  </a:lnTo>
                  <a:lnTo>
                    <a:pt x="1127227" y="1329205"/>
                  </a:lnTo>
                  <a:lnTo>
                    <a:pt x="1198694" y="1325053"/>
                  </a:lnTo>
                  <a:lnTo>
                    <a:pt x="1271668" y="1321308"/>
                  </a:lnTo>
                  <a:lnTo>
                    <a:pt x="1346085" y="1317982"/>
                  </a:lnTo>
                  <a:lnTo>
                    <a:pt x="1421880" y="1315085"/>
                  </a:lnTo>
                  <a:lnTo>
                    <a:pt x="1329805" y="0"/>
                  </a:lnTo>
                  <a:close/>
                </a:path>
              </a:pathLst>
            </a:custGeom>
            <a:ln w="952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16"/>
          <p:cNvSpPr txBox="1"/>
          <p:nvPr/>
        </p:nvSpPr>
        <p:spPr>
          <a:xfrm>
            <a:off x="6835844" y="5428204"/>
            <a:ext cx="2564765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Pulse </a:t>
            </a:r>
            <a:r>
              <a:rPr sz="1600" spc="-10" dirty="0">
                <a:latin typeface="Verdana"/>
                <a:cs typeface="Verdana"/>
              </a:rPr>
              <a:t>width </a:t>
            </a:r>
            <a:r>
              <a:rPr lang="en-US" sz="1600" spc="-10" dirty="0">
                <a:latin typeface="Verdana"/>
                <a:cs typeface="Verdana"/>
              </a:rPr>
              <a:t>»</a:t>
            </a:r>
            <a:r>
              <a:rPr sz="1600" spc="160" dirty="0" smtClean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Verdana"/>
                <a:cs typeface="Verdana"/>
              </a:rPr>
              <a:t>Measurand</a:t>
            </a:r>
            <a:endParaRPr sz="1600" dirty="0">
              <a:latin typeface="Verdana"/>
              <a:cs typeface="Verdana"/>
            </a:endParaRPr>
          </a:p>
        </p:txBody>
      </p:sp>
      <p:sp>
        <p:nvSpPr>
          <p:cNvPr id="54" name="object 17"/>
          <p:cNvSpPr txBox="1"/>
          <p:nvPr/>
        </p:nvSpPr>
        <p:spPr>
          <a:xfrm>
            <a:off x="2874334" y="4731990"/>
            <a:ext cx="2289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Integrated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together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5" name="object 18"/>
          <p:cNvGrpSpPr/>
          <p:nvPr/>
        </p:nvGrpSpPr>
        <p:grpSpPr>
          <a:xfrm>
            <a:off x="3171256" y="2016535"/>
            <a:ext cx="3211195" cy="1776095"/>
            <a:chOff x="2128516" y="1519233"/>
            <a:chExt cx="3211195" cy="1776095"/>
          </a:xfrm>
        </p:grpSpPr>
        <p:sp>
          <p:nvSpPr>
            <p:cNvPr id="56" name="object 19"/>
            <p:cNvSpPr/>
            <p:nvPr/>
          </p:nvSpPr>
          <p:spPr>
            <a:xfrm>
              <a:off x="2133278" y="1523995"/>
              <a:ext cx="3201670" cy="1766570"/>
            </a:xfrm>
            <a:custGeom>
              <a:avLst/>
              <a:gdLst/>
              <a:ahLst/>
              <a:cxnLst/>
              <a:rect l="l" t="t" r="r" b="b"/>
              <a:pathLst>
                <a:path w="3201670" h="1766570">
                  <a:moveTo>
                    <a:pt x="1572071" y="0"/>
                  </a:moveTo>
                  <a:lnTo>
                    <a:pt x="1505265" y="422"/>
                  </a:lnTo>
                  <a:lnTo>
                    <a:pt x="1373307" y="2645"/>
                  </a:lnTo>
                  <a:lnTo>
                    <a:pt x="1244024" y="6652"/>
                  </a:lnTo>
                  <a:lnTo>
                    <a:pt x="1117980" y="12380"/>
                  </a:lnTo>
                  <a:lnTo>
                    <a:pt x="995738" y="19766"/>
                  </a:lnTo>
                  <a:lnTo>
                    <a:pt x="877863" y="28747"/>
                  </a:lnTo>
                  <a:lnTo>
                    <a:pt x="764919" y="39261"/>
                  </a:lnTo>
                  <a:lnTo>
                    <a:pt x="657471" y="51245"/>
                  </a:lnTo>
                  <a:lnTo>
                    <a:pt x="605983" y="57768"/>
                  </a:lnTo>
                  <a:lnTo>
                    <a:pt x="556082" y="64636"/>
                  </a:lnTo>
                  <a:lnTo>
                    <a:pt x="507835" y="71839"/>
                  </a:lnTo>
                  <a:lnTo>
                    <a:pt x="461316" y="79371"/>
                  </a:lnTo>
                  <a:lnTo>
                    <a:pt x="416593" y="87223"/>
                  </a:lnTo>
                  <a:lnTo>
                    <a:pt x="373738" y="95388"/>
                  </a:lnTo>
                  <a:lnTo>
                    <a:pt x="332820" y="103857"/>
                  </a:lnTo>
                  <a:lnTo>
                    <a:pt x="293911" y="112624"/>
                  </a:lnTo>
                  <a:lnTo>
                    <a:pt x="222401" y="131015"/>
                  </a:lnTo>
                  <a:lnTo>
                    <a:pt x="159770" y="150500"/>
                  </a:lnTo>
                  <a:lnTo>
                    <a:pt x="106584" y="171016"/>
                  </a:lnTo>
                  <a:lnTo>
                    <a:pt x="63406" y="192499"/>
                  </a:lnTo>
                  <a:lnTo>
                    <a:pt x="30801" y="214888"/>
                  </a:lnTo>
                  <a:lnTo>
                    <a:pt x="1876" y="254119"/>
                  </a:lnTo>
                  <a:lnTo>
                    <a:pt x="0" y="267066"/>
                  </a:lnTo>
                  <a:lnTo>
                    <a:pt x="1885" y="279919"/>
                  </a:lnTo>
                  <a:lnTo>
                    <a:pt x="29396" y="317726"/>
                  </a:lnTo>
                  <a:lnTo>
                    <a:pt x="65226" y="342127"/>
                  </a:lnTo>
                  <a:lnTo>
                    <a:pt x="114375" y="365718"/>
                  </a:lnTo>
                  <a:lnTo>
                    <a:pt x="176267" y="388354"/>
                  </a:lnTo>
                  <a:lnTo>
                    <a:pt x="250324" y="409891"/>
                  </a:lnTo>
                  <a:lnTo>
                    <a:pt x="291735" y="420204"/>
                  </a:lnTo>
                  <a:lnTo>
                    <a:pt x="335971" y="430187"/>
                  </a:lnTo>
                  <a:lnTo>
                    <a:pt x="382959" y="439825"/>
                  </a:lnTo>
                  <a:lnTo>
                    <a:pt x="432629" y="449098"/>
                  </a:lnTo>
                  <a:lnTo>
                    <a:pt x="484907" y="457989"/>
                  </a:lnTo>
                  <a:lnTo>
                    <a:pt x="539723" y="466479"/>
                  </a:lnTo>
                  <a:lnTo>
                    <a:pt x="597003" y="474552"/>
                  </a:lnTo>
                  <a:lnTo>
                    <a:pt x="656675" y="482188"/>
                  </a:lnTo>
                  <a:lnTo>
                    <a:pt x="718668" y="489370"/>
                  </a:lnTo>
                  <a:lnTo>
                    <a:pt x="782909" y="496080"/>
                  </a:lnTo>
                  <a:lnTo>
                    <a:pt x="849327" y="502300"/>
                  </a:lnTo>
                  <a:lnTo>
                    <a:pt x="988403" y="513198"/>
                  </a:lnTo>
                  <a:lnTo>
                    <a:pt x="1135319" y="521921"/>
                  </a:lnTo>
                  <a:lnTo>
                    <a:pt x="1289498" y="528324"/>
                  </a:lnTo>
                  <a:lnTo>
                    <a:pt x="1568263" y="1766066"/>
                  </a:lnTo>
                  <a:lnTo>
                    <a:pt x="1900241" y="528705"/>
                  </a:lnTo>
                  <a:lnTo>
                    <a:pt x="2045537" y="522918"/>
                  </a:lnTo>
                  <a:lnTo>
                    <a:pt x="2185279" y="515006"/>
                  </a:lnTo>
                  <a:lnTo>
                    <a:pt x="2318817" y="505077"/>
                  </a:lnTo>
                  <a:lnTo>
                    <a:pt x="2445503" y="493240"/>
                  </a:lnTo>
                  <a:lnTo>
                    <a:pt x="2506073" y="486638"/>
                  </a:lnTo>
                  <a:lnTo>
                    <a:pt x="2564687" y="479600"/>
                  </a:lnTo>
                  <a:lnTo>
                    <a:pt x="2621263" y="472138"/>
                  </a:lnTo>
                  <a:lnTo>
                    <a:pt x="2675721" y="464266"/>
                  </a:lnTo>
                  <a:lnTo>
                    <a:pt x="2727979" y="455997"/>
                  </a:lnTo>
                  <a:lnTo>
                    <a:pt x="2777956" y="447345"/>
                  </a:lnTo>
                  <a:lnTo>
                    <a:pt x="2825571" y="438323"/>
                  </a:lnTo>
                  <a:lnTo>
                    <a:pt x="2870743" y="428945"/>
                  </a:lnTo>
                  <a:lnTo>
                    <a:pt x="2913390" y="419224"/>
                  </a:lnTo>
                  <a:lnTo>
                    <a:pt x="2953432" y="409174"/>
                  </a:lnTo>
                  <a:lnTo>
                    <a:pt x="2990788" y="398807"/>
                  </a:lnTo>
                  <a:lnTo>
                    <a:pt x="3057154" y="377164"/>
                  </a:lnTo>
                  <a:lnTo>
                    <a:pt x="3111723" y="354449"/>
                  </a:lnTo>
                  <a:lnTo>
                    <a:pt x="3153962" y="330722"/>
                  </a:lnTo>
                  <a:lnTo>
                    <a:pt x="3183837" y="305396"/>
                  </a:lnTo>
                  <a:lnTo>
                    <a:pt x="3201042" y="266341"/>
                  </a:lnTo>
                  <a:lnTo>
                    <a:pt x="3199156" y="253489"/>
                  </a:lnTo>
                  <a:lnTo>
                    <a:pt x="3171646" y="215681"/>
                  </a:lnTo>
                  <a:lnTo>
                    <a:pt x="3135815" y="191280"/>
                  </a:lnTo>
                  <a:lnTo>
                    <a:pt x="3086666" y="167690"/>
                  </a:lnTo>
                  <a:lnTo>
                    <a:pt x="3024774" y="145054"/>
                  </a:lnTo>
                  <a:lnTo>
                    <a:pt x="2950717" y="123516"/>
                  </a:lnTo>
                  <a:lnTo>
                    <a:pt x="2909306" y="113204"/>
                  </a:lnTo>
                  <a:lnTo>
                    <a:pt x="2865071" y="103220"/>
                  </a:lnTo>
                  <a:lnTo>
                    <a:pt x="2818082" y="93583"/>
                  </a:lnTo>
                  <a:lnTo>
                    <a:pt x="2768412" y="84310"/>
                  </a:lnTo>
                  <a:lnTo>
                    <a:pt x="2716134" y="75419"/>
                  </a:lnTo>
                  <a:lnTo>
                    <a:pt x="2661319" y="66928"/>
                  </a:lnTo>
                  <a:lnTo>
                    <a:pt x="2604039" y="58856"/>
                  </a:lnTo>
                  <a:lnTo>
                    <a:pt x="2544366" y="51219"/>
                  </a:lnTo>
                  <a:lnTo>
                    <a:pt x="2482373" y="44037"/>
                  </a:lnTo>
                  <a:lnTo>
                    <a:pt x="2418132" y="37327"/>
                  </a:lnTo>
                  <a:lnTo>
                    <a:pt x="2351714" y="31107"/>
                  </a:lnTo>
                  <a:lnTo>
                    <a:pt x="2212639" y="20209"/>
                  </a:lnTo>
                  <a:lnTo>
                    <a:pt x="2065723" y="11487"/>
                  </a:lnTo>
                  <a:lnTo>
                    <a:pt x="1911544" y="5084"/>
                  </a:lnTo>
                  <a:lnTo>
                    <a:pt x="1774947" y="1579"/>
                  </a:lnTo>
                  <a:lnTo>
                    <a:pt x="1639333" y="46"/>
                  </a:lnTo>
                  <a:lnTo>
                    <a:pt x="15720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20"/>
            <p:cNvSpPr/>
            <p:nvPr/>
          </p:nvSpPr>
          <p:spPr>
            <a:xfrm>
              <a:off x="2133278" y="1523995"/>
              <a:ext cx="3201670" cy="1766570"/>
            </a:xfrm>
            <a:custGeom>
              <a:avLst/>
              <a:gdLst/>
              <a:ahLst/>
              <a:cxnLst/>
              <a:rect l="l" t="t" r="r" b="b"/>
              <a:pathLst>
                <a:path w="3201670" h="1766570">
                  <a:moveTo>
                    <a:pt x="1568263" y="1766066"/>
                  </a:moveTo>
                  <a:lnTo>
                    <a:pt x="1289498" y="528324"/>
                  </a:lnTo>
                  <a:lnTo>
                    <a:pt x="1211536" y="525421"/>
                  </a:lnTo>
                  <a:lnTo>
                    <a:pt x="1135319" y="521921"/>
                  </a:lnTo>
                  <a:lnTo>
                    <a:pt x="1060917" y="517840"/>
                  </a:lnTo>
                  <a:lnTo>
                    <a:pt x="988403" y="513198"/>
                  </a:lnTo>
                  <a:lnTo>
                    <a:pt x="917849" y="508012"/>
                  </a:lnTo>
                  <a:lnTo>
                    <a:pt x="849327" y="502300"/>
                  </a:lnTo>
                  <a:lnTo>
                    <a:pt x="782909" y="496080"/>
                  </a:lnTo>
                  <a:lnTo>
                    <a:pt x="718668" y="489370"/>
                  </a:lnTo>
                  <a:lnTo>
                    <a:pt x="656675" y="482188"/>
                  </a:lnTo>
                  <a:lnTo>
                    <a:pt x="597003" y="474552"/>
                  </a:lnTo>
                  <a:lnTo>
                    <a:pt x="539723" y="466479"/>
                  </a:lnTo>
                  <a:lnTo>
                    <a:pt x="484907" y="457989"/>
                  </a:lnTo>
                  <a:lnTo>
                    <a:pt x="432629" y="449098"/>
                  </a:lnTo>
                  <a:lnTo>
                    <a:pt x="382959" y="439825"/>
                  </a:lnTo>
                  <a:lnTo>
                    <a:pt x="335971" y="430187"/>
                  </a:lnTo>
                  <a:lnTo>
                    <a:pt x="291735" y="420204"/>
                  </a:lnTo>
                  <a:lnTo>
                    <a:pt x="250324" y="409891"/>
                  </a:lnTo>
                  <a:lnTo>
                    <a:pt x="211811" y="399269"/>
                  </a:lnTo>
                  <a:lnTo>
                    <a:pt x="143764" y="377164"/>
                  </a:lnTo>
                  <a:lnTo>
                    <a:pt x="88172" y="354033"/>
                  </a:lnTo>
                  <a:lnTo>
                    <a:pt x="45610" y="330019"/>
                  </a:lnTo>
                  <a:lnTo>
                    <a:pt x="7461" y="292658"/>
                  </a:lnTo>
                  <a:lnTo>
                    <a:pt x="0" y="267066"/>
                  </a:lnTo>
                  <a:lnTo>
                    <a:pt x="1876" y="254119"/>
                  </a:lnTo>
                  <a:lnTo>
                    <a:pt x="30801" y="214888"/>
                  </a:lnTo>
                  <a:lnTo>
                    <a:pt x="63406" y="192499"/>
                  </a:lnTo>
                  <a:lnTo>
                    <a:pt x="106584" y="171016"/>
                  </a:lnTo>
                  <a:lnTo>
                    <a:pt x="159770" y="150500"/>
                  </a:lnTo>
                  <a:lnTo>
                    <a:pt x="222401" y="131015"/>
                  </a:lnTo>
                  <a:lnTo>
                    <a:pt x="293911" y="112624"/>
                  </a:lnTo>
                  <a:lnTo>
                    <a:pt x="332820" y="103857"/>
                  </a:lnTo>
                  <a:lnTo>
                    <a:pt x="373738" y="95388"/>
                  </a:lnTo>
                  <a:lnTo>
                    <a:pt x="416593" y="87223"/>
                  </a:lnTo>
                  <a:lnTo>
                    <a:pt x="461316" y="79371"/>
                  </a:lnTo>
                  <a:lnTo>
                    <a:pt x="507835" y="71839"/>
                  </a:lnTo>
                  <a:lnTo>
                    <a:pt x="556082" y="64636"/>
                  </a:lnTo>
                  <a:lnTo>
                    <a:pt x="605983" y="57768"/>
                  </a:lnTo>
                  <a:lnTo>
                    <a:pt x="657471" y="51245"/>
                  </a:lnTo>
                  <a:lnTo>
                    <a:pt x="710473" y="45073"/>
                  </a:lnTo>
                  <a:lnTo>
                    <a:pt x="764919" y="39261"/>
                  </a:lnTo>
                  <a:lnTo>
                    <a:pt x="820740" y="33816"/>
                  </a:lnTo>
                  <a:lnTo>
                    <a:pt x="877863" y="28747"/>
                  </a:lnTo>
                  <a:lnTo>
                    <a:pt x="936219" y="24061"/>
                  </a:lnTo>
                  <a:lnTo>
                    <a:pt x="995738" y="19766"/>
                  </a:lnTo>
                  <a:lnTo>
                    <a:pt x="1056348" y="15869"/>
                  </a:lnTo>
                  <a:lnTo>
                    <a:pt x="1117980" y="12380"/>
                  </a:lnTo>
                  <a:lnTo>
                    <a:pt x="1180562" y="9305"/>
                  </a:lnTo>
                  <a:lnTo>
                    <a:pt x="1244024" y="6652"/>
                  </a:lnTo>
                  <a:lnTo>
                    <a:pt x="1308296" y="4430"/>
                  </a:lnTo>
                  <a:lnTo>
                    <a:pt x="1373307" y="2645"/>
                  </a:lnTo>
                  <a:lnTo>
                    <a:pt x="1438987" y="1307"/>
                  </a:lnTo>
                  <a:lnTo>
                    <a:pt x="1505265" y="422"/>
                  </a:lnTo>
                  <a:lnTo>
                    <a:pt x="1572071" y="0"/>
                  </a:lnTo>
                  <a:lnTo>
                    <a:pt x="1639333" y="46"/>
                  </a:lnTo>
                  <a:lnTo>
                    <a:pt x="1706982" y="570"/>
                  </a:lnTo>
                  <a:lnTo>
                    <a:pt x="1774947" y="1579"/>
                  </a:lnTo>
                  <a:lnTo>
                    <a:pt x="1843158" y="3081"/>
                  </a:lnTo>
                  <a:lnTo>
                    <a:pt x="1911544" y="5084"/>
                  </a:lnTo>
                  <a:lnTo>
                    <a:pt x="1989505" y="7986"/>
                  </a:lnTo>
                  <a:lnTo>
                    <a:pt x="2065723" y="11487"/>
                  </a:lnTo>
                  <a:lnTo>
                    <a:pt x="2140125" y="15567"/>
                  </a:lnTo>
                  <a:lnTo>
                    <a:pt x="2212639" y="20209"/>
                  </a:lnTo>
                  <a:lnTo>
                    <a:pt x="2283193" y="25395"/>
                  </a:lnTo>
                  <a:lnTo>
                    <a:pt x="2351714" y="31107"/>
                  </a:lnTo>
                  <a:lnTo>
                    <a:pt x="2418132" y="37327"/>
                  </a:lnTo>
                  <a:lnTo>
                    <a:pt x="2482373" y="44037"/>
                  </a:lnTo>
                  <a:lnTo>
                    <a:pt x="2544366" y="51219"/>
                  </a:lnTo>
                  <a:lnTo>
                    <a:pt x="2604039" y="58856"/>
                  </a:lnTo>
                  <a:lnTo>
                    <a:pt x="2661319" y="66928"/>
                  </a:lnTo>
                  <a:lnTo>
                    <a:pt x="2716134" y="75419"/>
                  </a:lnTo>
                  <a:lnTo>
                    <a:pt x="2768412" y="84310"/>
                  </a:lnTo>
                  <a:lnTo>
                    <a:pt x="2818082" y="93583"/>
                  </a:lnTo>
                  <a:lnTo>
                    <a:pt x="2865071" y="103220"/>
                  </a:lnTo>
                  <a:lnTo>
                    <a:pt x="2909306" y="113204"/>
                  </a:lnTo>
                  <a:lnTo>
                    <a:pt x="2950717" y="123516"/>
                  </a:lnTo>
                  <a:lnTo>
                    <a:pt x="2989230" y="134139"/>
                  </a:lnTo>
                  <a:lnTo>
                    <a:pt x="3057277" y="156244"/>
                  </a:lnTo>
                  <a:lnTo>
                    <a:pt x="3112870" y="179375"/>
                  </a:lnTo>
                  <a:lnTo>
                    <a:pt x="3155431" y="203388"/>
                  </a:lnTo>
                  <a:lnTo>
                    <a:pt x="3193580" y="240750"/>
                  </a:lnTo>
                  <a:lnTo>
                    <a:pt x="3201042" y="266341"/>
                  </a:lnTo>
                  <a:lnTo>
                    <a:pt x="3199165" y="279288"/>
                  </a:lnTo>
                  <a:lnTo>
                    <a:pt x="3170241" y="318520"/>
                  </a:lnTo>
                  <a:lnTo>
                    <a:pt x="3134429" y="342703"/>
                  </a:lnTo>
                  <a:lnTo>
                    <a:pt x="3085924" y="365945"/>
                  </a:lnTo>
                  <a:lnTo>
                    <a:pt x="3025376" y="388138"/>
                  </a:lnTo>
                  <a:lnTo>
                    <a:pt x="2953432" y="409174"/>
                  </a:lnTo>
                  <a:lnTo>
                    <a:pt x="2913390" y="419224"/>
                  </a:lnTo>
                  <a:lnTo>
                    <a:pt x="2870743" y="428945"/>
                  </a:lnTo>
                  <a:lnTo>
                    <a:pt x="2825571" y="438323"/>
                  </a:lnTo>
                  <a:lnTo>
                    <a:pt x="2777956" y="447345"/>
                  </a:lnTo>
                  <a:lnTo>
                    <a:pt x="2727979" y="455997"/>
                  </a:lnTo>
                  <a:lnTo>
                    <a:pt x="2675721" y="464266"/>
                  </a:lnTo>
                  <a:lnTo>
                    <a:pt x="2621263" y="472138"/>
                  </a:lnTo>
                  <a:lnTo>
                    <a:pt x="2564687" y="479600"/>
                  </a:lnTo>
                  <a:lnTo>
                    <a:pt x="2506073" y="486638"/>
                  </a:lnTo>
                  <a:lnTo>
                    <a:pt x="2445503" y="493240"/>
                  </a:lnTo>
                  <a:lnTo>
                    <a:pt x="2383057" y="499390"/>
                  </a:lnTo>
                  <a:lnTo>
                    <a:pt x="2318817" y="505077"/>
                  </a:lnTo>
                  <a:lnTo>
                    <a:pt x="2252864" y="510287"/>
                  </a:lnTo>
                  <a:lnTo>
                    <a:pt x="2185279" y="515006"/>
                  </a:lnTo>
                  <a:lnTo>
                    <a:pt x="2116143" y="519221"/>
                  </a:lnTo>
                  <a:lnTo>
                    <a:pt x="2045537" y="522918"/>
                  </a:lnTo>
                  <a:lnTo>
                    <a:pt x="1973543" y="526083"/>
                  </a:lnTo>
                  <a:lnTo>
                    <a:pt x="1900241" y="528705"/>
                  </a:lnTo>
                  <a:lnTo>
                    <a:pt x="1568263" y="1766066"/>
                  </a:lnTo>
                  <a:close/>
                </a:path>
              </a:pathLst>
            </a:custGeom>
            <a:ln w="9524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21"/>
          <p:cNvSpPr txBox="1"/>
          <p:nvPr/>
        </p:nvSpPr>
        <p:spPr>
          <a:xfrm>
            <a:off x="3632778" y="2152112"/>
            <a:ext cx="22777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Analog voltage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output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3251F8C-5665-48EC-AAA3-BBA306EE2C15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mtClean="0"/>
              <a:t>|   </a:t>
            </a:r>
            <a:fld id="{00000000-1234-1234-1234-123412341234}" type="slidenum">
              <a:rPr lang="en-US" smtClean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5860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756" y="951722"/>
            <a:ext cx="11180236" cy="622222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buClr>
                <a:srgbClr val="1F3864"/>
              </a:buClr>
              <a:buSzPts val="4400"/>
            </a:pPr>
            <a:r>
              <a:rPr dirty="0">
                <a:solidFill>
                  <a:srgbClr val="1F3864"/>
                </a:solidFill>
              </a:rPr>
              <a:t>Smart Sensor with Digital Output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1" y="3709736"/>
            <a:ext cx="1508125" cy="661078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6045" rIns="0" bIns="0" rtlCol="0">
            <a:spAutoFit/>
          </a:bodyPr>
          <a:lstStyle/>
          <a:p>
            <a:pPr marL="396875">
              <a:spcBef>
                <a:spcPts val="835"/>
              </a:spcBef>
            </a:pPr>
            <a:r>
              <a:rPr sz="1800" spc="-5" dirty="0">
                <a:latin typeface="Verdana"/>
                <a:cs typeface="Verdana"/>
              </a:rPr>
              <a:t>Micro-</a:t>
            </a:r>
            <a:endParaRPr sz="1800">
              <a:latin typeface="Verdana"/>
              <a:cs typeface="Verdana"/>
            </a:endParaRPr>
          </a:p>
          <a:p>
            <a:pPr marL="337185"/>
            <a:r>
              <a:rPr sz="1800" spc="-5" dirty="0">
                <a:latin typeface="Verdana"/>
                <a:cs typeface="Verdana"/>
              </a:rPr>
              <a:t>sensor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0" y="3709736"/>
            <a:ext cx="990600" cy="762000"/>
          </a:xfrm>
          <a:custGeom>
            <a:avLst/>
            <a:gdLst/>
            <a:ahLst/>
            <a:cxnLst/>
            <a:rect l="l" t="t" r="r" b="b"/>
            <a:pathLst>
              <a:path w="990600" h="762000">
                <a:moveTo>
                  <a:pt x="0" y="762000"/>
                </a:moveTo>
                <a:lnTo>
                  <a:pt x="990600" y="762000"/>
                </a:lnTo>
                <a:lnTo>
                  <a:pt x="990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46498" y="3940240"/>
            <a:ext cx="6426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A</a:t>
            </a:r>
            <a:r>
              <a:rPr sz="1800" dirty="0">
                <a:latin typeface="Verdana"/>
                <a:cs typeface="Verdana"/>
              </a:rPr>
              <a:t>SPU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07176" y="3700211"/>
            <a:ext cx="990600" cy="762000"/>
          </a:xfrm>
          <a:custGeom>
            <a:avLst/>
            <a:gdLst/>
            <a:ahLst/>
            <a:cxnLst/>
            <a:rect l="l" t="t" r="r" b="b"/>
            <a:pathLst>
              <a:path w="990600" h="762000">
                <a:moveTo>
                  <a:pt x="0" y="762000"/>
                </a:moveTo>
                <a:lnTo>
                  <a:pt x="990600" y="762000"/>
                </a:lnTo>
                <a:lnTo>
                  <a:pt x="9906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42635" y="3930462"/>
            <a:ext cx="520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5" dirty="0">
                <a:latin typeface="Verdana"/>
                <a:cs typeface="Verdana"/>
              </a:rPr>
              <a:t>ADC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1083" y="3894521"/>
            <a:ext cx="2440685" cy="8079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Digital </a:t>
            </a:r>
            <a:r>
              <a:rPr sz="1800" spc="-5" dirty="0">
                <a:latin typeface="Verdana"/>
                <a:cs typeface="Verdana"/>
              </a:rPr>
              <a:t>output</a:t>
            </a:r>
            <a:r>
              <a:rPr lang="en-US" sz="1800" spc="-5" dirty="0">
                <a:latin typeface="Verdana"/>
                <a:cs typeface="Verdana"/>
              </a:rPr>
              <a:t> </a:t>
            </a:r>
          </a:p>
          <a:p>
            <a:pPr marL="12700" marR="5080">
              <a:spcBef>
                <a:spcPts val="100"/>
              </a:spcBef>
            </a:pPr>
            <a:r>
              <a:rPr lang="en-US" spc="-5" dirty="0">
                <a:latin typeface="Verdana"/>
                <a:cs typeface="Verdana"/>
              </a:rPr>
              <a:t>0 – 5V to</a:t>
            </a:r>
            <a:endParaRPr lang="en-US" sz="1800" spc="-5" dirty="0">
              <a:latin typeface="Verdana"/>
              <a:cs typeface="Verdana"/>
            </a:endParaRPr>
          </a:p>
          <a:p>
            <a:pPr marL="12700" marR="5080">
              <a:spcBef>
                <a:spcPts val="100"/>
              </a:spcBef>
            </a:pPr>
            <a:r>
              <a:rPr lang="en-US" sz="1800" spc="-5" dirty="0">
                <a:latin typeface="Verdana"/>
                <a:cs typeface="Verdana"/>
              </a:rPr>
              <a:t>0-1023 values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157413" y="4976561"/>
            <a:ext cx="4972685" cy="95250"/>
            <a:chOff x="633412" y="4238625"/>
            <a:chExt cx="4972685" cy="95250"/>
          </a:xfrm>
        </p:grpSpPr>
        <p:sp>
          <p:nvSpPr>
            <p:cNvPr id="14" name="object 14"/>
            <p:cNvSpPr/>
            <p:nvPr/>
          </p:nvSpPr>
          <p:spPr>
            <a:xfrm>
              <a:off x="642937" y="4329048"/>
              <a:ext cx="4953635" cy="0"/>
            </a:xfrm>
            <a:custGeom>
              <a:avLst/>
              <a:gdLst/>
              <a:ahLst/>
              <a:cxnLst/>
              <a:rect l="l" t="t" r="r" b="b"/>
              <a:pathLst>
                <a:path w="4953635">
                  <a:moveTo>
                    <a:pt x="0" y="0"/>
                  </a:moveTo>
                  <a:lnTo>
                    <a:pt x="495306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42937" y="4238625"/>
              <a:ext cx="4953635" cy="90805"/>
            </a:xfrm>
            <a:custGeom>
              <a:avLst/>
              <a:gdLst/>
              <a:ahLst/>
              <a:cxnLst/>
              <a:rect l="l" t="t" r="r" b="b"/>
              <a:pathLst>
                <a:path w="4953635" h="90804">
                  <a:moveTo>
                    <a:pt x="0" y="0"/>
                  </a:moveTo>
                  <a:lnTo>
                    <a:pt x="0" y="90424"/>
                  </a:lnTo>
                </a:path>
                <a:path w="4953635" h="90804">
                  <a:moveTo>
                    <a:pt x="4953063" y="0"/>
                  </a:moveTo>
                  <a:lnTo>
                    <a:pt x="4953063" y="9042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022725" y="2333347"/>
            <a:ext cx="3755390" cy="1842135"/>
            <a:chOff x="2498725" y="1595410"/>
            <a:chExt cx="3755390" cy="1842135"/>
          </a:xfrm>
        </p:grpSpPr>
        <p:sp>
          <p:nvSpPr>
            <p:cNvPr id="17" name="object 17"/>
            <p:cNvSpPr/>
            <p:nvPr/>
          </p:nvSpPr>
          <p:spPr>
            <a:xfrm>
              <a:off x="2498725" y="3271011"/>
              <a:ext cx="2160905" cy="157480"/>
            </a:xfrm>
            <a:custGeom>
              <a:avLst/>
              <a:gdLst/>
              <a:ahLst/>
              <a:cxnLst/>
              <a:rect l="l" t="t" r="r" b="b"/>
              <a:pathLst>
                <a:path w="2160904" h="157479">
                  <a:moveTo>
                    <a:pt x="549275" y="83312"/>
                  </a:moveTo>
                  <a:lnTo>
                    <a:pt x="420243" y="11176"/>
                  </a:lnTo>
                  <a:lnTo>
                    <a:pt x="415544" y="8636"/>
                  </a:lnTo>
                  <a:lnTo>
                    <a:pt x="409829" y="10287"/>
                  </a:lnTo>
                  <a:lnTo>
                    <a:pt x="407162" y="14859"/>
                  </a:lnTo>
                  <a:lnTo>
                    <a:pt x="404622" y="19431"/>
                  </a:lnTo>
                  <a:lnTo>
                    <a:pt x="406273" y="25273"/>
                  </a:lnTo>
                  <a:lnTo>
                    <a:pt x="492975" y="73685"/>
                  </a:lnTo>
                  <a:lnTo>
                    <a:pt x="0" y="72263"/>
                  </a:lnTo>
                  <a:lnTo>
                    <a:pt x="0" y="91313"/>
                  </a:lnTo>
                  <a:lnTo>
                    <a:pt x="492810" y="92735"/>
                  </a:lnTo>
                  <a:lnTo>
                    <a:pt x="406019" y="140716"/>
                  </a:lnTo>
                  <a:lnTo>
                    <a:pt x="404241" y="146431"/>
                  </a:lnTo>
                  <a:lnTo>
                    <a:pt x="406781" y="151130"/>
                  </a:lnTo>
                  <a:lnTo>
                    <a:pt x="409321" y="155702"/>
                  </a:lnTo>
                  <a:lnTo>
                    <a:pt x="415163" y="157353"/>
                  </a:lnTo>
                  <a:lnTo>
                    <a:pt x="532015" y="92837"/>
                  </a:lnTo>
                  <a:lnTo>
                    <a:pt x="549275" y="83312"/>
                  </a:lnTo>
                  <a:close/>
                </a:path>
                <a:path w="2160904" h="157479">
                  <a:moveTo>
                    <a:pt x="2160524" y="72263"/>
                  </a:moveTo>
                  <a:lnTo>
                    <a:pt x="2143226" y="62992"/>
                  </a:lnTo>
                  <a:lnTo>
                    <a:pt x="2030222" y="2413"/>
                  </a:lnTo>
                  <a:lnTo>
                    <a:pt x="2025523" y="0"/>
                  </a:lnTo>
                  <a:lnTo>
                    <a:pt x="2019808" y="1651"/>
                  </a:lnTo>
                  <a:lnTo>
                    <a:pt x="2017268" y="6350"/>
                  </a:lnTo>
                  <a:lnTo>
                    <a:pt x="2014855" y="10922"/>
                  </a:lnTo>
                  <a:lnTo>
                    <a:pt x="2016633" y="16764"/>
                  </a:lnTo>
                  <a:lnTo>
                    <a:pt x="2104110" y="63563"/>
                  </a:lnTo>
                  <a:lnTo>
                    <a:pt x="1539748" y="72263"/>
                  </a:lnTo>
                  <a:lnTo>
                    <a:pt x="1540002" y="91313"/>
                  </a:lnTo>
                  <a:lnTo>
                    <a:pt x="2104390" y="82613"/>
                  </a:lnTo>
                  <a:lnTo>
                    <a:pt x="2018284" y="132207"/>
                  </a:lnTo>
                  <a:lnTo>
                    <a:pt x="2016760" y="138049"/>
                  </a:lnTo>
                  <a:lnTo>
                    <a:pt x="2019427" y="142621"/>
                  </a:lnTo>
                  <a:lnTo>
                    <a:pt x="2021967" y="147066"/>
                  </a:lnTo>
                  <a:lnTo>
                    <a:pt x="2027809" y="148717"/>
                  </a:lnTo>
                  <a:lnTo>
                    <a:pt x="2160524" y="722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92826" y="32004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342900" y="0"/>
                  </a:moveTo>
                  <a:lnTo>
                    <a:pt x="342900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592826" y="320040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0" y="57150"/>
                  </a:moveTo>
                  <a:lnTo>
                    <a:pt x="342900" y="57150"/>
                  </a:lnTo>
                  <a:lnTo>
                    <a:pt x="342900" y="0"/>
                  </a:lnTo>
                  <a:lnTo>
                    <a:pt x="457200" y="114300"/>
                  </a:lnTo>
                  <a:lnTo>
                    <a:pt x="342900" y="228600"/>
                  </a:lnTo>
                  <a:lnTo>
                    <a:pt x="34290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1587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590428" y="1600173"/>
              <a:ext cx="3658870" cy="1709420"/>
            </a:xfrm>
            <a:custGeom>
              <a:avLst/>
              <a:gdLst/>
              <a:ahLst/>
              <a:cxnLst/>
              <a:rect l="l" t="t" r="r" b="b"/>
              <a:pathLst>
                <a:path w="3658870" h="1709420">
                  <a:moveTo>
                    <a:pt x="1810119" y="0"/>
                  </a:moveTo>
                  <a:lnTo>
                    <a:pt x="1678701" y="1121"/>
                  </a:lnTo>
                  <a:lnTo>
                    <a:pt x="1549159" y="3992"/>
                  </a:lnTo>
                  <a:lnTo>
                    <a:pt x="1421914" y="8563"/>
                  </a:lnTo>
                  <a:lnTo>
                    <a:pt x="1297385" y="14783"/>
                  </a:lnTo>
                  <a:lnTo>
                    <a:pt x="1175992" y="22600"/>
                  </a:lnTo>
                  <a:lnTo>
                    <a:pt x="1058154" y="31964"/>
                  </a:lnTo>
                  <a:lnTo>
                    <a:pt x="944292" y="42824"/>
                  </a:lnTo>
                  <a:lnTo>
                    <a:pt x="834824" y="55128"/>
                  </a:lnTo>
                  <a:lnTo>
                    <a:pt x="730171" y="68827"/>
                  </a:lnTo>
                  <a:lnTo>
                    <a:pt x="679781" y="76183"/>
                  </a:lnTo>
                  <a:lnTo>
                    <a:pt x="630752" y="83869"/>
                  </a:lnTo>
                  <a:lnTo>
                    <a:pt x="583136" y="91878"/>
                  </a:lnTo>
                  <a:lnTo>
                    <a:pt x="536987" y="100204"/>
                  </a:lnTo>
                  <a:lnTo>
                    <a:pt x="492355" y="108840"/>
                  </a:lnTo>
                  <a:lnTo>
                    <a:pt x="449295" y="117780"/>
                  </a:lnTo>
                  <a:lnTo>
                    <a:pt x="407858" y="127017"/>
                  </a:lnTo>
                  <a:lnTo>
                    <a:pt x="368096" y="136546"/>
                  </a:lnTo>
                  <a:lnTo>
                    <a:pt x="330063" y="146360"/>
                  </a:lnTo>
                  <a:lnTo>
                    <a:pt x="259390" y="166817"/>
                  </a:lnTo>
                  <a:lnTo>
                    <a:pt x="196260" y="188337"/>
                  </a:lnTo>
                  <a:lnTo>
                    <a:pt x="141091" y="210870"/>
                  </a:lnTo>
                  <a:lnTo>
                    <a:pt x="94304" y="234365"/>
                  </a:lnTo>
                  <a:lnTo>
                    <a:pt x="56318" y="258770"/>
                  </a:lnTo>
                  <a:lnTo>
                    <a:pt x="25831" y="285908"/>
                  </a:lnTo>
                  <a:lnTo>
                    <a:pt x="1482" y="329511"/>
                  </a:lnTo>
                  <a:lnTo>
                    <a:pt x="0" y="343920"/>
                  </a:lnTo>
                  <a:lnTo>
                    <a:pt x="1746" y="358239"/>
                  </a:lnTo>
                  <a:lnTo>
                    <a:pt x="25834" y="400514"/>
                  </a:lnTo>
                  <a:lnTo>
                    <a:pt x="57070" y="427974"/>
                  </a:lnTo>
                  <a:lnTo>
                    <a:pt x="99956" y="454713"/>
                  </a:lnTo>
                  <a:lnTo>
                    <a:pt x="154071" y="480608"/>
                  </a:lnTo>
                  <a:lnTo>
                    <a:pt x="218992" y="505537"/>
                  </a:lnTo>
                  <a:lnTo>
                    <a:pt x="255372" y="517601"/>
                  </a:lnTo>
                  <a:lnTo>
                    <a:pt x="294296" y="529378"/>
                  </a:lnTo>
                  <a:lnTo>
                    <a:pt x="335711" y="540852"/>
                  </a:lnTo>
                  <a:lnTo>
                    <a:pt x="379563" y="552008"/>
                  </a:lnTo>
                  <a:lnTo>
                    <a:pt x="425800" y="562831"/>
                  </a:lnTo>
                  <a:lnTo>
                    <a:pt x="474369" y="573306"/>
                  </a:lnTo>
                  <a:lnTo>
                    <a:pt x="525218" y="583417"/>
                  </a:lnTo>
                  <a:lnTo>
                    <a:pt x="578293" y="593148"/>
                  </a:lnTo>
                  <a:lnTo>
                    <a:pt x="633543" y="602486"/>
                  </a:lnTo>
                  <a:lnTo>
                    <a:pt x="690914" y="611413"/>
                  </a:lnTo>
                  <a:lnTo>
                    <a:pt x="750353" y="619916"/>
                  </a:lnTo>
                  <a:lnTo>
                    <a:pt x="811807" y="627978"/>
                  </a:lnTo>
                  <a:lnTo>
                    <a:pt x="875225" y="635585"/>
                  </a:lnTo>
                  <a:lnTo>
                    <a:pt x="940553" y="642721"/>
                  </a:lnTo>
                  <a:lnTo>
                    <a:pt x="1007738" y="649371"/>
                  </a:lnTo>
                  <a:lnTo>
                    <a:pt x="1147470" y="661151"/>
                  </a:lnTo>
                  <a:lnTo>
                    <a:pt x="1293998" y="670804"/>
                  </a:lnTo>
                  <a:lnTo>
                    <a:pt x="1446901" y="678206"/>
                  </a:lnTo>
                  <a:lnTo>
                    <a:pt x="1693916" y="1709065"/>
                  </a:lnTo>
                  <a:lnTo>
                    <a:pt x="2144766" y="680619"/>
                  </a:lnTo>
                  <a:lnTo>
                    <a:pt x="2289525" y="674750"/>
                  </a:lnTo>
                  <a:lnTo>
                    <a:pt x="2429752" y="666801"/>
                  </a:lnTo>
                  <a:lnTo>
                    <a:pt x="2564956" y="656862"/>
                  </a:lnTo>
                  <a:lnTo>
                    <a:pt x="2694649" y="645021"/>
                  </a:lnTo>
                  <a:lnTo>
                    <a:pt x="2818341" y="631367"/>
                  </a:lnTo>
                  <a:lnTo>
                    <a:pt x="2877784" y="623887"/>
                  </a:lnTo>
                  <a:lnTo>
                    <a:pt x="2935543" y="615987"/>
                  </a:lnTo>
                  <a:lnTo>
                    <a:pt x="2991557" y="607678"/>
                  </a:lnTo>
                  <a:lnTo>
                    <a:pt x="3045766" y="598972"/>
                  </a:lnTo>
                  <a:lnTo>
                    <a:pt x="3098107" y="589878"/>
                  </a:lnTo>
                  <a:lnTo>
                    <a:pt x="3148520" y="580408"/>
                  </a:lnTo>
                  <a:lnTo>
                    <a:pt x="3196944" y="570573"/>
                  </a:lnTo>
                  <a:lnTo>
                    <a:pt x="3243317" y="560385"/>
                  </a:lnTo>
                  <a:lnTo>
                    <a:pt x="3287578" y="549854"/>
                  </a:lnTo>
                  <a:lnTo>
                    <a:pt x="3329666" y="538991"/>
                  </a:lnTo>
                  <a:lnTo>
                    <a:pt x="3369520" y="527807"/>
                  </a:lnTo>
                  <a:lnTo>
                    <a:pt x="3407080" y="516314"/>
                  </a:lnTo>
                  <a:lnTo>
                    <a:pt x="3475067" y="492444"/>
                  </a:lnTo>
                  <a:lnTo>
                    <a:pt x="3533140" y="467468"/>
                  </a:lnTo>
                  <a:lnTo>
                    <a:pt x="3580859" y="441441"/>
                  </a:lnTo>
                  <a:lnTo>
                    <a:pt x="3617585" y="414554"/>
                  </a:lnTo>
                  <a:lnTo>
                    <a:pt x="3643997" y="385362"/>
                  </a:lnTo>
                  <a:lnTo>
                    <a:pt x="3658342" y="341933"/>
                  </a:lnTo>
                  <a:lnTo>
                    <a:pt x="3656595" y="327613"/>
                  </a:lnTo>
                  <a:lnTo>
                    <a:pt x="3632508" y="285338"/>
                  </a:lnTo>
                  <a:lnTo>
                    <a:pt x="3601271" y="257878"/>
                  </a:lnTo>
                  <a:lnTo>
                    <a:pt x="3558385" y="231139"/>
                  </a:lnTo>
                  <a:lnTo>
                    <a:pt x="3504270" y="205244"/>
                  </a:lnTo>
                  <a:lnTo>
                    <a:pt x="3439350" y="180315"/>
                  </a:lnTo>
                  <a:lnTo>
                    <a:pt x="3402969" y="168251"/>
                  </a:lnTo>
                  <a:lnTo>
                    <a:pt x="3363966" y="156452"/>
                  </a:lnTo>
                  <a:lnTo>
                    <a:pt x="3322631" y="145000"/>
                  </a:lnTo>
                  <a:lnTo>
                    <a:pt x="3278778" y="133844"/>
                  </a:lnTo>
                  <a:lnTo>
                    <a:pt x="3232541" y="123021"/>
                  </a:lnTo>
                  <a:lnTo>
                    <a:pt x="3183972" y="112546"/>
                  </a:lnTo>
                  <a:lnTo>
                    <a:pt x="3133123" y="102436"/>
                  </a:lnTo>
                  <a:lnTo>
                    <a:pt x="3080048" y="92704"/>
                  </a:lnTo>
                  <a:lnTo>
                    <a:pt x="3024798" y="83367"/>
                  </a:lnTo>
                  <a:lnTo>
                    <a:pt x="2967428" y="74439"/>
                  </a:lnTo>
                  <a:lnTo>
                    <a:pt x="2907989" y="65937"/>
                  </a:lnTo>
                  <a:lnTo>
                    <a:pt x="2846534" y="57874"/>
                  </a:lnTo>
                  <a:lnTo>
                    <a:pt x="2783116" y="50267"/>
                  </a:lnTo>
                  <a:lnTo>
                    <a:pt x="2717788" y="43131"/>
                  </a:lnTo>
                  <a:lnTo>
                    <a:pt x="2581613" y="30333"/>
                  </a:lnTo>
                  <a:lnTo>
                    <a:pt x="2438431" y="19601"/>
                  </a:lnTo>
                  <a:lnTo>
                    <a:pt x="2288662" y="11058"/>
                  </a:lnTo>
                  <a:lnTo>
                    <a:pt x="2144124" y="5188"/>
                  </a:lnTo>
                  <a:lnTo>
                    <a:pt x="2009849" y="1711"/>
                  </a:lnTo>
                  <a:lnTo>
                    <a:pt x="1876401" y="111"/>
                  </a:lnTo>
                  <a:lnTo>
                    <a:pt x="18101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590428" y="1600173"/>
              <a:ext cx="3658870" cy="1709420"/>
            </a:xfrm>
            <a:custGeom>
              <a:avLst/>
              <a:gdLst/>
              <a:ahLst/>
              <a:cxnLst/>
              <a:rect l="l" t="t" r="r" b="b"/>
              <a:pathLst>
                <a:path w="3658870" h="1709420">
                  <a:moveTo>
                    <a:pt x="1693916" y="1709065"/>
                  </a:moveTo>
                  <a:lnTo>
                    <a:pt x="1446901" y="678206"/>
                  </a:lnTo>
                  <a:lnTo>
                    <a:pt x="1369679" y="674794"/>
                  </a:lnTo>
                  <a:lnTo>
                    <a:pt x="1293998" y="670804"/>
                  </a:lnTo>
                  <a:lnTo>
                    <a:pt x="1219911" y="666251"/>
                  </a:lnTo>
                  <a:lnTo>
                    <a:pt x="1147470" y="661151"/>
                  </a:lnTo>
                  <a:lnTo>
                    <a:pt x="1076728" y="655520"/>
                  </a:lnTo>
                  <a:lnTo>
                    <a:pt x="1007738" y="649371"/>
                  </a:lnTo>
                  <a:lnTo>
                    <a:pt x="940553" y="642721"/>
                  </a:lnTo>
                  <a:lnTo>
                    <a:pt x="875225" y="635585"/>
                  </a:lnTo>
                  <a:lnTo>
                    <a:pt x="811807" y="627978"/>
                  </a:lnTo>
                  <a:lnTo>
                    <a:pt x="750353" y="619916"/>
                  </a:lnTo>
                  <a:lnTo>
                    <a:pt x="690914" y="611413"/>
                  </a:lnTo>
                  <a:lnTo>
                    <a:pt x="633543" y="602486"/>
                  </a:lnTo>
                  <a:lnTo>
                    <a:pt x="578293" y="593148"/>
                  </a:lnTo>
                  <a:lnTo>
                    <a:pt x="525218" y="583417"/>
                  </a:lnTo>
                  <a:lnTo>
                    <a:pt x="474369" y="573306"/>
                  </a:lnTo>
                  <a:lnTo>
                    <a:pt x="425800" y="562831"/>
                  </a:lnTo>
                  <a:lnTo>
                    <a:pt x="379563" y="552008"/>
                  </a:lnTo>
                  <a:lnTo>
                    <a:pt x="335711" y="540852"/>
                  </a:lnTo>
                  <a:lnTo>
                    <a:pt x="294296" y="529378"/>
                  </a:lnTo>
                  <a:lnTo>
                    <a:pt x="255372" y="517601"/>
                  </a:lnTo>
                  <a:lnTo>
                    <a:pt x="218992" y="505537"/>
                  </a:lnTo>
                  <a:lnTo>
                    <a:pt x="154071" y="480608"/>
                  </a:lnTo>
                  <a:lnTo>
                    <a:pt x="99956" y="454713"/>
                  </a:lnTo>
                  <a:lnTo>
                    <a:pt x="57070" y="427974"/>
                  </a:lnTo>
                  <a:lnTo>
                    <a:pt x="25834" y="400514"/>
                  </a:lnTo>
                  <a:lnTo>
                    <a:pt x="1746" y="358239"/>
                  </a:lnTo>
                  <a:lnTo>
                    <a:pt x="0" y="343920"/>
                  </a:lnTo>
                  <a:lnTo>
                    <a:pt x="1482" y="329511"/>
                  </a:lnTo>
                  <a:lnTo>
                    <a:pt x="25831" y="285908"/>
                  </a:lnTo>
                  <a:lnTo>
                    <a:pt x="56318" y="258770"/>
                  </a:lnTo>
                  <a:lnTo>
                    <a:pt x="94304" y="234365"/>
                  </a:lnTo>
                  <a:lnTo>
                    <a:pt x="141091" y="210870"/>
                  </a:lnTo>
                  <a:lnTo>
                    <a:pt x="196260" y="188337"/>
                  </a:lnTo>
                  <a:lnTo>
                    <a:pt x="259390" y="166817"/>
                  </a:lnTo>
                  <a:lnTo>
                    <a:pt x="330063" y="146360"/>
                  </a:lnTo>
                  <a:lnTo>
                    <a:pt x="368096" y="136546"/>
                  </a:lnTo>
                  <a:lnTo>
                    <a:pt x="407858" y="127017"/>
                  </a:lnTo>
                  <a:lnTo>
                    <a:pt x="449295" y="117780"/>
                  </a:lnTo>
                  <a:lnTo>
                    <a:pt x="492355" y="108840"/>
                  </a:lnTo>
                  <a:lnTo>
                    <a:pt x="536987" y="100204"/>
                  </a:lnTo>
                  <a:lnTo>
                    <a:pt x="583136" y="91878"/>
                  </a:lnTo>
                  <a:lnTo>
                    <a:pt x="630752" y="83869"/>
                  </a:lnTo>
                  <a:lnTo>
                    <a:pt x="679781" y="76183"/>
                  </a:lnTo>
                  <a:lnTo>
                    <a:pt x="730171" y="68827"/>
                  </a:lnTo>
                  <a:lnTo>
                    <a:pt x="781870" y="61807"/>
                  </a:lnTo>
                  <a:lnTo>
                    <a:pt x="834824" y="55128"/>
                  </a:lnTo>
                  <a:lnTo>
                    <a:pt x="888982" y="48798"/>
                  </a:lnTo>
                  <a:lnTo>
                    <a:pt x="944292" y="42824"/>
                  </a:lnTo>
                  <a:lnTo>
                    <a:pt x="1000700" y="37210"/>
                  </a:lnTo>
                  <a:lnTo>
                    <a:pt x="1058154" y="31964"/>
                  </a:lnTo>
                  <a:lnTo>
                    <a:pt x="1116602" y="27092"/>
                  </a:lnTo>
                  <a:lnTo>
                    <a:pt x="1175992" y="22600"/>
                  </a:lnTo>
                  <a:lnTo>
                    <a:pt x="1236270" y="18495"/>
                  </a:lnTo>
                  <a:lnTo>
                    <a:pt x="1297385" y="14783"/>
                  </a:lnTo>
                  <a:lnTo>
                    <a:pt x="1359283" y="11470"/>
                  </a:lnTo>
                  <a:lnTo>
                    <a:pt x="1421914" y="8563"/>
                  </a:lnTo>
                  <a:lnTo>
                    <a:pt x="1485223" y="6069"/>
                  </a:lnTo>
                  <a:lnTo>
                    <a:pt x="1549159" y="3992"/>
                  </a:lnTo>
                  <a:lnTo>
                    <a:pt x="1613669" y="2341"/>
                  </a:lnTo>
                  <a:lnTo>
                    <a:pt x="1678701" y="1121"/>
                  </a:lnTo>
                  <a:lnTo>
                    <a:pt x="1744201" y="338"/>
                  </a:lnTo>
                  <a:lnTo>
                    <a:pt x="1810119" y="0"/>
                  </a:lnTo>
                  <a:lnTo>
                    <a:pt x="1876401" y="111"/>
                  </a:lnTo>
                  <a:lnTo>
                    <a:pt x="1942995" y="679"/>
                  </a:lnTo>
                  <a:lnTo>
                    <a:pt x="2009849" y="1711"/>
                  </a:lnTo>
                  <a:lnTo>
                    <a:pt x="2076909" y="3211"/>
                  </a:lnTo>
                  <a:lnTo>
                    <a:pt x="2144124" y="5188"/>
                  </a:lnTo>
                  <a:lnTo>
                    <a:pt x="2211441" y="7646"/>
                  </a:lnTo>
                  <a:lnTo>
                    <a:pt x="2288662" y="11058"/>
                  </a:lnTo>
                  <a:lnTo>
                    <a:pt x="2364343" y="15048"/>
                  </a:lnTo>
                  <a:lnTo>
                    <a:pt x="2438431" y="19601"/>
                  </a:lnTo>
                  <a:lnTo>
                    <a:pt x="2510872" y="24701"/>
                  </a:lnTo>
                  <a:lnTo>
                    <a:pt x="2581613" y="30333"/>
                  </a:lnTo>
                  <a:lnTo>
                    <a:pt x="2650603" y="36481"/>
                  </a:lnTo>
                  <a:lnTo>
                    <a:pt x="2717788" y="43131"/>
                  </a:lnTo>
                  <a:lnTo>
                    <a:pt x="2783116" y="50267"/>
                  </a:lnTo>
                  <a:lnTo>
                    <a:pt x="2846534" y="57874"/>
                  </a:lnTo>
                  <a:lnTo>
                    <a:pt x="2907989" y="65937"/>
                  </a:lnTo>
                  <a:lnTo>
                    <a:pt x="2967428" y="74439"/>
                  </a:lnTo>
                  <a:lnTo>
                    <a:pt x="3024798" y="83367"/>
                  </a:lnTo>
                  <a:lnTo>
                    <a:pt x="3080048" y="92704"/>
                  </a:lnTo>
                  <a:lnTo>
                    <a:pt x="3133123" y="102436"/>
                  </a:lnTo>
                  <a:lnTo>
                    <a:pt x="3183972" y="112546"/>
                  </a:lnTo>
                  <a:lnTo>
                    <a:pt x="3232541" y="123021"/>
                  </a:lnTo>
                  <a:lnTo>
                    <a:pt x="3278778" y="133844"/>
                  </a:lnTo>
                  <a:lnTo>
                    <a:pt x="3322631" y="145000"/>
                  </a:lnTo>
                  <a:lnTo>
                    <a:pt x="3364045" y="156474"/>
                  </a:lnTo>
                  <a:lnTo>
                    <a:pt x="3402969" y="168251"/>
                  </a:lnTo>
                  <a:lnTo>
                    <a:pt x="3439350" y="180315"/>
                  </a:lnTo>
                  <a:lnTo>
                    <a:pt x="3504270" y="205244"/>
                  </a:lnTo>
                  <a:lnTo>
                    <a:pt x="3558385" y="231139"/>
                  </a:lnTo>
                  <a:lnTo>
                    <a:pt x="3601271" y="257878"/>
                  </a:lnTo>
                  <a:lnTo>
                    <a:pt x="3632508" y="285338"/>
                  </a:lnTo>
                  <a:lnTo>
                    <a:pt x="3656595" y="327613"/>
                  </a:lnTo>
                  <a:lnTo>
                    <a:pt x="3658342" y="341933"/>
                  </a:lnTo>
                  <a:lnTo>
                    <a:pt x="3656859" y="356341"/>
                  </a:lnTo>
                  <a:lnTo>
                    <a:pt x="3632511" y="399944"/>
                  </a:lnTo>
                  <a:lnTo>
                    <a:pt x="3600589" y="428125"/>
                  </a:lnTo>
                  <a:lnTo>
                    <a:pt x="3558306" y="454593"/>
                  </a:lnTo>
                  <a:lnTo>
                    <a:pt x="3505374" y="480089"/>
                  </a:lnTo>
                  <a:lnTo>
                    <a:pt x="3442282" y="504523"/>
                  </a:lnTo>
                  <a:lnTo>
                    <a:pt x="3369520" y="527807"/>
                  </a:lnTo>
                  <a:lnTo>
                    <a:pt x="3329666" y="538991"/>
                  </a:lnTo>
                  <a:lnTo>
                    <a:pt x="3287578" y="549854"/>
                  </a:lnTo>
                  <a:lnTo>
                    <a:pt x="3243317" y="560385"/>
                  </a:lnTo>
                  <a:lnTo>
                    <a:pt x="3196944" y="570573"/>
                  </a:lnTo>
                  <a:lnTo>
                    <a:pt x="3148520" y="580408"/>
                  </a:lnTo>
                  <a:lnTo>
                    <a:pt x="3098107" y="589878"/>
                  </a:lnTo>
                  <a:lnTo>
                    <a:pt x="3045766" y="598972"/>
                  </a:lnTo>
                  <a:lnTo>
                    <a:pt x="2991557" y="607678"/>
                  </a:lnTo>
                  <a:lnTo>
                    <a:pt x="2935543" y="615987"/>
                  </a:lnTo>
                  <a:lnTo>
                    <a:pt x="2877784" y="623887"/>
                  </a:lnTo>
                  <a:lnTo>
                    <a:pt x="2818341" y="631367"/>
                  </a:lnTo>
                  <a:lnTo>
                    <a:pt x="2757275" y="638415"/>
                  </a:lnTo>
                  <a:lnTo>
                    <a:pt x="2694649" y="645021"/>
                  </a:lnTo>
                  <a:lnTo>
                    <a:pt x="2630522" y="651174"/>
                  </a:lnTo>
                  <a:lnTo>
                    <a:pt x="2564956" y="656862"/>
                  </a:lnTo>
                  <a:lnTo>
                    <a:pt x="2498012" y="662075"/>
                  </a:lnTo>
                  <a:lnTo>
                    <a:pt x="2429752" y="666801"/>
                  </a:lnTo>
                  <a:lnTo>
                    <a:pt x="2360235" y="671030"/>
                  </a:lnTo>
                  <a:lnTo>
                    <a:pt x="2289525" y="674750"/>
                  </a:lnTo>
                  <a:lnTo>
                    <a:pt x="2217681" y="677950"/>
                  </a:lnTo>
                  <a:lnTo>
                    <a:pt x="2144766" y="680619"/>
                  </a:lnTo>
                  <a:lnTo>
                    <a:pt x="1693916" y="1709065"/>
                  </a:lnTo>
                  <a:close/>
                </a:path>
              </a:pathLst>
            </a:custGeom>
            <a:ln w="9525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960623" y="5113798"/>
            <a:ext cx="2289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Integrated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together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38294" y="2545222"/>
            <a:ext cx="227838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spc="-5" dirty="0">
                <a:latin typeface="Verdana"/>
                <a:cs typeface="Verdana"/>
              </a:rPr>
              <a:t>Analog voltage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output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Date Placeholder 8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BF409A-1987-4DC9-AE7A-643C424D1AE0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205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Smart Intelligent Sensor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93900" y="2821423"/>
            <a:ext cx="1295400" cy="660437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230504" marR="281940" indent="59055">
              <a:spcBef>
                <a:spcPts val="830"/>
              </a:spcBef>
            </a:pPr>
            <a:r>
              <a:rPr sz="1800" spc="-5" dirty="0">
                <a:latin typeface="Verdana"/>
                <a:cs typeface="Verdana"/>
              </a:rPr>
              <a:t>M</a:t>
            </a:r>
            <a:r>
              <a:rPr sz="1800" spc="5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cro-  </a:t>
            </a:r>
            <a:r>
              <a:rPr sz="1800" spc="-5" dirty="0">
                <a:latin typeface="Verdana"/>
                <a:cs typeface="Verdana"/>
              </a:rPr>
              <a:t>sensor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02050" y="2823074"/>
            <a:ext cx="838200" cy="521938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110489">
              <a:spcBef>
                <a:spcPts val="1910"/>
              </a:spcBef>
            </a:pPr>
            <a:r>
              <a:rPr sz="1800" spc="-5" dirty="0">
                <a:latin typeface="Verdana"/>
                <a:cs typeface="Verdana"/>
              </a:rPr>
              <a:t>ASPU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24425" y="2703948"/>
            <a:ext cx="1295400" cy="652743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spcBef>
                <a:spcPts val="50"/>
              </a:spcBef>
            </a:pPr>
            <a:endParaRPr sz="2400">
              <a:latin typeface="Times New Roman"/>
              <a:cs typeface="Times New Roman"/>
            </a:endParaRPr>
          </a:p>
          <a:p>
            <a:pPr marL="362585">
              <a:spcBef>
                <a:spcPts val="5"/>
              </a:spcBef>
            </a:pPr>
            <a:r>
              <a:rPr sz="1800" dirty="0">
                <a:latin typeface="Verdana"/>
                <a:cs typeface="Verdana"/>
              </a:rPr>
              <a:t>ADC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336661" y="3053578"/>
            <a:ext cx="20796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Verdana"/>
                <a:cs typeface="Verdana"/>
              </a:rPr>
              <a:t>Processed data  (serial </a:t>
            </a:r>
            <a:r>
              <a:rPr sz="1800" dirty="0">
                <a:solidFill>
                  <a:srgbClr val="3333CC"/>
                </a:solidFill>
                <a:latin typeface="Verdana"/>
                <a:cs typeface="Verdana"/>
              </a:rPr>
              <a:t>or</a:t>
            </a:r>
            <a:r>
              <a:rPr sz="1800" spc="-95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Verdana"/>
                <a:cs typeface="Verdana"/>
              </a:rPr>
              <a:t>parallel)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77000" y="2718299"/>
            <a:ext cx="1371600" cy="990600"/>
          </a:xfrm>
          <a:custGeom>
            <a:avLst/>
            <a:gdLst/>
            <a:ahLst/>
            <a:cxnLst/>
            <a:rect l="l" t="t" r="r" b="b"/>
            <a:pathLst>
              <a:path w="1371600" h="990600">
                <a:moveTo>
                  <a:pt x="0" y="990600"/>
                </a:moveTo>
                <a:lnTo>
                  <a:pt x="1371600" y="990600"/>
                </a:lnTo>
                <a:lnTo>
                  <a:pt x="1371600" y="0"/>
                </a:lnTo>
                <a:lnTo>
                  <a:pt x="0" y="0"/>
                </a:lnTo>
                <a:lnTo>
                  <a:pt x="0" y="990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500876" y="2788402"/>
            <a:ext cx="128143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9725"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Data  </a:t>
            </a:r>
            <a:r>
              <a:rPr sz="1800" spc="-5" dirty="0">
                <a:latin typeface="Verdana"/>
                <a:cs typeface="Verdana"/>
              </a:rPr>
              <a:t>processing  </a:t>
            </a:r>
            <a:r>
              <a:rPr sz="1800" dirty="0">
                <a:latin typeface="Verdana"/>
                <a:cs typeface="Verdana"/>
              </a:rPr>
              <a:t>unit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(DPU)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24587" y="3089838"/>
            <a:ext cx="2089150" cy="244475"/>
            <a:chOff x="4700587" y="2432113"/>
            <a:chExt cx="2089150" cy="244475"/>
          </a:xfrm>
        </p:grpSpPr>
        <p:sp>
          <p:nvSpPr>
            <p:cNvPr id="15" name="object 15"/>
            <p:cNvSpPr/>
            <p:nvPr/>
          </p:nvSpPr>
          <p:spPr>
            <a:xfrm>
              <a:off x="6324600" y="2440051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342900" y="0"/>
                  </a:moveTo>
                  <a:lnTo>
                    <a:pt x="342900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342900" y="171450"/>
                  </a:lnTo>
                  <a:lnTo>
                    <a:pt x="342900" y="228600"/>
                  </a:lnTo>
                  <a:lnTo>
                    <a:pt x="457200" y="114300"/>
                  </a:lnTo>
                  <a:lnTo>
                    <a:pt x="34290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324600" y="2440051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0" y="57150"/>
                  </a:moveTo>
                  <a:lnTo>
                    <a:pt x="342900" y="57150"/>
                  </a:lnTo>
                  <a:lnTo>
                    <a:pt x="342900" y="0"/>
                  </a:lnTo>
                  <a:lnTo>
                    <a:pt x="457200" y="114300"/>
                  </a:lnTo>
                  <a:lnTo>
                    <a:pt x="342900" y="228600"/>
                  </a:lnTo>
                  <a:lnTo>
                    <a:pt x="34290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1587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0587" y="2432113"/>
              <a:ext cx="244475" cy="244475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3289300" y="3129145"/>
            <a:ext cx="412750" cy="149225"/>
          </a:xfrm>
          <a:custGeom>
            <a:avLst/>
            <a:gdLst/>
            <a:ahLst/>
            <a:cxnLst/>
            <a:rect l="l" t="t" r="r" b="b"/>
            <a:pathLst>
              <a:path w="412750" h="149225">
                <a:moveTo>
                  <a:pt x="356417" y="84185"/>
                </a:moveTo>
                <a:lnTo>
                  <a:pt x="269367" y="132079"/>
                </a:lnTo>
                <a:lnTo>
                  <a:pt x="267716" y="137921"/>
                </a:lnTo>
                <a:lnTo>
                  <a:pt x="272795" y="147065"/>
                </a:lnTo>
                <a:lnTo>
                  <a:pt x="278511" y="148843"/>
                </a:lnTo>
                <a:lnTo>
                  <a:pt x="283210" y="146303"/>
                </a:lnTo>
                <a:lnTo>
                  <a:pt x="395693" y="84327"/>
                </a:lnTo>
                <a:lnTo>
                  <a:pt x="356417" y="84185"/>
                </a:lnTo>
                <a:close/>
              </a:path>
              <a:path w="412750" h="149225">
                <a:moveTo>
                  <a:pt x="373520" y="74781"/>
                </a:moveTo>
                <a:lnTo>
                  <a:pt x="356417" y="84185"/>
                </a:lnTo>
                <a:lnTo>
                  <a:pt x="393064" y="84327"/>
                </a:lnTo>
                <a:lnTo>
                  <a:pt x="393072" y="83184"/>
                </a:lnTo>
                <a:lnTo>
                  <a:pt x="388493" y="83184"/>
                </a:lnTo>
                <a:lnTo>
                  <a:pt x="373520" y="74781"/>
                </a:lnTo>
                <a:close/>
              </a:path>
              <a:path w="412750" h="149225">
                <a:moveTo>
                  <a:pt x="279145" y="0"/>
                </a:moveTo>
                <a:lnTo>
                  <a:pt x="273304" y="1650"/>
                </a:lnTo>
                <a:lnTo>
                  <a:pt x="268224" y="10794"/>
                </a:lnTo>
                <a:lnTo>
                  <a:pt x="269875" y="16637"/>
                </a:lnTo>
                <a:lnTo>
                  <a:pt x="356332" y="65135"/>
                </a:lnTo>
                <a:lnTo>
                  <a:pt x="393192" y="65277"/>
                </a:lnTo>
                <a:lnTo>
                  <a:pt x="393064" y="84327"/>
                </a:lnTo>
                <a:lnTo>
                  <a:pt x="395693" y="84327"/>
                </a:lnTo>
                <a:lnTo>
                  <a:pt x="412750" y="74929"/>
                </a:lnTo>
                <a:lnTo>
                  <a:pt x="283718" y="2666"/>
                </a:lnTo>
                <a:lnTo>
                  <a:pt x="279145" y="0"/>
                </a:lnTo>
                <a:close/>
              </a:path>
              <a:path w="412750" h="149225">
                <a:moveTo>
                  <a:pt x="0" y="63753"/>
                </a:moveTo>
                <a:lnTo>
                  <a:pt x="0" y="82803"/>
                </a:lnTo>
                <a:lnTo>
                  <a:pt x="356417" y="84185"/>
                </a:lnTo>
                <a:lnTo>
                  <a:pt x="373520" y="74781"/>
                </a:lnTo>
                <a:lnTo>
                  <a:pt x="356332" y="65135"/>
                </a:lnTo>
                <a:lnTo>
                  <a:pt x="0" y="63753"/>
                </a:lnTo>
                <a:close/>
              </a:path>
              <a:path w="412750" h="149225">
                <a:moveTo>
                  <a:pt x="388493" y="66547"/>
                </a:moveTo>
                <a:lnTo>
                  <a:pt x="373520" y="74781"/>
                </a:lnTo>
                <a:lnTo>
                  <a:pt x="388493" y="83184"/>
                </a:lnTo>
                <a:lnTo>
                  <a:pt x="388493" y="66547"/>
                </a:lnTo>
                <a:close/>
              </a:path>
              <a:path w="412750" h="149225">
                <a:moveTo>
                  <a:pt x="393183" y="66547"/>
                </a:moveTo>
                <a:lnTo>
                  <a:pt x="388493" y="66547"/>
                </a:lnTo>
                <a:lnTo>
                  <a:pt x="388493" y="83184"/>
                </a:lnTo>
                <a:lnTo>
                  <a:pt x="393072" y="83184"/>
                </a:lnTo>
                <a:lnTo>
                  <a:pt x="393183" y="66547"/>
                </a:lnTo>
                <a:close/>
              </a:path>
              <a:path w="412750" h="149225">
                <a:moveTo>
                  <a:pt x="356332" y="65135"/>
                </a:moveTo>
                <a:lnTo>
                  <a:pt x="373520" y="74781"/>
                </a:lnTo>
                <a:lnTo>
                  <a:pt x="388493" y="66547"/>
                </a:lnTo>
                <a:lnTo>
                  <a:pt x="393183" y="66547"/>
                </a:lnTo>
                <a:lnTo>
                  <a:pt x="393192" y="65277"/>
                </a:lnTo>
                <a:lnTo>
                  <a:pt x="356332" y="651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212341" y="3663433"/>
            <a:ext cx="4037965" cy="786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sz="1800" dirty="0">
              <a:latin typeface="Verdana"/>
              <a:cs typeface="Verdana"/>
            </a:endParaRPr>
          </a:p>
          <a:p>
            <a:pPr marL="1760855">
              <a:spcBef>
                <a:spcPts val="1664"/>
              </a:spcBef>
            </a:pPr>
            <a:r>
              <a:rPr sz="1800" spc="-10" dirty="0">
                <a:latin typeface="Verdana"/>
                <a:cs typeface="Verdana"/>
              </a:rPr>
              <a:t>Integrated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5" dirty="0">
                <a:latin typeface="Verdana"/>
                <a:cs typeface="Verdana"/>
              </a:rPr>
              <a:t>together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494533" y="5219056"/>
            <a:ext cx="934719" cy="553720"/>
            <a:chOff x="1970532" y="4561332"/>
            <a:chExt cx="934719" cy="55372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0532" y="4561332"/>
              <a:ext cx="859536" cy="4785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2452" y="4593336"/>
              <a:ext cx="696468" cy="34594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057400" y="4648200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>
                  <a:moveTo>
                    <a:pt x="419100" y="0"/>
                  </a:moveTo>
                  <a:lnTo>
                    <a:pt x="357155" y="2478"/>
                  </a:lnTo>
                  <a:lnTo>
                    <a:pt x="298037" y="9679"/>
                  </a:lnTo>
                  <a:lnTo>
                    <a:pt x="242392" y="21248"/>
                  </a:lnTo>
                  <a:lnTo>
                    <a:pt x="190869" y="36832"/>
                  </a:lnTo>
                  <a:lnTo>
                    <a:pt x="144115" y="56076"/>
                  </a:lnTo>
                  <a:lnTo>
                    <a:pt x="102778" y="78627"/>
                  </a:lnTo>
                  <a:lnTo>
                    <a:pt x="67504" y="104131"/>
                  </a:lnTo>
                  <a:lnTo>
                    <a:pt x="38942" y="132234"/>
                  </a:lnTo>
                  <a:lnTo>
                    <a:pt x="4542" y="194822"/>
                  </a:lnTo>
                  <a:lnTo>
                    <a:pt x="0" y="228600"/>
                  </a:lnTo>
                  <a:lnTo>
                    <a:pt x="4542" y="262377"/>
                  </a:lnTo>
                  <a:lnTo>
                    <a:pt x="38942" y="324965"/>
                  </a:lnTo>
                  <a:lnTo>
                    <a:pt x="67504" y="353068"/>
                  </a:lnTo>
                  <a:lnTo>
                    <a:pt x="102778" y="378572"/>
                  </a:lnTo>
                  <a:lnTo>
                    <a:pt x="144115" y="401123"/>
                  </a:lnTo>
                  <a:lnTo>
                    <a:pt x="190869" y="420367"/>
                  </a:lnTo>
                  <a:lnTo>
                    <a:pt x="242392" y="435951"/>
                  </a:lnTo>
                  <a:lnTo>
                    <a:pt x="298037" y="447520"/>
                  </a:lnTo>
                  <a:lnTo>
                    <a:pt x="357155" y="454721"/>
                  </a:lnTo>
                  <a:lnTo>
                    <a:pt x="419100" y="457200"/>
                  </a:lnTo>
                  <a:lnTo>
                    <a:pt x="481044" y="454721"/>
                  </a:lnTo>
                  <a:lnTo>
                    <a:pt x="540162" y="447520"/>
                  </a:lnTo>
                  <a:lnTo>
                    <a:pt x="595807" y="435951"/>
                  </a:lnTo>
                  <a:lnTo>
                    <a:pt x="647330" y="420367"/>
                  </a:lnTo>
                  <a:lnTo>
                    <a:pt x="694084" y="401123"/>
                  </a:lnTo>
                  <a:lnTo>
                    <a:pt x="735421" y="378572"/>
                  </a:lnTo>
                  <a:lnTo>
                    <a:pt x="770695" y="353068"/>
                  </a:lnTo>
                  <a:lnTo>
                    <a:pt x="799257" y="324965"/>
                  </a:lnTo>
                  <a:lnTo>
                    <a:pt x="833657" y="262377"/>
                  </a:lnTo>
                  <a:lnTo>
                    <a:pt x="838200" y="228600"/>
                  </a:lnTo>
                  <a:lnTo>
                    <a:pt x="833657" y="194822"/>
                  </a:lnTo>
                  <a:lnTo>
                    <a:pt x="799257" y="132234"/>
                  </a:lnTo>
                  <a:lnTo>
                    <a:pt x="770695" y="104131"/>
                  </a:lnTo>
                  <a:lnTo>
                    <a:pt x="735421" y="78627"/>
                  </a:lnTo>
                  <a:lnTo>
                    <a:pt x="694084" y="56076"/>
                  </a:lnTo>
                  <a:lnTo>
                    <a:pt x="647330" y="36832"/>
                  </a:lnTo>
                  <a:lnTo>
                    <a:pt x="595807" y="21248"/>
                  </a:lnTo>
                  <a:lnTo>
                    <a:pt x="540162" y="9679"/>
                  </a:lnTo>
                  <a:lnTo>
                    <a:pt x="481044" y="2478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057400" y="4648200"/>
              <a:ext cx="838200" cy="457200"/>
            </a:xfrm>
            <a:custGeom>
              <a:avLst/>
              <a:gdLst/>
              <a:ahLst/>
              <a:cxnLst/>
              <a:rect l="l" t="t" r="r" b="b"/>
              <a:pathLst>
                <a:path w="838200" h="457200">
                  <a:moveTo>
                    <a:pt x="0" y="228600"/>
                  </a:moveTo>
                  <a:lnTo>
                    <a:pt x="17739" y="162582"/>
                  </a:lnTo>
                  <a:lnTo>
                    <a:pt x="67504" y="104131"/>
                  </a:lnTo>
                  <a:lnTo>
                    <a:pt x="102778" y="78627"/>
                  </a:lnTo>
                  <a:lnTo>
                    <a:pt x="144115" y="56076"/>
                  </a:lnTo>
                  <a:lnTo>
                    <a:pt x="190869" y="36832"/>
                  </a:lnTo>
                  <a:lnTo>
                    <a:pt x="242392" y="21248"/>
                  </a:lnTo>
                  <a:lnTo>
                    <a:pt x="298037" y="9679"/>
                  </a:lnTo>
                  <a:lnTo>
                    <a:pt x="357155" y="2478"/>
                  </a:lnTo>
                  <a:lnTo>
                    <a:pt x="419100" y="0"/>
                  </a:lnTo>
                  <a:lnTo>
                    <a:pt x="481044" y="2478"/>
                  </a:lnTo>
                  <a:lnTo>
                    <a:pt x="540162" y="9679"/>
                  </a:lnTo>
                  <a:lnTo>
                    <a:pt x="595807" y="21248"/>
                  </a:lnTo>
                  <a:lnTo>
                    <a:pt x="647330" y="36832"/>
                  </a:lnTo>
                  <a:lnTo>
                    <a:pt x="694084" y="56076"/>
                  </a:lnTo>
                  <a:lnTo>
                    <a:pt x="735421" y="78627"/>
                  </a:lnTo>
                  <a:lnTo>
                    <a:pt x="770695" y="104131"/>
                  </a:lnTo>
                  <a:lnTo>
                    <a:pt x="799257" y="132234"/>
                  </a:lnTo>
                  <a:lnTo>
                    <a:pt x="833657" y="194822"/>
                  </a:lnTo>
                  <a:lnTo>
                    <a:pt x="838200" y="228600"/>
                  </a:lnTo>
                  <a:lnTo>
                    <a:pt x="833657" y="262377"/>
                  </a:lnTo>
                  <a:lnTo>
                    <a:pt x="820460" y="294617"/>
                  </a:lnTo>
                  <a:lnTo>
                    <a:pt x="770695" y="353068"/>
                  </a:lnTo>
                  <a:lnTo>
                    <a:pt x="735421" y="378572"/>
                  </a:lnTo>
                  <a:lnTo>
                    <a:pt x="694084" y="401123"/>
                  </a:lnTo>
                  <a:lnTo>
                    <a:pt x="647330" y="420367"/>
                  </a:lnTo>
                  <a:lnTo>
                    <a:pt x="595807" y="435951"/>
                  </a:lnTo>
                  <a:lnTo>
                    <a:pt x="540162" y="447520"/>
                  </a:lnTo>
                  <a:lnTo>
                    <a:pt x="481044" y="454721"/>
                  </a:lnTo>
                  <a:lnTo>
                    <a:pt x="419100" y="457200"/>
                  </a:lnTo>
                  <a:lnTo>
                    <a:pt x="357155" y="454721"/>
                  </a:lnTo>
                  <a:lnTo>
                    <a:pt x="298037" y="447520"/>
                  </a:lnTo>
                  <a:lnTo>
                    <a:pt x="242392" y="435951"/>
                  </a:lnTo>
                  <a:lnTo>
                    <a:pt x="190869" y="420367"/>
                  </a:lnTo>
                  <a:lnTo>
                    <a:pt x="144115" y="401123"/>
                  </a:lnTo>
                  <a:lnTo>
                    <a:pt x="102778" y="378572"/>
                  </a:lnTo>
                  <a:lnTo>
                    <a:pt x="67504" y="353068"/>
                  </a:lnTo>
                  <a:lnTo>
                    <a:pt x="38942" y="324965"/>
                  </a:lnTo>
                  <a:lnTo>
                    <a:pt x="4542" y="262377"/>
                  </a:lnTo>
                  <a:lnTo>
                    <a:pt x="0" y="228600"/>
                  </a:lnTo>
                  <a:close/>
                </a:path>
              </a:pathLst>
            </a:custGeom>
            <a:ln w="19050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1976437" y="3586661"/>
            <a:ext cx="8620760" cy="2183130"/>
            <a:chOff x="452437" y="2928937"/>
            <a:chExt cx="8620760" cy="2183130"/>
          </a:xfrm>
        </p:grpSpPr>
        <p:sp>
          <p:nvSpPr>
            <p:cNvPr id="26" name="object 26"/>
            <p:cNvSpPr/>
            <p:nvPr/>
          </p:nvSpPr>
          <p:spPr>
            <a:xfrm>
              <a:off x="461962" y="3425825"/>
              <a:ext cx="5772785" cy="0"/>
            </a:xfrm>
            <a:custGeom>
              <a:avLst/>
              <a:gdLst/>
              <a:ahLst/>
              <a:cxnLst/>
              <a:rect l="l" t="t" r="r" b="b"/>
              <a:pathLst>
                <a:path w="5772785">
                  <a:moveTo>
                    <a:pt x="0" y="0"/>
                  </a:moveTo>
                  <a:lnTo>
                    <a:pt x="5772213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1962" y="3335401"/>
              <a:ext cx="5772785" cy="90805"/>
            </a:xfrm>
            <a:custGeom>
              <a:avLst/>
              <a:gdLst/>
              <a:ahLst/>
              <a:cxnLst/>
              <a:rect l="l" t="t" r="r" b="b"/>
              <a:pathLst>
                <a:path w="5772785" h="90804">
                  <a:moveTo>
                    <a:pt x="0" y="0"/>
                  </a:moveTo>
                  <a:lnTo>
                    <a:pt x="0" y="90424"/>
                  </a:lnTo>
                </a:path>
                <a:path w="5772785" h="90804">
                  <a:moveTo>
                    <a:pt x="5772213" y="0"/>
                  </a:moveTo>
                  <a:lnTo>
                    <a:pt x="5772213" y="90424"/>
                  </a:lnTo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38331" y="2933700"/>
              <a:ext cx="3430270" cy="2173605"/>
            </a:xfrm>
            <a:custGeom>
              <a:avLst/>
              <a:gdLst/>
              <a:ahLst/>
              <a:cxnLst/>
              <a:rect l="l" t="t" r="r" b="b"/>
              <a:pathLst>
                <a:path w="3430270" h="2173604">
                  <a:moveTo>
                    <a:pt x="2057995" y="0"/>
                  </a:moveTo>
                  <a:lnTo>
                    <a:pt x="2195536" y="827658"/>
                  </a:lnTo>
                  <a:lnTo>
                    <a:pt x="2262974" y="836142"/>
                  </a:lnTo>
                  <a:lnTo>
                    <a:pt x="2328922" y="845629"/>
                  </a:lnTo>
                  <a:lnTo>
                    <a:pt x="2393344" y="856092"/>
                  </a:lnTo>
                  <a:lnTo>
                    <a:pt x="2456201" y="867505"/>
                  </a:lnTo>
                  <a:lnTo>
                    <a:pt x="2517455" y="879838"/>
                  </a:lnTo>
                  <a:lnTo>
                    <a:pt x="2577071" y="893066"/>
                  </a:lnTo>
                  <a:lnTo>
                    <a:pt x="2635009" y="907161"/>
                  </a:lnTo>
                  <a:lnTo>
                    <a:pt x="2691233" y="922095"/>
                  </a:lnTo>
                  <a:lnTo>
                    <a:pt x="2745705" y="937840"/>
                  </a:lnTo>
                  <a:lnTo>
                    <a:pt x="2798387" y="954371"/>
                  </a:lnTo>
                  <a:lnTo>
                    <a:pt x="2849242" y="971658"/>
                  </a:lnTo>
                  <a:lnTo>
                    <a:pt x="2898233" y="989675"/>
                  </a:lnTo>
                  <a:lnTo>
                    <a:pt x="2945321" y="1008395"/>
                  </a:lnTo>
                  <a:lnTo>
                    <a:pt x="2990470" y="1027789"/>
                  </a:lnTo>
                  <a:lnTo>
                    <a:pt x="3033643" y="1047831"/>
                  </a:lnTo>
                  <a:lnTo>
                    <a:pt x="3074800" y="1068493"/>
                  </a:lnTo>
                  <a:lnTo>
                    <a:pt x="3113906" y="1089748"/>
                  </a:lnTo>
                  <a:lnTo>
                    <a:pt x="3150922" y="1111568"/>
                  </a:lnTo>
                  <a:lnTo>
                    <a:pt x="3185812" y="1133926"/>
                  </a:lnTo>
                  <a:lnTo>
                    <a:pt x="3218536" y="1156795"/>
                  </a:lnTo>
                  <a:lnTo>
                    <a:pt x="3249059" y="1180147"/>
                  </a:lnTo>
                  <a:lnTo>
                    <a:pt x="3303349" y="1228190"/>
                  </a:lnTo>
                  <a:lnTo>
                    <a:pt x="3348382" y="1277838"/>
                  </a:lnTo>
                  <a:lnTo>
                    <a:pt x="3383857" y="1328870"/>
                  </a:lnTo>
                  <a:lnTo>
                    <a:pt x="3409474" y="1381067"/>
                  </a:lnTo>
                  <a:lnTo>
                    <a:pt x="3424933" y="1434211"/>
                  </a:lnTo>
                  <a:lnTo>
                    <a:pt x="3429936" y="1488082"/>
                  </a:lnTo>
                  <a:lnTo>
                    <a:pt x="3428421" y="1515222"/>
                  </a:lnTo>
                  <a:lnTo>
                    <a:pt x="3417175" y="1569773"/>
                  </a:lnTo>
                  <a:lnTo>
                    <a:pt x="3394721" y="1624503"/>
                  </a:lnTo>
                  <a:lnTo>
                    <a:pt x="3360761" y="1679194"/>
                  </a:lnTo>
                  <a:lnTo>
                    <a:pt x="3322306" y="1725777"/>
                  </a:lnTo>
                  <a:lnTo>
                    <a:pt x="3276423" y="1770522"/>
                  </a:lnTo>
                  <a:lnTo>
                    <a:pt x="3223474" y="1813351"/>
                  </a:lnTo>
                  <a:lnTo>
                    <a:pt x="3163816" y="1854184"/>
                  </a:lnTo>
                  <a:lnTo>
                    <a:pt x="3097811" y="1892943"/>
                  </a:lnTo>
                  <a:lnTo>
                    <a:pt x="3062541" y="1911519"/>
                  </a:lnTo>
                  <a:lnTo>
                    <a:pt x="3025818" y="1929548"/>
                  </a:lnTo>
                  <a:lnTo>
                    <a:pt x="2987688" y="1947018"/>
                  </a:lnTo>
                  <a:lnTo>
                    <a:pt x="2948196" y="1963920"/>
                  </a:lnTo>
                  <a:lnTo>
                    <a:pt x="2907387" y="1980244"/>
                  </a:lnTo>
                  <a:lnTo>
                    <a:pt x="2865306" y="1995980"/>
                  </a:lnTo>
                  <a:lnTo>
                    <a:pt x="2821998" y="2011119"/>
                  </a:lnTo>
                  <a:lnTo>
                    <a:pt x="2777507" y="2025650"/>
                  </a:lnTo>
                  <a:lnTo>
                    <a:pt x="2731880" y="2039564"/>
                  </a:lnTo>
                  <a:lnTo>
                    <a:pt x="2685160" y="2052851"/>
                  </a:lnTo>
                  <a:lnTo>
                    <a:pt x="2637392" y="2065500"/>
                  </a:lnTo>
                  <a:lnTo>
                    <a:pt x="2588623" y="2077502"/>
                  </a:lnTo>
                  <a:lnTo>
                    <a:pt x="2538896" y="2088848"/>
                  </a:lnTo>
                  <a:lnTo>
                    <a:pt x="2488257" y="2099527"/>
                  </a:lnTo>
                  <a:lnTo>
                    <a:pt x="2436750" y="2109529"/>
                  </a:lnTo>
                  <a:lnTo>
                    <a:pt x="2384421" y="2118844"/>
                  </a:lnTo>
                  <a:lnTo>
                    <a:pt x="2331315" y="2127464"/>
                  </a:lnTo>
                  <a:lnTo>
                    <a:pt x="2277476" y="2135377"/>
                  </a:lnTo>
                  <a:lnTo>
                    <a:pt x="2222950" y="2142574"/>
                  </a:lnTo>
                  <a:lnTo>
                    <a:pt x="2167781" y="2149045"/>
                  </a:lnTo>
                  <a:lnTo>
                    <a:pt x="2112014" y="2154780"/>
                  </a:lnTo>
                  <a:lnTo>
                    <a:pt x="2055695" y="2159769"/>
                  </a:lnTo>
                  <a:lnTo>
                    <a:pt x="1998869" y="2164003"/>
                  </a:lnTo>
                  <a:lnTo>
                    <a:pt x="1941580" y="2167471"/>
                  </a:lnTo>
                  <a:lnTo>
                    <a:pt x="1883873" y="2170164"/>
                  </a:lnTo>
                  <a:lnTo>
                    <a:pt x="1825794" y="2172072"/>
                  </a:lnTo>
                  <a:lnTo>
                    <a:pt x="1767387" y="2173185"/>
                  </a:lnTo>
                  <a:lnTo>
                    <a:pt x="1708697" y="2173493"/>
                  </a:lnTo>
                  <a:lnTo>
                    <a:pt x="1649770" y="2172986"/>
                  </a:lnTo>
                  <a:lnTo>
                    <a:pt x="1590650" y="2171654"/>
                  </a:lnTo>
                  <a:lnTo>
                    <a:pt x="1531382" y="2169487"/>
                  </a:lnTo>
                  <a:lnTo>
                    <a:pt x="1472011" y="2166477"/>
                  </a:lnTo>
                  <a:lnTo>
                    <a:pt x="1412582" y="2162611"/>
                  </a:lnTo>
                  <a:lnTo>
                    <a:pt x="1353141" y="2157882"/>
                  </a:lnTo>
                  <a:lnTo>
                    <a:pt x="1293732" y="2152279"/>
                  </a:lnTo>
                  <a:lnTo>
                    <a:pt x="1234400" y="2145792"/>
                  </a:lnTo>
                  <a:lnTo>
                    <a:pt x="1166961" y="2137308"/>
                  </a:lnTo>
                  <a:lnTo>
                    <a:pt x="1101013" y="2127821"/>
                  </a:lnTo>
                  <a:lnTo>
                    <a:pt x="1036591" y="2117358"/>
                  </a:lnTo>
                  <a:lnTo>
                    <a:pt x="973734" y="2105945"/>
                  </a:lnTo>
                  <a:lnTo>
                    <a:pt x="912480" y="2093612"/>
                  </a:lnTo>
                  <a:lnTo>
                    <a:pt x="852864" y="2080384"/>
                  </a:lnTo>
                  <a:lnTo>
                    <a:pt x="794926" y="2066289"/>
                  </a:lnTo>
                  <a:lnTo>
                    <a:pt x="738702" y="2051355"/>
                  </a:lnTo>
                  <a:lnTo>
                    <a:pt x="684231" y="2035610"/>
                  </a:lnTo>
                  <a:lnTo>
                    <a:pt x="631548" y="2019079"/>
                  </a:lnTo>
                  <a:lnTo>
                    <a:pt x="580693" y="2001792"/>
                  </a:lnTo>
                  <a:lnTo>
                    <a:pt x="531703" y="1983775"/>
                  </a:lnTo>
                  <a:lnTo>
                    <a:pt x="484614" y="1965055"/>
                  </a:lnTo>
                  <a:lnTo>
                    <a:pt x="439465" y="1945661"/>
                  </a:lnTo>
                  <a:lnTo>
                    <a:pt x="396293" y="1925619"/>
                  </a:lnTo>
                  <a:lnTo>
                    <a:pt x="355135" y="1904957"/>
                  </a:lnTo>
                  <a:lnTo>
                    <a:pt x="316029" y="1883702"/>
                  </a:lnTo>
                  <a:lnTo>
                    <a:pt x="279013" y="1861882"/>
                  </a:lnTo>
                  <a:lnTo>
                    <a:pt x="244124" y="1839524"/>
                  </a:lnTo>
                  <a:lnTo>
                    <a:pt x="211399" y="1816655"/>
                  </a:lnTo>
                  <a:lnTo>
                    <a:pt x="180876" y="1793303"/>
                  </a:lnTo>
                  <a:lnTo>
                    <a:pt x="126586" y="1745260"/>
                  </a:lnTo>
                  <a:lnTo>
                    <a:pt x="81553" y="1695612"/>
                  </a:lnTo>
                  <a:lnTo>
                    <a:pt x="46079" y="1644580"/>
                  </a:lnTo>
                  <a:lnTo>
                    <a:pt x="20461" y="1592383"/>
                  </a:lnTo>
                  <a:lnTo>
                    <a:pt x="5002" y="1539239"/>
                  </a:lnTo>
                  <a:lnTo>
                    <a:pt x="0" y="1485368"/>
                  </a:lnTo>
                  <a:lnTo>
                    <a:pt x="1514" y="1458228"/>
                  </a:lnTo>
                  <a:lnTo>
                    <a:pt x="12760" y="1403677"/>
                  </a:lnTo>
                  <a:lnTo>
                    <a:pt x="35214" y="1348947"/>
                  </a:lnTo>
                  <a:lnTo>
                    <a:pt x="69175" y="1294257"/>
                  </a:lnTo>
                  <a:lnTo>
                    <a:pt x="110392" y="1244767"/>
                  </a:lnTo>
                  <a:lnTo>
                    <a:pt x="160290" y="1197161"/>
                  </a:lnTo>
                  <a:lnTo>
                    <a:pt x="218464" y="1151573"/>
                  </a:lnTo>
                  <a:lnTo>
                    <a:pt x="250529" y="1129578"/>
                  </a:lnTo>
                  <a:lnTo>
                    <a:pt x="284511" y="1108138"/>
                  </a:lnTo>
                  <a:lnTo>
                    <a:pt x="320360" y="1087269"/>
                  </a:lnTo>
                  <a:lnTo>
                    <a:pt x="358026" y="1066989"/>
                  </a:lnTo>
                  <a:lnTo>
                    <a:pt x="397457" y="1047313"/>
                  </a:lnTo>
                  <a:lnTo>
                    <a:pt x="438605" y="1028259"/>
                  </a:lnTo>
                  <a:lnTo>
                    <a:pt x="481417" y="1009844"/>
                  </a:lnTo>
                  <a:lnTo>
                    <a:pt x="525844" y="992083"/>
                  </a:lnTo>
                  <a:lnTo>
                    <a:pt x="571834" y="974995"/>
                  </a:lnTo>
                  <a:lnTo>
                    <a:pt x="619339" y="958595"/>
                  </a:lnTo>
                  <a:lnTo>
                    <a:pt x="668306" y="942901"/>
                  </a:lnTo>
                  <a:lnTo>
                    <a:pt x="718685" y="927929"/>
                  </a:lnTo>
                  <a:lnTo>
                    <a:pt x="770427" y="913696"/>
                  </a:lnTo>
                  <a:lnTo>
                    <a:pt x="823480" y="900219"/>
                  </a:lnTo>
                  <a:lnTo>
                    <a:pt x="877794" y="887514"/>
                  </a:lnTo>
                  <a:lnTo>
                    <a:pt x="933319" y="875599"/>
                  </a:lnTo>
                  <a:lnTo>
                    <a:pt x="990003" y="864489"/>
                  </a:lnTo>
                  <a:lnTo>
                    <a:pt x="1047797" y="854201"/>
                  </a:lnTo>
                  <a:lnTo>
                    <a:pt x="1106650" y="844754"/>
                  </a:lnTo>
                  <a:lnTo>
                    <a:pt x="1166511" y="836162"/>
                  </a:lnTo>
                  <a:lnTo>
                    <a:pt x="1227330" y="828443"/>
                  </a:lnTo>
                  <a:lnTo>
                    <a:pt x="1289056" y="821614"/>
                  </a:lnTo>
                  <a:lnTo>
                    <a:pt x="1351639" y="815691"/>
                  </a:lnTo>
                  <a:lnTo>
                    <a:pt x="1415029" y="810692"/>
                  </a:lnTo>
                  <a:lnTo>
                    <a:pt x="1479175" y="806632"/>
                  </a:lnTo>
                  <a:lnTo>
                    <a:pt x="1544026" y="803529"/>
                  </a:lnTo>
                  <a:lnTo>
                    <a:pt x="2057995" y="0"/>
                  </a:lnTo>
                  <a:close/>
                </a:path>
              </a:pathLst>
            </a:custGeom>
            <a:ln w="9525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441244" y="4808338"/>
            <a:ext cx="4338320" cy="1290738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2700">
              <a:spcBef>
                <a:spcPts val="1285"/>
              </a:spcBef>
            </a:pPr>
            <a:r>
              <a:rPr sz="1800" dirty="0">
                <a:latin typeface="Verdana"/>
                <a:cs typeface="Verdana"/>
              </a:rPr>
              <a:t>DPU =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Microcontroller</a:t>
            </a:r>
          </a:p>
          <a:p>
            <a:pPr marL="1390015">
              <a:spcBef>
                <a:spcPts val="1190"/>
              </a:spcBef>
            </a:pPr>
            <a:r>
              <a:rPr sz="1800" spc="-5" dirty="0">
                <a:latin typeface="Verdana"/>
                <a:cs typeface="Verdana"/>
              </a:rPr>
              <a:t>OR</a:t>
            </a:r>
            <a:endParaRPr sz="1800" dirty="0">
              <a:latin typeface="Verdana"/>
              <a:cs typeface="Verdana"/>
            </a:endParaRPr>
          </a:p>
          <a:p>
            <a:pPr marL="819785">
              <a:spcBef>
                <a:spcPts val="1080"/>
              </a:spcBef>
            </a:pPr>
            <a:r>
              <a:rPr lang="en-US" sz="1800" dirty="0" err="1">
                <a:latin typeface="+mj-lt"/>
                <a:cs typeface="Verdana"/>
              </a:rPr>
              <a:t>u</a:t>
            </a:r>
            <a:r>
              <a:rPr sz="1800" dirty="0" err="1" smtClean="0">
                <a:latin typeface="Verdana"/>
                <a:cs typeface="Verdana"/>
              </a:rPr>
              <a:t>P</a:t>
            </a:r>
            <a:r>
              <a:rPr sz="1800" dirty="0" smtClean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+ memory + I/O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interfac</a:t>
            </a:r>
            <a:r>
              <a:rPr lang="en-US" sz="1800" dirty="0">
                <a:latin typeface="Verdana"/>
                <a:cs typeface="Verdana"/>
              </a:rPr>
              <a:t>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10704" y="4714357"/>
            <a:ext cx="29317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spcBef>
                <a:spcPts val="100"/>
              </a:spcBef>
            </a:pPr>
            <a:r>
              <a:rPr sz="1800" spc="-5" dirty="0">
                <a:latin typeface="Verdana"/>
                <a:cs typeface="Verdana"/>
              </a:rPr>
              <a:t>Can be readily connected  to </a:t>
            </a:r>
            <a:r>
              <a:rPr sz="1800" dirty="0">
                <a:latin typeface="Verdana"/>
                <a:cs typeface="Verdana"/>
              </a:rPr>
              <a:t>a host </a:t>
            </a:r>
            <a:r>
              <a:rPr sz="1800" spc="-5" dirty="0">
                <a:latin typeface="Verdana"/>
                <a:cs typeface="Verdana"/>
              </a:rPr>
              <a:t>computer </a:t>
            </a:r>
            <a:r>
              <a:rPr sz="1800" dirty="0">
                <a:latin typeface="Verdana"/>
                <a:cs typeface="Verdana"/>
              </a:rPr>
              <a:t>or  </a:t>
            </a:r>
            <a:r>
              <a:rPr sz="1800" spc="-5" dirty="0">
                <a:latin typeface="Verdana"/>
                <a:cs typeface="Verdana"/>
              </a:rPr>
              <a:t>other digital system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65576" y="2181392"/>
            <a:ext cx="1556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dirty="0">
                <a:solidFill>
                  <a:srgbClr val="3333CC"/>
                </a:solidFill>
                <a:latin typeface="Verdana"/>
                <a:cs typeface="Verdana"/>
              </a:rPr>
              <a:t>Analog</a:t>
            </a:r>
            <a:r>
              <a:rPr sz="1800" spc="-85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3333CC"/>
                </a:solidFill>
                <a:latin typeface="Verdana"/>
                <a:cs typeface="Verdana"/>
              </a:rPr>
              <a:t>signal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847079" y="2181392"/>
            <a:ext cx="2305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Verdana"/>
                <a:cs typeface="Verdana"/>
              </a:rPr>
              <a:t>Digital signal</a:t>
            </a:r>
            <a:r>
              <a:rPr sz="1800" spc="-30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3333CC"/>
                </a:solidFill>
                <a:latin typeface="Verdana"/>
                <a:cs typeface="Verdana"/>
              </a:rPr>
              <a:t>(data)</a:t>
            </a:r>
            <a:endParaRPr sz="1800" dirty="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37076" y="2595997"/>
            <a:ext cx="1800225" cy="693420"/>
            <a:chOff x="3013075" y="1938273"/>
            <a:chExt cx="1800225" cy="693420"/>
          </a:xfrm>
        </p:grpSpPr>
        <p:sp>
          <p:nvSpPr>
            <p:cNvPr id="34" name="object 34"/>
            <p:cNvSpPr/>
            <p:nvPr/>
          </p:nvSpPr>
          <p:spPr>
            <a:xfrm>
              <a:off x="3198876" y="1950973"/>
              <a:ext cx="1602105" cy="565150"/>
            </a:xfrm>
            <a:custGeom>
              <a:avLst/>
              <a:gdLst/>
              <a:ahLst/>
              <a:cxnLst/>
              <a:rect l="l" t="t" r="r" b="b"/>
              <a:pathLst>
                <a:path w="1602104" h="565150">
                  <a:moveTo>
                    <a:pt x="3175" y="31750"/>
                  </a:moveTo>
                  <a:lnTo>
                    <a:pt x="0" y="565150"/>
                  </a:lnTo>
                </a:path>
                <a:path w="1602104" h="565150">
                  <a:moveTo>
                    <a:pt x="1601724" y="0"/>
                  </a:moveTo>
                  <a:lnTo>
                    <a:pt x="1600200" y="533400"/>
                  </a:lnTo>
                </a:path>
              </a:pathLst>
            </a:custGeom>
            <a:ln w="25400">
              <a:solidFill>
                <a:srgbClr val="0000FF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13075" y="2482595"/>
              <a:ext cx="412750" cy="149225"/>
            </a:xfrm>
            <a:custGeom>
              <a:avLst/>
              <a:gdLst/>
              <a:ahLst/>
              <a:cxnLst/>
              <a:rect l="l" t="t" r="r" b="b"/>
              <a:pathLst>
                <a:path w="412750" h="149225">
                  <a:moveTo>
                    <a:pt x="356252" y="84185"/>
                  </a:moveTo>
                  <a:lnTo>
                    <a:pt x="269366" y="132079"/>
                  </a:lnTo>
                  <a:lnTo>
                    <a:pt x="267715" y="137794"/>
                  </a:lnTo>
                  <a:lnTo>
                    <a:pt x="270255" y="142493"/>
                  </a:lnTo>
                  <a:lnTo>
                    <a:pt x="272796" y="147065"/>
                  </a:lnTo>
                  <a:lnTo>
                    <a:pt x="278511" y="148716"/>
                  </a:lnTo>
                  <a:lnTo>
                    <a:pt x="283210" y="146176"/>
                  </a:lnTo>
                  <a:lnTo>
                    <a:pt x="395462" y="84327"/>
                  </a:lnTo>
                  <a:lnTo>
                    <a:pt x="356252" y="84185"/>
                  </a:lnTo>
                  <a:close/>
                </a:path>
                <a:path w="412750" h="149225">
                  <a:moveTo>
                    <a:pt x="373519" y="74671"/>
                  </a:moveTo>
                  <a:lnTo>
                    <a:pt x="356252" y="84185"/>
                  </a:lnTo>
                  <a:lnTo>
                    <a:pt x="393064" y="84327"/>
                  </a:lnTo>
                  <a:lnTo>
                    <a:pt x="393073" y="83057"/>
                  </a:lnTo>
                  <a:lnTo>
                    <a:pt x="388492" y="83057"/>
                  </a:lnTo>
                  <a:lnTo>
                    <a:pt x="373519" y="74671"/>
                  </a:lnTo>
                  <a:close/>
                </a:path>
                <a:path w="412750" h="149225">
                  <a:moveTo>
                    <a:pt x="279146" y="0"/>
                  </a:moveTo>
                  <a:lnTo>
                    <a:pt x="273303" y="1650"/>
                  </a:lnTo>
                  <a:lnTo>
                    <a:pt x="268224" y="10794"/>
                  </a:lnTo>
                  <a:lnTo>
                    <a:pt x="269875" y="16637"/>
                  </a:lnTo>
                  <a:lnTo>
                    <a:pt x="356496" y="65135"/>
                  </a:lnTo>
                  <a:lnTo>
                    <a:pt x="393191" y="65277"/>
                  </a:lnTo>
                  <a:lnTo>
                    <a:pt x="393064" y="84327"/>
                  </a:lnTo>
                  <a:lnTo>
                    <a:pt x="395462" y="84327"/>
                  </a:lnTo>
                  <a:lnTo>
                    <a:pt x="412750" y="74802"/>
                  </a:lnTo>
                  <a:lnTo>
                    <a:pt x="279146" y="0"/>
                  </a:lnTo>
                  <a:close/>
                </a:path>
                <a:path w="412750" h="149225">
                  <a:moveTo>
                    <a:pt x="0" y="63753"/>
                  </a:moveTo>
                  <a:lnTo>
                    <a:pt x="0" y="82803"/>
                  </a:lnTo>
                  <a:lnTo>
                    <a:pt x="356252" y="84185"/>
                  </a:lnTo>
                  <a:lnTo>
                    <a:pt x="373519" y="74671"/>
                  </a:lnTo>
                  <a:lnTo>
                    <a:pt x="356496" y="65135"/>
                  </a:lnTo>
                  <a:lnTo>
                    <a:pt x="0" y="63753"/>
                  </a:lnTo>
                  <a:close/>
                </a:path>
                <a:path w="412750" h="149225">
                  <a:moveTo>
                    <a:pt x="388492" y="66420"/>
                  </a:moveTo>
                  <a:lnTo>
                    <a:pt x="373519" y="74671"/>
                  </a:lnTo>
                  <a:lnTo>
                    <a:pt x="388492" y="83057"/>
                  </a:lnTo>
                  <a:lnTo>
                    <a:pt x="388492" y="66420"/>
                  </a:lnTo>
                  <a:close/>
                </a:path>
                <a:path w="412750" h="149225">
                  <a:moveTo>
                    <a:pt x="393184" y="66420"/>
                  </a:moveTo>
                  <a:lnTo>
                    <a:pt x="388492" y="66420"/>
                  </a:lnTo>
                  <a:lnTo>
                    <a:pt x="388492" y="83057"/>
                  </a:lnTo>
                  <a:lnTo>
                    <a:pt x="393073" y="83057"/>
                  </a:lnTo>
                  <a:lnTo>
                    <a:pt x="393184" y="66420"/>
                  </a:lnTo>
                  <a:close/>
                </a:path>
                <a:path w="412750" h="149225">
                  <a:moveTo>
                    <a:pt x="356496" y="65135"/>
                  </a:moveTo>
                  <a:lnTo>
                    <a:pt x="373519" y="74671"/>
                  </a:lnTo>
                  <a:lnTo>
                    <a:pt x="388492" y="66420"/>
                  </a:lnTo>
                  <a:lnTo>
                    <a:pt x="393184" y="66420"/>
                  </a:lnTo>
                  <a:lnTo>
                    <a:pt x="393191" y="65277"/>
                  </a:lnTo>
                  <a:lnTo>
                    <a:pt x="356496" y="651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B14B0BF-9A77-4DBD-AC3F-A95A67B17980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1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Smart Network Sensor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99182" y="5372553"/>
            <a:ext cx="72396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74900" marR="5080" indent="-2362835">
              <a:spcBef>
                <a:spcPts val="100"/>
              </a:spcBef>
            </a:pPr>
            <a:r>
              <a:rPr sz="2400" b="1" i="1" dirty="0">
                <a:solidFill>
                  <a:srgbClr val="3333CC"/>
                </a:solidFill>
              </a:rPr>
              <a:t>Output: </a:t>
            </a:r>
            <a:r>
              <a:rPr sz="2400" i="1" spc="-5" dirty="0">
                <a:solidFill>
                  <a:srgbClr val="3333CC"/>
                </a:solidFill>
              </a:rPr>
              <a:t>processed data on integrated network port </a:t>
            </a:r>
            <a:r>
              <a:rPr sz="2400" i="1" spc="-10" dirty="0">
                <a:solidFill>
                  <a:srgbClr val="3333CC"/>
                </a:solidFill>
              </a:rPr>
              <a:t>in  </a:t>
            </a:r>
            <a:r>
              <a:rPr sz="2400" i="1" spc="-5" dirty="0">
                <a:solidFill>
                  <a:srgbClr val="3333CC"/>
                </a:solidFill>
              </a:rPr>
              <a:t>appropriate</a:t>
            </a:r>
            <a:r>
              <a:rPr sz="2400" i="1" spc="5" dirty="0">
                <a:solidFill>
                  <a:srgbClr val="3333CC"/>
                </a:solidFill>
              </a:rPr>
              <a:t> </a:t>
            </a:r>
            <a:r>
              <a:rPr sz="2400" i="1" spc="-5" dirty="0">
                <a:solidFill>
                  <a:srgbClr val="3333CC"/>
                </a:solidFill>
              </a:rPr>
              <a:t>format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1949450" y="2470985"/>
            <a:ext cx="1143000" cy="660437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213995">
              <a:spcBef>
                <a:spcPts val="830"/>
              </a:spcBef>
            </a:pPr>
            <a:r>
              <a:rPr sz="1800" dirty="0">
                <a:latin typeface="Verdana"/>
                <a:cs typeface="Verdana"/>
              </a:rPr>
              <a:t>Micro-</a:t>
            </a:r>
          </a:p>
          <a:p>
            <a:pPr marL="154305"/>
            <a:r>
              <a:rPr sz="1800" spc="-5" dirty="0">
                <a:latin typeface="Verdana"/>
                <a:cs typeface="Verdana"/>
              </a:rPr>
              <a:t>sensor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3450" y="2472635"/>
            <a:ext cx="990600" cy="521938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186690">
              <a:spcBef>
                <a:spcPts val="1910"/>
              </a:spcBef>
            </a:pPr>
            <a:r>
              <a:rPr sz="1800" spc="-5" dirty="0">
                <a:latin typeface="Verdana"/>
                <a:cs typeface="Verdana"/>
              </a:rPr>
              <a:t>ASPU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45050" y="2353510"/>
            <a:ext cx="1327150" cy="652743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spcBef>
                <a:spcPts val="50"/>
              </a:spcBef>
            </a:pPr>
            <a:endParaRPr sz="2400">
              <a:latin typeface="Times New Roman"/>
              <a:cs typeface="Times New Roman"/>
            </a:endParaRPr>
          </a:p>
          <a:p>
            <a:pPr marL="417195"/>
            <a:r>
              <a:rPr sz="1800" spc="5" dirty="0">
                <a:latin typeface="Verdana"/>
                <a:cs typeface="Verdana"/>
              </a:rPr>
              <a:t>ADC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0800" y="2518609"/>
            <a:ext cx="838200" cy="521938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177800">
              <a:spcBef>
                <a:spcPts val="1910"/>
              </a:spcBef>
            </a:pPr>
            <a:r>
              <a:rPr sz="1800" dirty="0">
                <a:latin typeface="Verdana"/>
                <a:cs typeface="Verdana"/>
              </a:rPr>
              <a:t>DPU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467600" y="2394785"/>
            <a:ext cx="1035050" cy="737381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65405">
              <a:spcBef>
                <a:spcPts val="1430"/>
              </a:spcBef>
            </a:pPr>
            <a:r>
              <a:rPr sz="1800" spc="-5" dirty="0">
                <a:latin typeface="Verdana"/>
                <a:cs typeface="Verdana"/>
              </a:rPr>
              <a:t>Comm.</a:t>
            </a:r>
            <a:endParaRPr sz="1800" dirty="0">
              <a:latin typeface="Verdana"/>
              <a:cs typeface="Verdana"/>
            </a:endParaRPr>
          </a:p>
          <a:p>
            <a:pPr marL="16510"/>
            <a:r>
              <a:rPr sz="1800" spc="-5" dirty="0">
                <a:latin typeface="Verdana"/>
                <a:cs typeface="Verdana"/>
              </a:rPr>
              <a:t>interface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839200" y="2397960"/>
            <a:ext cx="1066800" cy="737381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00355" marR="86360" indent="-283845">
              <a:spcBef>
                <a:spcPts val="1430"/>
              </a:spcBef>
            </a:pPr>
            <a:r>
              <a:rPr sz="1800" spc="-5" dirty="0">
                <a:latin typeface="Verdana"/>
                <a:cs typeface="Verdana"/>
              </a:rPr>
              <a:t>N</a:t>
            </a:r>
            <a:r>
              <a:rPr sz="1800" spc="-10" dirty="0">
                <a:latin typeface="Verdana"/>
                <a:cs typeface="Verdana"/>
              </a:rPr>
              <a:t>e</a:t>
            </a:r>
            <a:r>
              <a:rPr sz="1800" spc="-5" dirty="0">
                <a:latin typeface="Verdana"/>
                <a:cs typeface="Verdana"/>
              </a:rPr>
              <a:t>twork  port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43400" y="4080839"/>
            <a:ext cx="5715000" cy="381000"/>
          </a:xfrm>
          <a:custGeom>
            <a:avLst/>
            <a:gdLst/>
            <a:ahLst/>
            <a:cxnLst/>
            <a:rect l="l" t="t" r="r" b="b"/>
            <a:pathLst>
              <a:path w="5715000" h="381000">
                <a:moveTo>
                  <a:pt x="347749" y="0"/>
                </a:moveTo>
                <a:lnTo>
                  <a:pt x="335788" y="3806"/>
                </a:lnTo>
                <a:lnTo>
                  <a:pt x="0" y="190369"/>
                </a:lnTo>
                <a:lnTo>
                  <a:pt x="335788" y="376932"/>
                </a:lnTo>
                <a:lnTo>
                  <a:pt x="347749" y="380738"/>
                </a:lnTo>
                <a:lnTo>
                  <a:pt x="359854" y="379662"/>
                </a:lnTo>
                <a:lnTo>
                  <a:pt x="370720" y="374110"/>
                </a:lnTo>
                <a:lnTo>
                  <a:pt x="378968" y="364486"/>
                </a:lnTo>
                <a:lnTo>
                  <a:pt x="382774" y="352524"/>
                </a:lnTo>
                <a:lnTo>
                  <a:pt x="381698" y="340419"/>
                </a:lnTo>
                <a:lnTo>
                  <a:pt x="376146" y="329553"/>
                </a:lnTo>
                <a:lnTo>
                  <a:pt x="366522" y="321306"/>
                </a:lnTo>
                <a:lnTo>
                  <a:pt x="187985" y="222119"/>
                </a:lnTo>
                <a:lnTo>
                  <a:pt x="65405" y="222119"/>
                </a:lnTo>
                <a:lnTo>
                  <a:pt x="65405" y="158619"/>
                </a:lnTo>
                <a:lnTo>
                  <a:pt x="187985" y="158619"/>
                </a:lnTo>
                <a:lnTo>
                  <a:pt x="366522" y="59432"/>
                </a:lnTo>
                <a:lnTo>
                  <a:pt x="376146" y="51184"/>
                </a:lnTo>
                <a:lnTo>
                  <a:pt x="381698" y="40318"/>
                </a:lnTo>
                <a:lnTo>
                  <a:pt x="382774" y="28213"/>
                </a:lnTo>
                <a:lnTo>
                  <a:pt x="378968" y="16252"/>
                </a:lnTo>
                <a:lnTo>
                  <a:pt x="370720" y="6627"/>
                </a:lnTo>
                <a:lnTo>
                  <a:pt x="359854" y="1075"/>
                </a:lnTo>
                <a:lnTo>
                  <a:pt x="347749" y="0"/>
                </a:lnTo>
                <a:close/>
              </a:path>
              <a:path w="5715000" h="381000">
                <a:moveTo>
                  <a:pt x="5584164" y="190369"/>
                </a:moveTo>
                <a:lnTo>
                  <a:pt x="5348478" y="321306"/>
                </a:lnTo>
                <a:lnTo>
                  <a:pt x="5338853" y="329553"/>
                </a:lnTo>
                <a:lnTo>
                  <a:pt x="5333301" y="340419"/>
                </a:lnTo>
                <a:lnTo>
                  <a:pt x="5332225" y="352524"/>
                </a:lnTo>
                <a:lnTo>
                  <a:pt x="5336032" y="364486"/>
                </a:lnTo>
                <a:lnTo>
                  <a:pt x="5344225" y="374110"/>
                </a:lnTo>
                <a:lnTo>
                  <a:pt x="5355097" y="379662"/>
                </a:lnTo>
                <a:lnTo>
                  <a:pt x="5367232" y="380738"/>
                </a:lnTo>
                <a:lnTo>
                  <a:pt x="5379211" y="376932"/>
                </a:lnTo>
                <a:lnTo>
                  <a:pt x="5657854" y="222119"/>
                </a:lnTo>
                <a:lnTo>
                  <a:pt x="5649595" y="222119"/>
                </a:lnTo>
                <a:lnTo>
                  <a:pt x="5649595" y="218182"/>
                </a:lnTo>
                <a:lnTo>
                  <a:pt x="5634228" y="218182"/>
                </a:lnTo>
                <a:lnTo>
                  <a:pt x="5584164" y="190369"/>
                </a:lnTo>
                <a:close/>
              </a:path>
              <a:path w="5715000" h="381000">
                <a:moveTo>
                  <a:pt x="187985" y="158619"/>
                </a:moveTo>
                <a:lnTo>
                  <a:pt x="65405" y="158619"/>
                </a:lnTo>
                <a:lnTo>
                  <a:pt x="65405" y="222119"/>
                </a:lnTo>
                <a:lnTo>
                  <a:pt x="187985" y="222119"/>
                </a:lnTo>
                <a:lnTo>
                  <a:pt x="180898" y="218182"/>
                </a:lnTo>
                <a:lnTo>
                  <a:pt x="80772" y="218182"/>
                </a:lnTo>
                <a:lnTo>
                  <a:pt x="80772" y="162556"/>
                </a:lnTo>
                <a:lnTo>
                  <a:pt x="180898" y="162556"/>
                </a:lnTo>
                <a:lnTo>
                  <a:pt x="187985" y="158619"/>
                </a:lnTo>
                <a:close/>
              </a:path>
              <a:path w="5715000" h="381000">
                <a:moveTo>
                  <a:pt x="5527014" y="158619"/>
                </a:moveTo>
                <a:lnTo>
                  <a:pt x="187985" y="158619"/>
                </a:lnTo>
                <a:lnTo>
                  <a:pt x="130835" y="190369"/>
                </a:lnTo>
                <a:lnTo>
                  <a:pt x="187985" y="222119"/>
                </a:lnTo>
                <a:lnTo>
                  <a:pt x="5527014" y="222119"/>
                </a:lnTo>
                <a:lnTo>
                  <a:pt x="5584164" y="190369"/>
                </a:lnTo>
                <a:lnTo>
                  <a:pt x="5527014" y="158619"/>
                </a:lnTo>
                <a:close/>
              </a:path>
              <a:path w="5715000" h="381000">
                <a:moveTo>
                  <a:pt x="5657854" y="158619"/>
                </a:moveTo>
                <a:lnTo>
                  <a:pt x="5649595" y="158619"/>
                </a:lnTo>
                <a:lnTo>
                  <a:pt x="5649595" y="222119"/>
                </a:lnTo>
                <a:lnTo>
                  <a:pt x="5657854" y="222119"/>
                </a:lnTo>
                <a:lnTo>
                  <a:pt x="5715000" y="190369"/>
                </a:lnTo>
                <a:lnTo>
                  <a:pt x="5657854" y="158619"/>
                </a:lnTo>
                <a:close/>
              </a:path>
              <a:path w="5715000" h="381000">
                <a:moveTo>
                  <a:pt x="80772" y="162556"/>
                </a:moveTo>
                <a:lnTo>
                  <a:pt x="80772" y="218182"/>
                </a:lnTo>
                <a:lnTo>
                  <a:pt x="130835" y="190369"/>
                </a:lnTo>
                <a:lnTo>
                  <a:pt x="80772" y="162556"/>
                </a:lnTo>
                <a:close/>
              </a:path>
              <a:path w="5715000" h="381000">
                <a:moveTo>
                  <a:pt x="130835" y="190369"/>
                </a:moveTo>
                <a:lnTo>
                  <a:pt x="80772" y="218182"/>
                </a:lnTo>
                <a:lnTo>
                  <a:pt x="180898" y="218182"/>
                </a:lnTo>
                <a:lnTo>
                  <a:pt x="130835" y="190369"/>
                </a:lnTo>
                <a:close/>
              </a:path>
              <a:path w="5715000" h="381000">
                <a:moveTo>
                  <a:pt x="5634228" y="162556"/>
                </a:moveTo>
                <a:lnTo>
                  <a:pt x="5584164" y="190369"/>
                </a:lnTo>
                <a:lnTo>
                  <a:pt x="5634228" y="218182"/>
                </a:lnTo>
                <a:lnTo>
                  <a:pt x="5634228" y="162556"/>
                </a:lnTo>
                <a:close/>
              </a:path>
              <a:path w="5715000" h="381000">
                <a:moveTo>
                  <a:pt x="5649595" y="162556"/>
                </a:moveTo>
                <a:lnTo>
                  <a:pt x="5634228" y="162556"/>
                </a:lnTo>
                <a:lnTo>
                  <a:pt x="5634228" y="218182"/>
                </a:lnTo>
                <a:lnTo>
                  <a:pt x="5649595" y="218182"/>
                </a:lnTo>
                <a:lnTo>
                  <a:pt x="5649595" y="162556"/>
                </a:lnTo>
                <a:close/>
              </a:path>
              <a:path w="5715000" h="381000">
                <a:moveTo>
                  <a:pt x="180898" y="162556"/>
                </a:moveTo>
                <a:lnTo>
                  <a:pt x="80772" y="162556"/>
                </a:lnTo>
                <a:lnTo>
                  <a:pt x="130835" y="190369"/>
                </a:lnTo>
                <a:lnTo>
                  <a:pt x="180898" y="162556"/>
                </a:lnTo>
                <a:close/>
              </a:path>
              <a:path w="5715000" h="381000">
                <a:moveTo>
                  <a:pt x="5367232" y="0"/>
                </a:moveTo>
                <a:lnTo>
                  <a:pt x="5355097" y="1075"/>
                </a:lnTo>
                <a:lnTo>
                  <a:pt x="5344225" y="6627"/>
                </a:lnTo>
                <a:lnTo>
                  <a:pt x="5336032" y="16252"/>
                </a:lnTo>
                <a:lnTo>
                  <a:pt x="5332225" y="28213"/>
                </a:lnTo>
                <a:lnTo>
                  <a:pt x="5333301" y="40318"/>
                </a:lnTo>
                <a:lnTo>
                  <a:pt x="5338853" y="51184"/>
                </a:lnTo>
                <a:lnTo>
                  <a:pt x="5348478" y="59432"/>
                </a:lnTo>
                <a:lnTo>
                  <a:pt x="5584164" y="190369"/>
                </a:lnTo>
                <a:lnTo>
                  <a:pt x="5634228" y="162556"/>
                </a:lnTo>
                <a:lnTo>
                  <a:pt x="5649595" y="162556"/>
                </a:lnTo>
                <a:lnTo>
                  <a:pt x="5649595" y="158619"/>
                </a:lnTo>
                <a:lnTo>
                  <a:pt x="5657854" y="158619"/>
                </a:lnTo>
                <a:lnTo>
                  <a:pt x="5379211" y="3806"/>
                </a:lnTo>
                <a:lnTo>
                  <a:pt x="5367232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642228" y="3878143"/>
            <a:ext cx="1600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Data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Network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4263" y="2739272"/>
            <a:ext cx="244475" cy="2444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1063" y="2739272"/>
            <a:ext cx="244475" cy="24447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8501063" y="2751972"/>
            <a:ext cx="320675" cy="244475"/>
            <a:chOff x="6977062" y="2062162"/>
            <a:chExt cx="320675" cy="244475"/>
          </a:xfrm>
        </p:grpSpPr>
        <p:sp>
          <p:nvSpPr>
            <p:cNvPr id="15" name="object 15"/>
            <p:cNvSpPr/>
            <p:nvPr/>
          </p:nvSpPr>
          <p:spPr>
            <a:xfrm>
              <a:off x="6985000" y="20701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228600" y="0"/>
                  </a:moveTo>
                  <a:lnTo>
                    <a:pt x="228600" y="57150"/>
                  </a:lnTo>
                  <a:lnTo>
                    <a:pt x="0" y="57150"/>
                  </a:lnTo>
                  <a:lnTo>
                    <a:pt x="0" y="171450"/>
                  </a:lnTo>
                  <a:lnTo>
                    <a:pt x="228600" y="171450"/>
                  </a:lnTo>
                  <a:lnTo>
                    <a:pt x="228600" y="228600"/>
                  </a:lnTo>
                  <a:lnTo>
                    <a:pt x="304800" y="1143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85000" y="2070100"/>
              <a:ext cx="304800" cy="228600"/>
            </a:xfrm>
            <a:custGeom>
              <a:avLst/>
              <a:gdLst/>
              <a:ahLst/>
              <a:cxnLst/>
              <a:rect l="l" t="t" r="r" b="b"/>
              <a:pathLst>
                <a:path w="304800" h="228600">
                  <a:moveTo>
                    <a:pt x="0" y="57150"/>
                  </a:moveTo>
                  <a:lnTo>
                    <a:pt x="228600" y="57150"/>
                  </a:lnTo>
                  <a:lnTo>
                    <a:pt x="228600" y="0"/>
                  </a:lnTo>
                  <a:lnTo>
                    <a:pt x="304800" y="114300"/>
                  </a:lnTo>
                  <a:lnTo>
                    <a:pt x="228600" y="228600"/>
                  </a:lnTo>
                  <a:lnTo>
                    <a:pt x="228600" y="171450"/>
                  </a:lnTo>
                  <a:lnTo>
                    <a:pt x="0" y="171450"/>
                  </a:lnTo>
                  <a:lnTo>
                    <a:pt x="0" y="57150"/>
                  </a:lnTo>
                  <a:close/>
                </a:path>
              </a:pathLst>
            </a:custGeom>
            <a:ln w="15875">
              <a:solidFill>
                <a:srgbClr val="8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092450" y="2778579"/>
            <a:ext cx="381000" cy="149225"/>
          </a:xfrm>
          <a:custGeom>
            <a:avLst/>
            <a:gdLst/>
            <a:ahLst/>
            <a:cxnLst/>
            <a:rect l="l" t="t" r="r" b="b"/>
            <a:pathLst>
              <a:path w="381000" h="149225">
                <a:moveTo>
                  <a:pt x="324460" y="84299"/>
                </a:moveTo>
                <a:lnTo>
                  <a:pt x="237617" y="132079"/>
                </a:lnTo>
                <a:lnTo>
                  <a:pt x="235966" y="137921"/>
                </a:lnTo>
                <a:lnTo>
                  <a:pt x="238506" y="142493"/>
                </a:lnTo>
                <a:lnTo>
                  <a:pt x="241045" y="147192"/>
                </a:lnTo>
                <a:lnTo>
                  <a:pt x="246761" y="148843"/>
                </a:lnTo>
                <a:lnTo>
                  <a:pt x="251460" y="146303"/>
                </a:lnTo>
                <a:lnTo>
                  <a:pt x="363712" y="84454"/>
                </a:lnTo>
                <a:lnTo>
                  <a:pt x="324460" y="84299"/>
                </a:lnTo>
                <a:close/>
              </a:path>
              <a:path w="381000" h="149225">
                <a:moveTo>
                  <a:pt x="341755" y="74789"/>
                </a:moveTo>
                <a:lnTo>
                  <a:pt x="324460" y="84299"/>
                </a:lnTo>
                <a:lnTo>
                  <a:pt x="361314" y="84454"/>
                </a:lnTo>
                <a:lnTo>
                  <a:pt x="361323" y="83184"/>
                </a:lnTo>
                <a:lnTo>
                  <a:pt x="356743" y="83184"/>
                </a:lnTo>
                <a:lnTo>
                  <a:pt x="341755" y="74789"/>
                </a:lnTo>
                <a:close/>
              </a:path>
              <a:path w="381000" h="149225">
                <a:moveTo>
                  <a:pt x="247395" y="0"/>
                </a:moveTo>
                <a:lnTo>
                  <a:pt x="241554" y="1650"/>
                </a:lnTo>
                <a:lnTo>
                  <a:pt x="239013" y="6222"/>
                </a:lnTo>
                <a:lnTo>
                  <a:pt x="236474" y="10921"/>
                </a:lnTo>
                <a:lnTo>
                  <a:pt x="238125" y="16636"/>
                </a:lnTo>
                <a:lnTo>
                  <a:pt x="242697" y="19303"/>
                </a:lnTo>
                <a:lnTo>
                  <a:pt x="324724" y="65250"/>
                </a:lnTo>
                <a:lnTo>
                  <a:pt x="361442" y="65404"/>
                </a:lnTo>
                <a:lnTo>
                  <a:pt x="361314" y="84454"/>
                </a:lnTo>
                <a:lnTo>
                  <a:pt x="363712" y="84454"/>
                </a:lnTo>
                <a:lnTo>
                  <a:pt x="381000" y="74929"/>
                </a:lnTo>
                <a:lnTo>
                  <a:pt x="251968" y="2666"/>
                </a:lnTo>
                <a:lnTo>
                  <a:pt x="247395" y="0"/>
                </a:lnTo>
                <a:close/>
              </a:path>
              <a:path w="381000" h="149225">
                <a:moveTo>
                  <a:pt x="0" y="63880"/>
                </a:moveTo>
                <a:lnTo>
                  <a:pt x="0" y="82930"/>
                </a:lnTo>
                <a:lnTo>
                  <a:pt x="324460" y="84299"/>
                </a:lnTo>
                <a:lnTo>
                  <a:pt x="341755" y="74789"/>
                </a:lnTo>
                <a:lnTo>
                  <a:pt x="324724" y="65250"/>
                </a:lnTo>
                <a:lnTo>
                  <a:pt x="0" y="63880"/>
                </a:lnTo>
                <a:close/>
              </a:path>
              <a:path w="381000" h="149225">
                <a:moveTo>
                  <a:pt x="356743" y="66547"/>
                </a:moveTo>
                <a:lnTo>
                  <a:pt x="341755" y="74789"/>
                </a:lnTo>
                <a:lnTo>
                  <a:pt x="356743" y="83184"/>
                </a:lnTo>
                <a:lnTo>
                  <a:pt x="356743" y="66547"/>
                </a:lnTo>
                <a:close/>
              </a:path>
              <a:path w="381000" h="149225">
                <a:moveTo>
                  <a:pt x="361434" y="66547"/>
                </a:moveTo>
                <a:lnTo>
                  <a:pt x="356743" y="66547"/>
                </a:lnTo>
                <a:lnTo>
                  <a:pt x="356743" y="83184"/>
                </a:lnTo>
                <a:lnTo>
                  <a:pt x="361323" y="83184"/>
                </a:lnTo>
                <a:lnTo>
                  <a:pt x="361434" y="66547"/>
                </a:lnTo>
                <a:close/>
              </a:path>
              <a:path w="381000" h="149225">
                <a:moveTo>
                  <a:pt x="324724" y="65250"/>
                </a:moveTo>
                <a:lnTo>
                  <a:pt x="341755" y="74789"/>
                </a:lnTo>
                <a:lnTo>
                  <a:pt x="356743" y="66547"/>
                </a:lnTo>
                <a:lnTo>
                  <a:pt x="361434" y="66547"/>
                </a:lnTo>
                <a:lnTo>
                  <a:pt x="361442" y="65404"/>
                </a:lnTo>
                <a:lnTo>
                  <a:pt x="324724" y="652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148936" y="3309184"/>
            <a:ext cx="381000" cy="990600"/>
          </a:xfrm>
          <a:custGeom>
            <a:avLst/>
            <a:gdLst/>
            <a:ahLst/>
            <a:cxnLst/>
            <a:rect l="l" t="t" r="r" b="b"/>
            <a:pathLst>
              <a:path w="381000" h="990600">
                <a:moveTo>
                  <a:pt x="28178" y="607825"/>
                </a:moveTo>
                <a:lnTo>
                  <a:pt x="16144" y="611632"/>
                </a:lnTo>
                <a:lnTo>
                  <a:pt x="6540" y="619879"/>
                </a:lnTo>
                <a:lnTo>
                  <a:pt x="1031" y="630745"/>
                </a:lnTo>
                <a:lnTo>
                  <a:pt x="0" y="642850"/>
                </a:lnTo>
                <a:lnTo>
                  <a:pt x="3825" y="654812"/>
                </a:lnTo>
                <a:lnTo>
                  <a:pt x="190261" y="990600"/>
                </a:lnTo>
                <a:lnTo>
                  <a:pt x="226600" y="925195"/>
                </a:lnTo>
                <a:lnTo>
                  <a:pt x="158511" y="925195"/>
                </a:lnTo>
                <a:lnTo>
                  <a:pt x="158511" y="802614"/>
                </a:lnTo>
                <a:lnTo>
                  <a:pt x="59324" y="624077"/>
                </a:lnTo>
                <a:lnTo>
                  <a:pt x="51149" y="614453"/>
                </a:lnTo>
                <a:lnTo>
                  <a:pt x="40306" y="608901"/>
                </a:lnTo>
                <a:lnTo>
                  <a:pt x="28178" y="607825"/>
                </a:lnTo>
                <a:close/>
              </a:path>
              <a:path w="381000" h="990600">
                <a:moveTo>
                  <a:pt x="158511" y="802614"/>
                </a:moveTo>
                <a:lnTo>
                  <a:pt x="158511" y="925195"/>
                </a:lnTo>
                <a:lnTo>
                  <a:pt x="222011" y="925195"/>
                </a:lnTo>
                <a:lnTo>
                  <a:pt x="222011" y="909827"/>
                </a:lnTo>
                <a:lnTo>
                  <a:pt x="162575" y="909827"/>
                </a:lnTo>
                <a:lnTo>
                  <a:pt x="190325" y="859878"/>
                </a:lnTo>
                <a:lnTo>
                  <a:pt x="158511" y="802614"/>
                </a:lnTo>
                <a:close/>
              </a:path>
              <a:path w="381000" h="990600">
                <a:moveTo>
                  <a:pt x="352472" y="607825"/>
                </a:moveTo>
                <a:lnTo>
                  <a:pt x="222138" y="802614"/>
                </a:lnTo>
                <a:lnTo>
                  <a:pt x="222011" y="925195"/>
                </a:lnTo>
                <a:lnTo>
                  <a:pt x="226600" y="925195"/>
                </a:lnTo>
                <a:lnTo>
                  <a:pt x="376824" y="654812"/>
                </a:lnTo>
                <a:lnTo>
                  <a:pt x="380650" y="642850"/>
                </a:lnTo>
                <a:lnTo>
                  <a:pt x="379618" y="630745"/>
                </a:lnTo>
                <a:lnTo>
                  <a:pt x="374110" y="619879"/>
                </a:lnTo>
                <a:lnTo>
                  <a:pt x="364505" y="611632"/>
                </a:lnTo>
                <a:lnTo>
                  <a:pt x="352472" y="607825"/>
                </a:lnTo>
                <a:close/>
              </a:path>
              <a:path w="381000" h="990600">
                <a:moveTo>
                  <a:pt x="190325" y="859878"/>
                </a:moveTo>
                <a:lnTo>
                  <a:pt x="162575" y="909827"/>
                </a:lnTo>
                <a:lnTo>
                  <a:pt x="218074" y="909827"/>
                </a:lnTo>
                <a:lnTo>
                  <a:pt x="190325" y="859878"/>
                </a:lnTo>
                <a:close/>
              </a:path>
              <a:path w="381000" h="990600">
                <a:moveTo>
                  <a:pt x="222011" y="802843"/>
                </a:moveTo>
                <a:lnTo>
                  <a:pt x="190325" y="859878"/>
                </a:lnTo>
                <a:lnTo>
                  <a:pt x="218074" y="909827"/>
                </a:lnTo>
                <a:lnTo>
                  <a:pt x="222011" y="909827"/>
                </a:lnTo>
                <a:lnTo>
                  <a:pt x="222011" y="802843"/>
                </a:lnTo>
                <a:close/>
              </a:path>
              <a:path w="381000" h="990600">
                <a:moveTo>
                  <a:pt x="190325" y="130721"/>
                </a:moveTo>
                <a:lnTo>
                  <a:pt x="158638" y="187756"/>
                </a:lnTo>
                <a:lnTo>
                  <a:pt x="158638" y="802843"/>
                </a:lnTo>
                <a:lnTo>
                  <a:pt x="190325" y="859878"/>
                </a:lnTo>
                <a:lnTo>
                  <a:pt x="222011" y="802843"/>
                </a:lnTo>
                <a:lnTo>
                  <a:pt x="222011" y="187756"/>
                </a:lnTo>
                <a:lnTo>
                  <a:pt x="190325" y="130721"/>
                </a:lnTo>
                <a:close/>
              </a:path>
              <a:path w="381000" h="990600">
                <a:moveTo>
                  <a:pt x="190261" y="0"/>
                </a:moveTo>
                <a:lnTo>
                  <a:pt x="3825" y="335788"/>
                </a:lnTo>
                <a:lnTo>
                  <a:pt x="0" y="347749"/>
                </a:lnTo>
                <a:lnTo>
                  <a:pt x="1031" y="359854"/>
                </a:lnTo>
                <a:lnTo>
                  <a:pt x="6540" y="370720"/>
                </a:lnTo>
                <a:lnTo>
                  <a:pt x="16144" y="378967"/>
                </a:lnTo>
                <a:lnTo>
                  <a:pt x="28178" y="382774"/>
                </a:lnTo>
                <a:lnTo>
                  <a:pt x="40306" y="381698"/>
                </a:lnTo>
                <a:lnTo>
                  <a:pt x="51149" y="376146"/>
                </a:lnTo>
                <a:lnTo>
                  <a:pt x="59324" y="366522"/>
                </a:lnTo>
                <a:lnTo>
                  <a:pt x="158511" y="187985"/>
                </a:lnTo>
                <a:lnTo>
                  <a:pt x="158511" y="65404"/>
                </a:lnTo>
                <a:lnTo>
                  <a:pt x="226600" y="65404"/>
                </a:lnTo>
                <a:lnTo>
                  <a:pt x="190261" y="0"/>
                </a:lnTo>
                <a:close/>
              </a:path>
              <a:path w="381000" h="990600">
                <a:moveTo>
                  <a:pt x="226600" y="65404"/>
                </a:moveTo>
                <a:lnTo>
                  <a:pt x="222011" y="65404"/>
                </a:lnTo>
                <a:lnTo>
                  <a:pt x="222138" y="187985"/>
                </a:lnTo>
                <a:lnTo>
                  <a:pt x="321325" y="366522"/>
                </a:lnTo>
                <a:lnTo>
                  <a:pt x="329501" y="376146"/>
                </a:lnTo>
                <a:lnTo>
                  <a:pt x="340344" y="381698"/>
                </a:lnTo>
                <a:lnTo>
                  <a:pt x="352472" y="382774"/>
                </a:lnTo>
                <a:lnTo>
                  <a:pt x="364505" y="378967"/>
                </a:lnTo>
                <a:lnTo>
                  <a:pt x="374110" y="370720"/>
                </a:lnTo>
                <a:lnTo>
                  <a:pt x="379618" y="359854"/>
                </a:lnTo>
                <a:lnTo>
                  <a:pt x="380650" y="347749"/>
                </a:lnTo>
                <a:lnTo>
                  <a:pt x="376824" y="335788"/>
                </a:lnTo>
                <a:lnTo>
                  <a:pt x="226600" y="65404"/>
                </a:lnTo>
                <a:close/>
              </a:path>
              <a:path w="381000" h="990600">
                <a:moveTo>
                  <a:pt x="222011" y="65404"/>
                </a:moveTo>
                <a:lnTo>
                  <a:pt x="158511" y="65404"/>
                </a:lnTo>
                <a:lnTo>
                  <a:pt x="158511" y="187985"/>
                </a:lnTo>
                <a:lnTo>
                  <a:pt x="190325" y="130721"/>
                </a:lnTo>
                <a:lnTo>
                  <a:pt x="162575" y="80772"/>
                </a:lnTo>
                <a:lnTo>
                  <a:pt x="222011" y="80772"/>
                </a:lnTo>
                <a:lnTo>
                  <a:pt x="222011" y="65404"/>
                </a:lnTo>
                <a:close/>
              </a:path>
              <a:path w="381000" h="990600">
                <a:moveTo>
                  <a:pt x="222011" y="80772"/>
                </a:moveTo>
                <a:lnTo>
                  <a:pt x="218074" y="80772"/>
                </a:lnTo>
                <a:lnTo>
                  <a:pt x="190325" y="130721"/>
                </a:lnTo>
                <a:lnTo>
                  <a:pt x="222011" y="187756"/>
                </a:lnTo>
                <a:lnTo>
                  <a:pt x="222011" y="80772"/>
                </a:lnTo>
                <a:close/>
              </a:path>
              <a:path w="381000" h="990600">
                <a:moveTo>
                  <a:pt x="218074" y="80772"/>
                </a:moveTo>
                <a:lnTo>
                  <a:pt x="162575" y="80772"/>
                </a:lnTo>
                <a:lnTo>
                  <a:pt x="190325" y="130721"/>
                </a:lnTo>
                <a:lnTo>
                  <a:pt x="218074" y="80772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9611615" y="3476443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800" dirty="0">
                <a:latin typeface="Verdana"/>
                <a:cs typeface="Verdana"/>
              </a:rPr>
              <a:t>out</a:t>
            </a:r>
            <a:r>
              <a:rPr sz="1800" spc="-10" dirty="0">
                <a:latin typeface="Verdana"/>
                <a:cs typeface="Verdana"/>
              </a:rPr>
              <a:t>p</a:t>
            </a:r>
            <a:r>
              <a:rPr sz="1800" dirty="0">
                <a:latin typeface="Verdana"/>
                <a:cs typeface="Verdana"/>
              </a:rPr>
              <a:t>ut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60875" y="2780230"/>
            <a:ext cx="381000" cy="149225"/>
          </a:xfrm>
          <a:custGeom>
            <a:avLst/>
            <a:gdLst/>
            <a:ahLst/>
            <a:cxnLst/>
            <a:rect l="l" t="t" r="r" b="b"/>
            <a:pathLst>
              <a:path w="381000" h="149225">
                <a:moveTo>
                  <a:pt x="324690" y="84173"/>
                </a:moveTo>
                <a:lnTo>
                  <a:pt x="237617" y="132079"/>
                </a:lnTo>
                <a:lnTo>
                  <a:pt x="235966" y="137794"/>
                </a:lnTo>
                <a:lnTo>
                  <a:pt x="238506" y="142493"/>
                </a:lnTo>
                <a:lnTo>
                  <a:pt x="241045" y="147065"/>
                </a:lnTo>
                <a:lnTo>
                  <a:pt x="246761" y="148716"/>
                </a:lnTo>
                <a:lnTo>
                  <a:pt x="363912" y="84327"/>
                </a:lnTo>
                <a:lnTo>
                  <a:pt x="324690" y="84173"/>
                </a:lnTo>
                <a:close/>
              </a:path>
              <a:path w="381000" h="149225">
                <a:moveTo>
                  <a:pt x="341770" y="74781"/>
                </a:moveTo>
                <a:lnTo>
                  <a:pt x="324690" y="84173"/>
                </a:lnTo>
                <a:lnTo>
                  <a:pt x="361314" y="84327"/>
                </a:lnTo>
                <a:lnTo>
                  <a:pt x="361322" y="83184"/>
                </a:lnTo>
                <a:lnTo>
                  <a:pt x="356742" y="83184"/>
                </a:lnTo>
                <a:lnTo>
                  <a:pt x="341770" y="74781"/>
                </a:lnTo>
                <a:close/>
              </a:path>
              <a:path w="381000" h="149225">
                <a:moveTo>
                  <a:pt x="247395" y="0"/>
                </a:moveTo>
                <a:lnTo>
                  <a:pt x="241554" y="1650"/>
                </a:lnTo>
                <a:lnTo>
                  <a:pt x="236474" y="10794"/>
                </a:lnTo>
                <a:lnTo>
                  <a:pt x="238125" y="16637"/>
                </a:lnTo>
                <a:lnTo>
                  <a:pt x="324560" y="65122"/>
                </a:lnTo>
                <a:lnTo>
                  <a:pt x="361441" y="65277"/>
                </a:lnTo>
                <a:lnTo>
                  <a:pt x="361314" y="84327"/>
                </a:lnTo>
                <a:lnTo>
                  <a:pt x="363912" y="84327"/>
                </a:lnTo>
                <a:lnTo>
                  <a:pt x="381000" y="74929"/>
                </a:lnTo>
                <a:lnTo>
                  <a:pt x="247395" y="0"/>
                </a:lnTo>
                <a:close/>
              </a:path>
              <a:path w="381000" h="149225">
                <a:moveTo>
                  <a:pt x="0" y="63753"/>
                </a:moveTo>
                <a:lnTo>
                  <a:pt x="0" y="82803"/>
                </a:lnTo>
                <a:lnTo>
                  <a:pt x="324690" y="84173"/>
                </a:lnTo>
                <a:lnTo>
                  <a:pt x="341770" y="74781"/>
                </a:lnTo>
                <a:lnTo>
                  <a:pt x="324560" y="65122"/>
                </a:lnTo>
                <a:lnTo>
                  <a:pt x="0" y="63753"/>
                </a:lnTo>
                <a:close/>
              </a:path>
              <a:path w="381000" h="149225">
                <a:moveTo>
                  <a:pt x="356742" y="66547"/>
                </a:moveTo>
                <a:lnTo>
                  <a:pt x="341770" y="74781"/>
                </a:lnTo>
                <a:lnTo>
                  <a:pt x="356742" y="83184"/>
                </a:lnTo>
                <a:lnTo>
                  <a:pt x="356742" y="66547"/>
                </a:lnTo>
                <a:close/>
              </a:path>
              <a:path w="381000" h="149225">
                <a:moveTo>
                  <a:pt x="361433" y="66547"/>
                </a:moveTo>
                <a:lnTo>
                  <a:pt x="356742" y="66547"/>
                </a:lnTo>
                <a:lnTo>
                  <a:pt x="356742" y="83184"/>
                </a:lnTo>
                <a:lnTo>
                  <a:pt x="361322" y="83184"/>
                </a:lnTo>
                <a:lnTo>
                  <a:pt x="361433" y="66547"/>
                </a:lnTo>
                <a:close/>
              </a:path>
              <a:path w="381000" h="149225">
                <a:moveTo>
                  <a:pt x="324560" y="65122"/>
                </a:moveTo>
                <a:lnTo>
                  <a:pt x="341770" y="74781"/>
                </a:lnTo>
                <a:lnTo>
                  <a:pt x="356742" y="66547"/>
                </a:lnTo>
                <a:lnTo>
                  <a:pt x="361433" y="66547"/>
                </a:lnTo>
                <a:lnTo>
                  <a:pt x="361441" y="65277"/>
                </a:lnTo>
                <a:lnTo>
                  <a:pt x="324560" y="651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D1520F-9253-40F9-B321-0A5EFE850BD8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73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Smart</a:t>
            </a:r>
            <a:r>
              <a:rPr lang="en-US" sz="3000" spc="-5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1F3864"/>
                </a:solidFill>
              </a:rPr>
              <a:t>Actuators</a:t>
            </a:r>
            <a:endParaRPr dirty="0">
              <a:solidFill>
                <a:srgbClr val="1F3864"/>
              </a:solidFill>
            </a:endParaRPr>
          </a:p>
        </p:txBody>
      </p:sp>
      <p:sp>
        <p:nvSpPr>
          <p:cNvPr id="38" name="object 4"/>
          <p:cNvSpPr txBox="1"/>
          <p:nvPr/>
        </p:nvSpPr>
        <p:spPr>
          <a:xfrm>
            <a:off x="1773173" y="1986488"/>
            <a:ext cx="2133600" cy="937436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05410" rIns="0" bIns="0" rtlCol="0">
            <a:spAutoFit/>
          </a:bodyPr>
          <a:lstStyle/>
          <a:p>
            <a:pPr marL="213995">
              <a:spcBef>
                <a:spcPts val="830"/>
              </a:spcBef>
            </a:pPr>
            <a:r>
              <a:rPr lang="en-US" sz="1800" dirty="0">
                <a:latin typeface="Verdana"/>
                <a:cs typeface="Verdana"/>
              </a:rPr>
              <a:t>Communication/ PWM / Analog Interface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1" name="object 7"/>
          <p:cNvSpPr txBox="1"/>
          <p:nvPr/>
        </p:nvSpPr>
        <p:spPr>
          <a:xfrm>
            <a:off x="4572001" y="2055738"/>
            <a:ext cx="2015693" cy="798937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177800">
              <a:spcBef>
                <a:spcPts val="1910"/>
              </a:spcBef>
            </a:pPr>
            <a:r>
              <a:rPr sz="1800" dirty="0">
                <a:latin typeface="Verdana"/>
                <a:cs typeface="Verdana"/>
              </a:rPr>
              <a:t>DPU</a:t>
            </a:r>
            <a:r>
              <a:rPr lang="en-US" sz="1800" dirty="0">
                <a:latin typeface="Verdana"/>
                <a:cs typeface="Verdana"/>
              </a:rPr>
              <a:t> / </a:t>
            </a:r>
            <a:r>
              <a:rPr lang="en-US" sz="1800" dirty="0" err="1">
                <a:latin typeface="Verdana"/>
                <a:cs typeface="Verdana"/>
              </a:rPr>
              <a:t>microController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2" name="object 8"/>
          <p:cNvSpPr txBox="1"/>
          <p:nvPr/>
        </p:nvSpPr>
        <p:spPr>
          <a:xfrm>
            <a:off x="7252920" y="2058047"/>
            <a:ext cx="1586280" cy="614271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65405">
              <a:spcBef>
                <a:spcPts val="1430"/>
              </a:spcBef>
            </a:pPr>
            <a:r>
              <a:rPr lang="en-US" spc="-5" dirty="0">
                <a:latin typeface="Verdana"/>
                <a:cs typeface="Verdana"/>
              </a:rPr>
              <a:t>Driver/ Power Stage</a:t>
            </a:r>
            <a:endParaRPr sz="1800" dirty="0">
              <a:latin typeface="Verdana"/>
              <a:cs typeface="Verdana"/>
            </a:endParaRPr>
          </a:p>
        </p:txBody>
      </p:sp>
      <p:sp>
        <p:nvSpPr>
          <p:cNvPr id="43" name="object 9"/>
          <p:cNvSpPr txBox="1"/>
          <p:nvPr/>
        </p:nvSpPr>
        <p:spPr>
          <a:xfrm>
            <a:off x="9268614" y="2085028"/>
            <a:ext cx="1351612" cy="49116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81610" rIns="0" bIns="0" rtlCol="0">
            <a:spAutoFit/>
          </a:bodyPr>
          <a:lstStyle/>
          <a:p>
            <a:pPr marL="300355" marR="86360" indent="-283845">
              <a:spcBef>
                <a:spcPts val="1430"/>
              </a:spcBef>
            </a:pPr>
            <a:r>
              <a:rPr lang="en-US" sz="2000" spc="-5" dirty="0">
                <a:latin typeface="Verdana"/>
                <a:cs typeface="Verdana"/>
              </a:rPr>
              <a:t>Actuator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547090" y="4876800"/>
            <a:ext cx="89989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1155" marR="5080" indent="-155575" algn="just"/>
            <a:r>
              <a:rPr lang="en-US" sz="2000" i="1" dirty="0">
                <a:solidFill>
                  <a:srgbClr val="0000FF"/>
                </a:solidFill>
              </a:rPr>
              <a:t>“</a:t>
            </a:r>
            <a:r>
              <a:rPr lang="en-US" sz="2000" b="1" i="1" dirty="0">
                <a:solidFill>
                  <a:srgbClr val="0000FF"/>
                </a:solidFill>
              </a:rPr>
              <a:t>Smart </a:t>
            </a:r>
            <a:r>
              <a:rPr lang="en-US" sz="2000" b="1" i="1" dirty="0">
                <a:solidFill>
                  <a:srgbClr val="0000FF"/>
                </a:solidFill>
              </a:rPr>
              <a:t>Actuator </a:t>
            </a:r>
            <a:r>
              <a:rPr lang="en-US" sz="2000" b="1" i="1" spc="-5" dirty="0">
                <a:solidFill>
                  <a:srgbClr val="0000FF"/>
                </a:solidFill>
              </a:rPr>
              <a:t>is </a:t>
            </a:r>
            <a:r>
              <a:rPr lang="en-US" sz="2000" b="1" i="1" dirty="0">
                <a:solidFill>
                  <a:srgbClr val="0000FF"/>
                </a:solidFill>
              </a:rPr>
              <a:t>an actuator integrated with its own control and signal processing unit, so </a:t>
            </a:r>
            <a:r>
              <a:rPr lang="en-US" sz="2000" b="1" i="1" spc="-5" dirty="0">
                <a:solidFill>
                  <a:srgbClr val="0000FF"/>
                </a:solidFill>
              </a:rPr>
              <a:t>that </a:t>
            </a:r>
            <a:r>
              <a:rPr lang="en-US" sz="2000" b="1" i="1" dirty="0">
                <a:solidFill>
                  <a:srgbClr val="0000FF"/>
                </a:solidFill>
              </a:rPr>
              <a:t>it </a:t>
            </a:r>
            <a:r>
              <a:rPr lang="en-US" sz="2000" b="1" i="1" dirty="0">
                <a:solidFill>
                  <a:srgbClr val="0000FF"/>
                </a:solidFill>
              </a:rPr>
              <a:t>can enhance traditional actuators with </a:t>
            </a:r>
            <a:r>
              <a:rPr lang="en-US" sz="2000" b="1" i="1" dirty="0">
                <a:solidFill>
                  <a:srgbClr val="0000FF"/>
                </a:solidFill>
              </a:rPr>
              <a:t>intelligence</a:t>
            </a:r>
            <a:r>
              <a:rPr lang="en-US" sz="2000" b="1" i="1" dirty="0">
                <a:solidFill>
                  <a:srgbClr val="0000FF"/>
                </a:solidFill>
              </a:rPr>
              <a:t>, network communication, and control logic.”</a:t>
            </a:r>
            <a:endParaRPr lang="en-US" sz="2000" dirty="0"/>
          </a:p>
        </p:txBody>
      </p:sp>
      <p:sp>
        <p:nvSpPr>
          <p:cNvPr id="52" name="object 7"/>
          <p:cNvSpPr txBox="1"/>
          <p:nvPr/>
        </p:nvSpPr>
        <p:spPr>
          <a:xfrm>
            <a:off x="4914518" y="3659701"/>
            <a:ext cx="2362201" cy="460382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242570" rIns="0" bIns="0" rtlCol="0">
            <a:spAutoFit/>
          </a:bodyPr>
          <a:lstStyle/>
          <a:p>
            <a:pPr marL="177800">
              <a:spcBef>
                <a:spcPts val="1910"/>
              </a:spcBef>
            </a:pPr>
            <a:r>
              <a:rPr lang="en-US" dirty="0">
                <a:latin typeface="Verdana"/>
                <a:cs typeface="Verdana"/>
              </a:rPr>
              <a:t>Feedback</a:t>
            </a:r>
            <a:endParaRPr sz="1800" dirty="0">
              <a:latin typeface="Verdana"/>
              <a:cs typeface="Verdana"/>
            </a:endParaRPr>
          </a:p>
        </p:txBody>
      </p:sp>
      <p:cxnSp>
        <p:nvCxnSpPr>
          <p:cNvPr id="58" name="Straight Arrow Connector 57"/>
          <p:cNvCxnSpPr>
            <a:stCxn id="52" idx="0"/>
          </p:cNvCxnSpPr>
          <p:nvPr/>
        </p:nvCxnSpPr>
        <p:spPr>
          <a:xfrm flipH="1" flipV="1">
            <a:off x="6095618" y="2854675"/>
            <a:ext cx="1" cy="8050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43" idx="2"/>
            <a:endCxn id="52" idx="3"/>
          </p:cNvCxnSpPr>
          <p:nvPr/>
        </p:nvCxnSpPr>
        <p:spPr>
          <a:xfrm rot="5400000">
            <a:off x="7953718" y="1899190"/>
            <a:ext cx="1313704" cy="26677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8" idx="3"/>
            <a:endCxn id="41" idx="1"/>
          </p:cNvCxnSpPr>
          <p:nvPr/>
        </p:nvCxnSpPr>
        <p:spPr>
          <a:xfrm>
            <a:off x="3906774" y="2455206"/>
            <a:ext cx="6652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6611492" y="2426736"/>
            <a:ext cx="6652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endCxn id="43" idx="1"/>
          </p:cNvCxnSpPr>
          <p:nvPr/>
        </p:nvCxnSpPr>
        <p:spPr>
          <a:xfrm>
            <a:off x="8839201" y="2455205"/>
            <a:ext cx="429413" cy="7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object 28"/>
          <p:cNvSpPr/>
          <p:nvPr/>
        </p:nvSpPr>
        <p:spPr>
          <a:xfrm>
            <a:off x="1787028" y="2978669"/>
            <a:ext cx="1820062" cy="1129029"/>
          </a:xfrm>
          <a:custGeom>
            <a:avLst/>
            <a:gdLst/>
            <a:ahLst/>
            <a:cxnLst/>
            <a:rect l="l" t="t" r="r" b="b"/>
            <a:pathLst>
              <a:path w="3430270" h="2173604">
                <a:moveTo>
                  <a:pt x="2057995" y="0"/>
                </a:moveTo>
                <a:lnTo>
                  <a:pt x="2195536" y="827658"/>
                </a:lnTo>
                <a:lnTo>
                  <a:pt x="2262974" y="836142"/>
                </a:lnTo>
                <a:lnTo>
                  <a:pt x="2328922" y="845629"/>
                </a:lnTo>
                <a:lnTo>
                  <a:pt x="2393344" y="856092"/>
                </a:lnTo>
                <a:lnTo>
                  <a:pt x="2456201" y="867505"/>
                </a:lnTo>
                <a:lnTo>
                  <a:pt x="2517455" y="879838"/>
                </a:lnTo>
                <a:lnTo>
                  <a:pt x="2577071" y="893066"/>
                </a:lnTo>
                <a:lnTo>
                  <a:pt x="2635009" y="907161"/>
                </a:lnTo>
                <a:lnTo>
                  <a:pt x="2691233" y="922095"/>
                </a:lnTo>
                <a:lnTo>
                  <a:pt x="2745705" y="937840"/>
                </a:lnTo>
                <a:lnTo>
                  <a:pt x="2798387" y="954371"/>
                </a:lnTo>
                <a:lnTo>
                  <a:pt x="2849242" y="971658"/>
                </a:lnTo>
                <a:lnTo>
                  <a:pt x="2898233" y="989675"/>
                </a:lnTo>
                <a:lnTo>
                  <a:pt x="2945321" y="1008395"/>
                </a:lnTo>
                <a:lnTo>
                  <a:pt x="2990470" y="1027789"/>
                </a:lnTo>
                <a:lnTo>
                  <a:pt x="3033643" y="1047831"/>
                </a:lnTo>
                <a:lnTo>
                  <a:pt x="3074800" y="1068493"/>
                </a:lnTo>
                <a:lnTo>
                  <a:pt x="3113906" y="1089748"/>
                </a:lnTo>
                <a:lnTo>
                  <a:pt x="3150922" y="1111568"/>
                </a:lnTo>
                <a:lnTo>
                  <a:pt x="3185812" y="1133926"/>
                </a:lnTo>
                <a:lnTo>
                  <a:pt x="3218536" y="1156795"/>
                </a:lnTo>
                <a:lnTo>
                  <a:pt x="3249059" y="1180147"/>
                </a:lnTo>
                <a:lnTo>
                  <a:pt x="3303349" y="1228190"/>
                </a:lnTo>
                <a:lnTo>
                  <a:pt x="3348382" y="1277838"/>
                </a:lnTo>
                <a:lnTo>
                  <a:pt x="3383857" y="1328870"/>
                </a:lnTo>
                <a:lnTo>
                  <a:pt x="3409474" y="1381067"/>
                </a:lnTo>
                <a:lnTo>
                  <a:pt x="3424933" y="1434211"/>
                </a:lnTo>
                <a:lnTo>
                  <a:pt x="3429936" y="1488082"/>
                </a:lnTo>
                <a:lnTo>
                  <a:pt x="3428421" y="1515222"/>
                </a:lnTo>
                <a:lnTo>
                  <a:pt x="3417175" y="1569773"/>
                </a:lnTo>
                <a:lnTo>
                  <a:pt x="3394721" y="1624503"/>
                </a:lnTo>
                <a:lnTo>
                  <a:pt x="3360761" y="1679194"/>
                </a:lnTo>
                <a:lnTo>
                  <a:pt x="3322306" y="1725777"/>
                </a:lnTo>
                <a:lnTo>
                  <a:pt x="3276423" y="1770522"/>
                </a:lnTo>
                <a:lnTo>
                  <a:pt x="3223474" y="1813351"/>
                </a:lnTo>
                <a:lnTo>
                  <a:pt x="3163816" y="1854184"/>
                </a:lnTo>
                <a:lnTo>
                  <a:pt x="3097811" y="1892943"/>
                </a:lnTo>
                <a:lnTo>
                  <a:pt x="3062541" y="1911519"/>
                </a:lnTo>
                <a:lnTo>
                  <a:pt x="3025818" y="1929548"/>
                </a:lnTo>
                <a:lnTo>
                  <a:pt x="2987688" y="1947018"/>
                </a:lnTo>
                <a:lnTo>
                  <a:pt x="2948196" y="1963920"/>
                </a:lnTo>
                <a:lnTo>
                  <a:pt x="2907387" y="1980244"/>
                </a:lnTo>
                <a:lnTo>
                  <a:pt x="2865306" y="1995980"/>
                </a:lnTo>
                <a:lnTo>
                  <a:pt x="2821998" y="2011119"/>
                </a:lnTo>
                <a:lnTo>
                  <a:pt x="2777507" y="2025650"/>
                </a:lnTo>
                <a:lnTo>
                  <a:pt x="2731880" y="2039564"/>
                </a:lnTo>
                <a:lnTo>
                  <a:pt x="2685160" y="2052851"/>
                </a:lnTo>
                <a:lnTo>
                  <a:pt x="2637392" y="2065500"/>
                </a:lnTo>
                <a:lnTo>
                  <a:pt x="2588623" y="2077502"/>
                </a:lnTo>
                <a:lnTo>
                  <a:pt x="2538896" y="2088848"/>
                </a:lnTo>
                <a:lnTo>
                  <a:pt x="2488257" y="2099527"/>
                </a:lnTo>
                <a:lnTo>
                  <a:pt x="2436750" y="2109529"/>
                </a:lnTo>
                <a:lnTo>
                  <a:pt x="2384421" y="2118844"/>
                </a:lnTo>
                <a:lnTo>
                  <a:pt x="2331315" y="2127464"/>
                </a:lnTo>
                <a:lnTo>
                  <a:pt x="2277476" y="2135377"/>
                </a:lnTo>
                <a:lnTo>
                  <a:pt x="2222950" y="2142574"/>
                </a:lnTo>
                <a:lnTo>
                  <a:pt x="2167781" y="2149045"/>
                </a:lnTo>
                <a:lnTo>
                  <a:pt x="2112014" y="2154780"/>
                </a:lnTo>
                <a:lnTo>
                  <a:pt x="2055695" y="2159769"/>
                </a:lnTo>
                <a:lnTo>
                  <a:pt x="1998869" y="2164003"/>
                </a:lnTo>
                <a:lnTo>
                  <a:pt x="1941580" y="2167471"/>
                </a:lnTo>
                <a:lnTo>
                  <a:pt x="1883873" y="2170164"/>
                </a:lnTo>
                <a:lnTo>
                  <a:pt x="1825794" y="2172072"/>
                </a:lnTo>
                <a:lnTo>
                  <a:pt x="1767387" y="2173185"/>
                </a:lnTo>
                <a:lnTo>
                  <a:pt x="1708697" y="2173493"/>
                </a:lnTo>
                <a:lnTo>
                  <a:pt x="1649770" y="2172986"/>
                </a:lnTo>
                <a:lnTo>
                  <a:pt x="1590650" y="2171654"/>
                </a:lnTo>
                <a:lnTo>
                  <a:pt x="1531382" y="2169487"/>
                </a:lnTo>
                <a:lnTo>
                  <a:pt x="1472011" y="2166477"/>
                </a:lnTo>
                <a:lnTo>
                  <a:pt x="1412582" y="2162611"/>
                </a:lnTo>
                <a:lnTo>
                  <a:pt x="1353141" y="2157882"/>
                </a:lnTo>
                <a:lnTo>
                  <a:pt x="1293732" y="2152279"/>
                </a:lnTo>
                <a:lnTo>
                  <a:pt x="1234400" y="2145792"/>
                </a:lnTo>
                <a:lnTo>
                  <a:pt x="1166961" y="2137308"/>
                </a:lnTo>
                <a:lnTo>
                  <a:pt x="1101013" y="2127821"/>
                </a:lnTo>
                <a:lnTo>
                  <a:pt x="1036591" y="2117358"/>
                </a:lnTo>
                <a:lnTo>
                  <a:pt x="973734" y="2105945"/>
                </a:lnTo>
                <a:lnTo>
                  <a:pt x="912480" y="2093612"/>
                </a:lnTo>
                <a:lnTo>
                  <a:pt x="852864" y="2080384"/>
                </a:lnTo>
                <a:lnTo>
                  <a:pt x="794926" y="2066289"/>
                </a:lnTo>
                <a:lnTo>
                  <a:pt x="738702" y="2051355"/>
                </a:lnTo>
                <a:lnTo>
                  <a:pt x="684231" y="2035610"/>
                </a:lnTo>
                <a:lnTo>
                  <a:pt x="631548" y="2019079"/>
                </a:lnTo>
                <a:lnTo>
                  <a:pt x="580693" y="2001792"/>
                </a:lnTo>
                <a:lnTo>
                  <a:pt x="531703" y="1983775"/>
                </a:lnTo>
                <a:lnTo>
                  <a:pt x="484614" y="1965055"/>
                </a:lnTo>
                <a:lnTo>
                  <a:pt x="439465" y="1945661"/>
                </a:lnTo>
                <a:lnTo>
                  <a:pt x="396293" y="1925619"/>
                </a:lnTo>
                <a:lnTo>
                  <a:pt x="355135" y="1904957"/>
                </a:lnTo>
                <a:lnTo>
                  <a:pt x="316029" y="1883702"/>
                </a:lnTo>
                <a:lnTo>
                  <a:pt x="279013" y="1861882"/>
                </a:lnTo>
                <a:lnTo>
                  <a:pt x="244124" y="1839524"/>
                </a:lnTo>
                <a:lnTo>
                  <a:pt x="211399" y="1816655"/>
                </a:lnTo>
                <a:lnTo>
                  <a:pt x="180876" y="1793303"/>
                </a:lnTo>
                <a:lnTo>
                  <a:pt x="126586" y="1745260"/>
                </a:lnTo>
                <a:lnTo>
                  <a:pt x="81553" y="1695612"/>
                </a:lnTo>
                <a:lnTo>
                  <a:pt x="46079" y="1644580"/>
                </a:lnTo>
                <a:lnTo>
                  <a:pt x="20461" y="1592383"/>
                </a:lnTo>
                <a:lnTo>
                  <a:pt x="5002" y="1539239"/>
                </a:lnTo>
                <a:lnTo>
                  <a:pt x="0" y="1485368"/>
                </a:lnTo>
                <a:lnTo>
                  <a:pt x="1514" y="1458228"/>
                </a:lnTo>
                <a:lnTo>
                  <a:pt x="12760" y="1403677"/>
                </a:lnTo>
                <a:lnTo>
                  <a:pt x="35214" y="1348947"/>
                </a:lnTo>
                <a:lnTo>
                  <a:pt x="69175" y="1294257"/>
                </a:lnTo>
                <a:lnTo>
                  <a:pt x="110392" y="1244767"/>
                </a:lnTo>
                <a:lnTo>
                  <a:pt x="160290" y="1197161"/>
                </a:lnTo>
                <a:lnTo>
                  <a:pt x="218464" y="1151573"/>
                </a:lnTo>
                <a:lnTo>
                  <a:pt x="250529" y="1129578"/>
                </a:lnTo>
                <a:lnTo>
                  <a:pt x="284511" y="1108138"/>
                </a:lnTo>
                <a:lnTo>
                  <a:pt x="320360" y="1087269"/>
                </a:lnTo>
                <a:lnTo>
                  <a:pt x="358026" y="1066989"/>
                </a:lnTo>
                <a:lnTo>
                  <a:pt x="397457" y="1047313"/>
                </a:lnTo>
                <a:lnTo>
                  <a:pt x="438605" y="1028259"/>
                </a:lnTo>
                <a:lnTo>
                  <a:pt x="481417" y="1009844"/>
                </a:lnTo>
                <a:lnTo>
                  <a:pt x="525844" y="992083"/>
                </a:lnTo>
                <a:lnTo>
                  <a:pt x="571834" y="974995"/>
                </a:lnTo>
                <a:lnTo>
                  <a:pt x="619339" y="958595"/>
                </a:lnTo>
                <a:lnTo>
                  <a:pt x="668306" y="942901"/>
                </a:lnTo>
                <a:lnTo>
                  <a:pt x="718685" y="927929"/>
                </a:lnTo>
                <a:lnTo>
                  <a:pt x="770427" y="913696"/>
                </a:lnTo>
                <a:lnTo>
                  <a:pt x="823480" y="900219"/>
                </a:lnTo>
                <a:lnTo>
                  <a:pt x="877794" y="887514"/>
                </a:lnTo>
                <a:lnTo>
                  <a:pt x="933319" y="875599"/>
                </a:lnTo>
                <a:lnTo>
                  <a:pt x="990003" y="864489"/>
                </a:lnTo>
                <a:lnTo>
                  <a:pt x="1047797" y="854201"/>
                </a:lnTo>
                <a:lnTo>
                  <a:pt x="1106650" y="844754"/>
                </a:lnTo>
                <a:lnTo>
                  <a:pt x="1166511" y="836162"/>
                </a:lnTo>
                <a:lnTo>
                  <a:pt x="1227330" y="828443"/>
                </a:lnTo>
                <a:lnTo>
                  <a:pt x="1289056" y="821614"/>
                </a:lnTo>
                <a:lnTo>
                  <a:pt x="1351639" y="815691"/>
                </a:lnTo>
                <a:lnTo>
                  <a:pt x="1415029" y="810692"/>
                </a:lnTo>
                <a:lnTo>
                  <a:pt x="1479175" y="806632"/>
                </a:lnTo>
                <a:lnTo>
                  <a:pt x="1544026" y="803529"/>
                </a:lnTo>
                <a:lnTo>
                  <a:pt x="2057995" y="0"/>
                </a:lnTo>
                <a:close/>
              </a:path>
            </a:pathLst>
          </a:custGeom>
          <a:ln w="9525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183201" y="3563757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 point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117170-7044-42CA-BFFC-1C2B1932572C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35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3682" y="1576451"/>
            <a:ext cx="3657600" cy="4107305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Smart</a:t>
            </a:r>
            <a:r>
              <a:rPr lang="en-US" dirty="0">
                <a:solidFill>
                  <a:srgbClr val="1F3864"/>
                </a:solidFill>
              </a:rPr>
              <a:t> Actuators</a:t>
            </a:r>
            <a:endParaRPr dirty="0">
              <a:solidFill>
                <a:srgbClr val="1F3864"/>
              </a:solidFill>
            </a:endParaRPr>
          </a:p>
        </p:txBody>
      </p:sp>
      <p:sp>
        <p:nvSpPr>
          <p:cNvPr id="25" name="Rectangle 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-200238" y="1576451"/>
            <a:ext cx="8907358" cy="4964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/>
            <a:r>
              <a:rPr lang="en-US" altLang="en-US" b="1" dirty="0"/>
              <a:t>Analog Actuators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Accept analog input signals (e.g., 0–10V, </a:t>
            </a: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4–20mA</a:t>
            </a: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).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actuator's position or speed varies proportionally to the input</a:t>
            </a:r>
            <a:r>
              <a:rPr lang="en-US" altLang="en-US" spc="-5" dirty="0" smtClea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eaLnBrk="0" fontAlgn="base" hangingPunct="0"/>
            <a:r>
              <a:rPr lang="en-US" altLang="en-US" b="1" dirty="0"/>
              <a:t>Digital Actuators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Receive on/off or discrete position commands.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Example: Open/close valve, forward/reverse motor</a:t>
            </a:r>
            <a:r>
              <a:rPr lang="en-US" altLang="en-US" spc="-5" dirty="0" smtClean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/>
            <a:r>
              <a:rPr lang="en-US" altLang="en-US" b="1" dirty="0"/>
              <a:t>PWM-Controlled </a:t>
            </a:r>
            <a:r>
              <a:rPr lang="en-US" altLang="en-US" b="1" dirty="0" smtClean="0"/>
              <a:t>Actuators</a:t>
            </a:r>
            <a:endParaRPr lang="en-US" altLang="en-US" b="1" dirty="0"/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Input is a digital pulse with varying duty cycle.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Used </a:t>
            </a: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DC motor control, servo motors, lighting systems.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00401DC-9695-44CC-BACD-BEAB45D70BCF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4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Smart</a:t>
            </a:r>
            <a:r>
              <a:rPr lang="en-US" dirty="0">
                <a:solidFill>
                  <a:srgbClr val="1F3864"/>
                </a:solidFill>
              </a:rPr>
              <a:t> Actuators</a:t>
            </a:r>
            <a:endParaRPr dirty="0">
              <a:solidFill>
                <a:srgbClr val="1F3864"/>
              </a:solidFill>
            </a:endParaRPr>
          </a:p>
        </p:txBody>
      </p:sp>
      <p:sp>
        <p:nvSpPr>
          <p:cNvPr id="25" name="Rectangle 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-190078" y="1686426"/>
            <a:ext cx="11907520" cy="4802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Smart </a:t>
            </a:r>
            <a:r>
              <a:rPr lang="en-US" b="1" dirty="0" smtClean="0"/>
              <a:t>Intelligent </a:t>
            </a:r>
            <a:r>
              <a:rPr lang="en-US" b="1" dirty="0"/>
              <a:t>Actuators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Embedded </a:t>
            </a:r>
            <a:r>
              <a:rPr 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microcontroller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execute </a:t>
            </a: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tasks autonomously (e.g., self-calibration, diagnostics).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Often integrate sensors internally </a:t>
            </a: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 feedback (position</a:t>
            </a: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temperature, etc</a:t>
            </a:r>
            <a:r>
              <a:rPr lang="en-US" altLang="en-US" spc="-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.).</a:t>
            </a:r>
            <a:endParaRPr lang="en-US" spc="-5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r>
              <a:rPr lang="en-US" b="1" dirty="0" smtClean="0"/>
              <a:t>Smart Networked Actuators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spc="-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 multiple actuators to be controlled from a central </a:t>
            </a:r>
            <a:r>
              <a:rPr lang="en-US" spc="-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 </a:t>
            </a:r>
            <a:r>
              <a:rPr lang="en-US" spc="-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 cloud platform.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buClr>
                <a:srgbClr val="3333CC"/>
              </a:buClr>
              <a:buFont typeface="Wingdings"/>
              <a:buChar char=""/>
            </a:pPr>
            <a:r>
              <a:rPr lang="en-US" spc="-5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Wireless Smart Actuators, Ideal for hard-to-reach locations or battery-powered systems.</a:t>
            </a:r>
            <a:endParaRPr lang="en-US" altLang="en-US" spc="-5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971800" y="3691355"/>
            <a:ext cx="264816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5B506A0-C458-40A9-BA92-1690D5F86E0D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3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Advantages of Smart Sensor</a:t>
            </a:r>
            <a:r>
              <a:rPr lang="en-US" dirty="0">
                <a:solidFill>
                  <a:srgbClr val="1F3864"/>
                </a:solidFill>
              </a:rPr>
              <a:t> </a:t>
            </a:r>
            <a:r>
              <a:rPr lang="en-US" dirty="0" smtClean="0">
                <a:solidFill>
                  <a:srgbClr val="1F3864"/>
                </a:solidFill>
              </a:rPr>
              <a:t>and </a:t>
            </a:r>
            <a:r>
              <a:rPr lang="en-US" dirty="0">
                <a:solidFill>
                  <a:srgbClr val="1F3864"/>
                </a:solidFill>
              </a:rPr>
              <a:t>Actuator</a:t>
            </a:r>
            <a:r>
              <a:rPr dirty="0">
                <a:solidFill>
                  <a:srgbClr val="1F3864"/>
                </a:solidFill>
              </a:rPr>
              <a:t> (1)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0820" y="1576451"/>
            <a:ext cx="11142980" cy="47673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5130" indent="-393065">
              <a:spcBef>
                <a:spcPts val="95"/>
              </a:spcBef>
              <a:buAutoNum type="arabicPeriod"/>
              <a:tabLst>
                <a:tab pos="405765" algn="l"/>
              </a:tabLst>
            </a:pPr>
            <a:r>
              <a:rPr sz="2800" spc="-5" dirty="0">
                <a:solidFill>
                  <a:srgbClr val="0000FF"/>
                </a:solidFill>
              </a:rPr>
              <a:t>User’s Convenience because</a:t>
            </a:r>
            <a:r>
              <a:rPr sz="2800" spc="40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of:</a:t>
            </a:r>
            <a:endParaRPr sz="2800" dirty="0"/>
          </a:p>
          <a:p>
            <a:pPr marL="686435" lvl="1" indent="-217170">
              <a:spcBef>
                <a:spcPts val="5"/>
              </a:spcBef>
              <a:buChar char="-"/>
              <a:tabLst>
                <a:tab pos="687070" algn="l"/>
              </a:tabLst>
            </a:pPr>
            <a:r>
              <a:rPr sz="2800" spc="-5" dirty="0"/>
              <a:t>No wiring</a:t>
            </a:r>
            <a:endParaRPr sz="2800" dirty="0"/>
          </a:p>
          <a:p>
            <a:pPr marL="686435" lvl="1" indent="-217170">
              <a:buChar char="-"/>
              <a:tabLst>
                <a:tab pos="687070" algn="l"/>
              </a:tabLst>
            </a:pPr>
            <a:r>
              <a:rPr sz="2800" spc="-5" dirty="0"/>
              <a:t>Compact</a:t>
            </a:r>
            <a:r>
              <a:rPr sz="2800" spc="5" dirty="0"/>
              <a:t> </a:t>
            </a:r>
            <a:r>
              <a:rPr sz="2800" spc="-5" dirty="0"/>
              <a:t>size</a:t>
            </a:r>
            <a:endParaRPr sz="2800" dirty="0"/>
          </a:p>
          <a:p>
            <a:pPr marL="669290" lvl="1" indent="-216535">
              <a:buChar char="-"/>
              <a:tabLst>
                <a:tab pos="669925" algn="l"/>
              </a:tabLst>
            </a:pPr>
            <a:r>
              <a:rPr sz="2800" spc="-5" dirty="0"/>
              <a:t>No headache of </a:t>
            </a:r>
            <a:r>
              <a:rPr sz="2800" dirty="0"/>
              <a:t>selecting</a:t>
            </a:r>
            <a:r>
              <a:rPr sz="2800" spc="25" dirty="0"/>
              <a:t> </a:t>
            </a:r>
            <a:r>
              <a:rPr lang="en-US" sz="2800" spc="-5" dirty="0"/>
              <a:t>extra circuit</a:t>
            </a:r>
            <a:endParaRPr sz="2800" dirty="0"/>
          </a:p>
          <a:p>
            <a:pPr marL="686435" lvl="1" indent="-217170">
              <a:buChar char="-"/>
              <a:tabLst>
                <a:tab pos="687070" algn="l"/>
              </a:tabLst>
            </a:pPr>
            <a:r>
              <a:rPr sz="2800" spc="-5" dirty="0"/>
              <a:t>No </a:t>
            </a:r>
            <a:r>
              <a:rPr sz="2800" dirty="0"/>
              <a:t>headache </a:t>
            </a:r>
            <a:r>
              <a:rPr sz="2800" spc="-5" dirty="0"/>
              <a:t>of </a:t>
            </a:r>
            <a:r>
              <a:rPr sz="2800" dirty="0"/>
              <a:t>designing</a:t>
            </a:r>
            <a:r>
              <a:rPr sz="2800" spc="25" dirty="0"/>
              <a:t> </a:t>
            </a:r>
            <a:r>
              <a:rPr lang="en-US" sz="2800" spc="25" dirty="0"/>
              <a:t>extra circuit</a:t>
            </a:r>
            <a:endParaRPr sz="2800" dirty="0"/>
          </a:p>
          <a:p>
            <a:pPr lvl="1">
              <a:spcBef>
                <a:spcPts val="25"/>
              </a:spcBef>
              <a:buFont typeface="Arial"/>
              <a:buChar char="-"/>
            </a:pPr>
            <a:endParaRPr sz="2900" dirty="0"/>
          </a:p>
          <a:p>
            <a:pPr marL="405765" indent="-393700">
              <a:buAutoNum type="arabicPeriod"/>
              <a:tabLst>
                <a:tab pos="406400" algn="l"/>
              </a:tabLst>
            </a:pPr>
            <a:r>
              <a:rPr sz="2800" dirty="0">
                <a:solidFill>
                  <a:srgbClr val="0000FF"/>
                </a:solidFill>
              </a:rPr>
              <a:t>Superior </a:t>
            </a:r>
            <a:r>
              <a:rPr sz="2800" spc="-5" dirty="0">
                <a:solidFill>
                  <a:srgbClr val="0000FF"/>
                </a:solidFill>
              </a:rPr>
              <a:t>Performance</a:t>
            </a:r>
            <a:r>
              <a:rPr sz="2800" spc="25" dirty="0">
                <a:solidFill>
                  <a:srgbClr val="0000FF"/>
                </a:solidFill>
              </a:rPr>
              <a:t> </a:t>
            </a:r>
            <a:r>
              <a:rPr sz="2800" spc="-5" dirty="0">
                <a:solidFill>
                  <a:srgbClr val="0000FF"/>
                </a:solidFill>
              </a:rPr>
              <a:t>because:</a:t>
            </a:r>
            <a:endParaRPr sz="2800" dirty="0"/>
          </a:p>
          <a:p>
            <a:pPr marL="572135" lvl="1" indent="-217170">
              <a:spcBef>
                <a:spcPts val="5"/>
              </a:spcBef>
              <a:buChar char="-"/>
              <a:tabLst>
                <a:tab pos="572770" algn="l"/>
              </a:tabLst>
            </a:pPr>
            <a:r>
              <a:rPr sz="2800" dirty="0"/>
              <a:t>External </a:t>
            </a:r>
            <a:r>
              <a:rPr sz="2800" spc="-5" dirty="0"/>
              <a:t>noise</a:t>
            </a:r>
            <a:r>
              <a:rPr lang="en-US" sz="2800" spc="-5" dirty="0"/>
              <a:t>/disturbance</a:t>
            </a:r>
            <a:r>
              <a:rPr sz="2800" spc="-5" dirty="0"/>
              <a:t> </a:t>
            </a:r>
            <a:r>
              <a:rPr lang="en-US" sz="2800" spc="-5" dirty="0"/>
              <a:t>effect is </a:t>
            </a:r>
            <a:r>
              <a:rPr sz="2800" dirty="0"/>
              <a:t>absent</a:t>
            </a:r>
            <a:r>
              <a:rPr lang="en-US" sz="2800" dirty="0"/>
              <a:t>.</a:t>
            </a:r>
            <a:endParaRPr sz="2800" dirty="0"/>
          </a:p>
          <a:p>
            <a:pPr marL="572135" lvl="1" indent="-217170">
              <a:buChar char="-"/>
              <a:tabLst>
                <a:tab pos="572770" algn="l"/>
              </a:tabLst>
            </a:pPr>
            <a:r>
              <a:rPr sz="2800" spc="-5" dirty="0"/>
              <a:t>Built-in </a:t>
            </a:r>
            <a:r>
              <a:rPr lang="en-US" sz="2800" dirty="0"/>
              <a:t>device</a:t>
            </a:r>
            <a:r>
              <a:rPr sz="2800" dirty="0"/>
              <a:t>-specific</a:t>
            </a:r>
            <a:r>
              <a:rPr sz="2800" spc="-5" dirty="0"/>
              <a:t> </a:t>
            </a:r>
            <a:r>
              <a:rPr sz="2800" spc="-5" dirty="0"/>
              <a:t>circuits </a:t>
            </a:r>
            <a:r>
              <a:rPr sz="2800" dirty="0"/>
              <a:t>perform</a:t>
            </a:r>
            <a:r>
              <a:rPr sz="2800" spc="35" dirty="0"/>
              <a:t> </a:t>
            </a:r>
            <a:r>
              <a:rPr sz="2800" spc="-5" dirty="0"/>
              <a:t>better</a:t>
            </a:r>
            <a:endParaRPr sz="2800" dirty="0"/>
          </a:p>
          <a:p>
            <a:pPr marL="572135" lvl="1" indent="-217170">
              <a:buChar char="-"/>
              <a:tabLst>
                <a:tab pos="572770" algn="l"/>
              </a:tabLst>
            </a:pPr>
            <a:r>
              <a:rPr sz="2800" spc="-5" dirty="0"/>
              <a:t>Built-in </a:t>
            </a:r>
            <a:r>
              <a:rPr sz="2800" dirty="0"/>
              <a:t>feedback </a:t>
            </a:r>
            <a:r>
              <a:rPr sz="2800" spc="-5" dirty="0"/>
              <a:t>reduce</a:t>
            </a:r>
            <a:r>
              <a:rPr lang="en-US" sz="2800" spc="-5" dirty="0"/>
              <a:t>s error</a:t>
            </a:r>
            <a:endParaRPr sz="2800" dirty="0"/>
          </a:p>
          <a:p>
            <a:pPr marL="602615" marR="262255" lvl="1" indent="-247015">
              <a:buChar char="-"/>
              <a:tabLst>
                <a:tab pos="572770" algn="l"/>
              </a:tabLst>
            </a:pPr>
            <a:r>
              <a:rPr sz="2800" spc="-5" dirty="0"/>
              <a:t>Built-in </a:t>
            </a:r>
            <a:r>
              <a:rPr sz="2800" dirty="0"/>
              <a:t>compensating circuits reduce sensitivity  </a:t>
            </a:r>
            <a:r>
              <a:rPr sz="2800" spc="-5" dirty="0"/>
              <a:t>to </a:t>
            </a:r>
            <a:r>
              <a:rPr sz="2800" dirty="0"/>
              <a:t>temperature</a:t>
            </a:r>
            <a:r>
              <a:rPr lang="en-US" sz="2800" dirty="0"/>
              <a:t>.</a:t>
            </a:r>
            <a:endParaRPr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96D9630-FCE7-44C8-9468-6E7B8F656131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32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Advantages of Smart Sensor</a:t>
            </a:r>
            <a:r>
              <a:rPr lang="en-US" dirty="0">
                <a:solidFill>
                  <a:srgbClr val="1F3864"/>
                </a:solidFill>
              </a:rPr>
              <a:t> and Actuator</a:t>
            </a:r>
            <a:r>
              <a:rPr dirty="0">
                <a:solidFill>
                  <a:srgbClr val="1F3864"/>
                </a:solidFill>
              </a:rPr>
              <a:t> (2)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564" y="1781887"/>
            <a:ext cx="6304280" cy="3474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5765" indent="-393065">
              <a:spcBef>
                <a:spcPts val="95"/>
              </a:spcBef>
              <a:buAutoNum type="arabicPeriod" startAt="3"/>
              <a:tabLst>
                <a:tab pos="405765" algn="l"/>
              </a:tabLst>
            </a:pPr>
            <a:r>
              <a:rPr sz="2800" spc="-5" dirty="0">
                <a:solidFill>
                  <a:srgbClr val="0000FF"/>
                </a:solidFill>
              </a:rPr>
              <a:t>High </a:t>
            </a:r>
            <a:r>
              <a:rPr sz="2800" dirty="0">
                <a:solidFill>
                  <a:srgbClr val="0000FF"/>
                </a:solidFill>
              </a:rPr>
              <a:t>Reliability because</a:t>
            </a:r>
            <a:r>
              <a:rPr sz="2800" spc="20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of:</a:t>
            </a:r>
            <a:endParaRPr sz="2800" dirty="0"/>
          </a:p>
          <a:p>
            <a:pPr marL="572135" lvl="1" indent="-217170">
              <a:buChar char="-"/>
              <a:tabLst>
                <a:tab pos="572770" algn="l"/>
              </a:tabLst>
            </a:pPr>
            <a:r>
              <a:rPr sz="2800" spc="-5" dirty="0"/>
              <a:t>Reduced component</a:t>
            </a:r>
            <a:r>
              <a:rPr sz="2800" spc="30" dirty="0"/>
              <a:t> </a:t>
            </a:r>
            <a:r>
              <a:rPr sz="2800" spc="-5" dirty="0"/>
              <a:t>count</a:t>
            </a:r>
            <a:endParaRPr sz="2800" dirty="0"/>
          </a:p>
          <a:p>
            <a:pPr marL="572135" lvl="1" indent="-217170">
              <a:buChar char="-"/>
              <a:tabLst>
                <a:tab pos="572770" algn="l"/>
              </a:tabLst>
            </a:pPr>
            <a:r>
              <a:rPr sz="2800" spc="-5" dirty="0"/>
              <a:t>Reduced</a:t>
            </a:r>
            <a:r>
              <a:rPr sz="2800" spc="10" dirty="0"/>
              <a:t> </a:t>
            </a:r>
            <a:r>
              <a:rPr sz="2800" spc="-5" dirty="0"/>
              <a:t>wiring</a:t>
            </a:r>
            <a:endParaRPr sz="2800" dirty="0"/>
          </a:p>
          <a:p>
            <a:pPr lvl="1">
              <a:spcBef>
                <a:spcPts val="30"/>
              </a:spcBef>
              <a:buFont typeface="Arial"/>
              <a:buChar char="-"/>
            </a:pPr>
            <a:endParaRPr sz="2900" dirty="0"/>
          </a:p>
          <a:p>
            <a:pPr marL="405765" indent="-393700">
              <a:buAutoNum type="arabicPeriod" startAt="3"/>
              <a:tabLst>
                <a:tab pos="406400" algn="l"/>
              </a:tabLst>
            </a:pPr>
            <a:r>
              <a:rPr sz="2800" spc="-5" dirty="0">
                <a:solidFill>
                  <a:srgbClr val="0000FF"/>
                </a:solidFill>
              </a:rPr>
              <a:t>Cost Reduction because</a:t>
            </a:r>
            <a:r>
              <a:rPr sz="2800" spc="10" dirty="0">
                <a:solidFill>
                  <a:srgbClr val="0000FF"/>
                </a:solidFill>
              </a:rPr>
              <a:t> </a:t>
            </a:r>
            <a:r>
              <a:rPr sz="2800" dirty="0">
                <a:solidFill>
                  <a:srgbClr val="0000FF"/>
                </a:solidFill>
              </a:rPr>
              <a:t>of:</a:t>
            </a:r>
            <a:endParaRPr sz="2800" dirty="0"/>
          </a:p>
          <a:p>
            <a:pPr marL="584200" marR="5080" lvl="1" indent="-228600">
              <a:buChar char="-"/>
              <a:tabLst>
                <a:tab pos="572770" algn="l"/>
              </a:tabLst>
            </a:pPr>
            <a:r>
              <a:rPr sz="2800" spc="-5" dirty="0"/>
              <a:t>Concurrent production </a:t>
            </a:r>
            <a:r>
              <a:rPr sz="2800" dirty="0"/>
              <a:t>of electronics  </a:t>
            </a:r>
            <a:r>
              <a:rPr sz="2800" spc="-5" dirty="0"/>
              <a:t>and</a:t>
            </a:r>
            <a:r>
              <a:rPr sz="2800" spc="-10" dirty="0"/>
              <a:t> </a:t>
            </a:r>
            <a:r>
              <a:rPr sz="2800" dirty="0"/>
              <a:t>sensor</a:t>
            </a:r>
          </a:p>
          <a:p>
            <a:pPr marL="584200" lvl="1" indent="-229235">
              <a:buChar char="-"/>
              <a:tabLst>
                <a:tab pos="584835" algn="l"/>
              </a:tabLst>
            </a:pPr>
            <a:r>
              <a:rPr sz="2800" dirty="0"/>
              <a:t>Mass </a:t>
            </a:r>
            <a:r>
              <a:rPr sz="2800" spc="-5" dirty="0"/>
              <a:t>production</a:t>
            </a:r>
            <a:r>
              <a:rPr sz="2800" spc="-20" dirty="0"/>
              <a:t> </a:t>
            </a:r>
            <a:r>
              <a:rPr sz="2800" dirty="0"/>
              <a:t>techniques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B94070C-3294-414A-962C-3B1C6C46F7F4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69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Case </a:t>
            </a:r>
            <a:r>
              <a:rPr dirty="0">
                <a:solidFill>
                  <a:srgbClr val="1F3864"/>
                </a:solidFill>
              </a:rPr>
              <a:t>Study</a:t>
            </a:r>
            <a:r>
              <a:rPr lang="en-US" dirty="0">
                <a:solidFill>
                  <a:srgbClr val="1F3864"/>
                </a:solidFill>
              </a:rPr>
              <a:t> #1</a:t>
            </a:r>
            <a:endParaRPr dirty="0">
              <a:solidFill>
                <a:srgbClr val="1F3864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2101" y="2007946"/>
            <a:ext cx="7403465" cy="5366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41800"/>
              </a:lnSpc>
              <a:spcBef>
                <a:spcPts val="95"/>
              </a:spcBef>
            </a:pPr>
            <a:r>
              <a:rPr sz="2400" b="1" spc="-5" dirty="0">
                <a:solidFill>
                  <a:srgbClr val="3333CC"/>
                </a:solidFill>
                <a:latin typeface="Verdana"/>
                <a:cs typeface="Verdana"/>
              </a:rPr>
              <a:t>Smart Three-Terminal Temperature </a:t>
            </a:r>
            <a:r>
              <a:rPr sz="2400" b="1" spc="-5" dirty="0">
                <a:solidFill>
                  <a:srgbClr val="3333CC"/>
                </a:solidFill>
                <a:latin typeface="Verdana"/>
                <a:cs typeface="Verdana"/>
              </a:rPr>
              <a:t>Sensor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86797" y="4719320"/>
            <a:ext cx="5894070" cy="836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5430" marR="5080" indent="-1523365">
              <a:lnSpc>
                <a:spcPct val="147900"/>
              </a:lnSpc>
              <a:spcBef>
                <a:spcPts val="100"/>
              </a:spcBef>
            </a:pPr>
            <a:r>
              <a:rPr sz="1800" spc="-5" dirty="0">
                <a:solidFill>
                  <a:srgbClr val="3333CC"/>
                </a:solidFill>
                <a:latin typeface="Verdana"/>
                <a:cs typeface="Verdana"/>
              </a:rPr>
              <a:t>Manufacturer: National Semiconductor Corporation  Website:</a:t>
            </a:r>
            <a:r>
              <a:rPr sz="1800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3333CC"/>
                </a:solidFill>
                <a:latin typeface="Verdana"/>
                <a:cs typeface="Verdana"/>
                <a:hlinkClick r:id="rId2"/>
              </a:rPr>
              <a:t>www.national.com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21262" y="3305704"/>
            <a:ext cx="3149600" cy="863600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E311C19-A0E8-4D33-8746-B377CC19739F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5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LM35.…….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565" y="1728165"/>
            <a:ext cx="7720756" cy="442621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algn="ctr">
              <a:spcBef>
                <a:spcPts val="95"/>
              </a:spcBef>
            </a:pPr>
            <a:r>
              <a:rPr sz="2800" spc="-10" dirty="0">
                <a:solidFill>
                  <a:srgbClr val="CC0000"/>
                </a:solidFill>
                <a:latin typeface="Verdana"/>
                <a:cs typeface="Verdana"/>
              </a:rPr>
              <a:t>Major</a:t>
            </a:r>
            <a:r>
              <a:rPr sz="2800" spc="2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800" spc="-5" dirty="0">
                <a:solidFill>
                  <a:srgbClr val="CC0000"/>
                </a:solidFill>
                <a:latin typeface="Verdana"/>
                <a:cs typeface="Verdana"/>
              </a:rPr>
              <a:t>Specifications</a:t>
            </a:r>
            <a:endParaRPr sz="2800" dirty="0">
              <a:latin typeface="Verdana"/>
              <a:cs typeface="Verdana"/>
            </a:endParaRPr>
          </a:p>
          <a:p>
            <a:pPr>
              <a:spcBef>
                <a:spcPts val="20"/>
              </a:spcBef>
            </a:pPr>
            <a:endParaRPr sz="3750" dirty="0">
              <a:latin typeface="Verdana"/>
              <a:cs typeface="Verdana"/>
            </a:endParaRPr>
          </a:p>
          <a:p>
            <a:pPr marL="353695" indent="-341630">
              <a:buFont typeface="Wingdings"/>
              <a:buChar char=""/>
              <a:tabLst>
                <a:tab pos="354330" algn="l"/>
              </a:tabLst>
            </a:pPr>
            <a:r>
              <a:rPr sz="2400" dirty="0">
                <a:solidFill>
                  <a:srgbClr val="3333CC"/>
                </a:solidFill>
                <a:latin typeface="Verdana"/>
                <a:cs typeface="Verdana"/>
              </a:rPr>
              <a:t>LM35: </a:t>
            </a:r>
            <a:r>
              <a:rPr sz="2400" spc="-5" dirty="0">
                <a:solidFill>
                  <a:srgbClr val="3333CC"/>
                </a:solidFill>
                <a:latin typeface="Verdana"/>
                <a:cs typeface="Verdana"/>
              </a:rPr>
              <a:t>Centigrade (or Celcius) Temperature</a:t>
            </a:r>
            <a:r>
              <a:rPr sz="2400" spc="-25" dirty="0">
                <a:solidFill>
                  <a:srgbClr val="3333CC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3333CC"/>
                </a:solidFill>
                <a:latin typeface="Verdana"/>
                <a:cs typeface="Verdana"/>
              </a:rPr>
              <a:t>Sensor</a:t>
            </a:r>
            <a:endParaRPr sz="2400" dirty="0">
              <a:latin typeface="Verdana"/>
              <a:cs typeface="Verdana"/>
            </a:endParaRP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spc="-5" dirty="0">
                <a:latin typeface="Verdana"/>
                <a:cs typeface="Verdana"/>
              </a:rPr>
              <a:t>Basic </a:t>
            </a:r>
            <a:r>
              <a:rPr sz="2000" spc="-5" dirty="0">
                <a:latin typeface="Verdana"/>
                <a:cs typeface="Verdana"/>
              </a:rPr>
              <a:t>Range</a:t>
            </a:r>
            <a:r>
              <a:rPr sz="2000" spc="-5" dirty="0">
                <a:latin typeface="Verdana"/>
                <a:cs typeface="Verdana"/>
              </a:rPr>
              <a:t>: </a:t>
            </a:r>
            <a:r>
              <a:rPr lang="en-US" sz="2000" dirty="0">
                <a:latin typeface="Verdana"/>
                <a:cs typeface="Verdana"/>
              </a:rPr>
              <a:t>2</a:t>
            </a:r>
            <a:r>
              <a:rPr sz="200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 </a:t>
            </a:r>
            <a:r>
              <a:rPr sz="2000" spc="-5" dirty="0">
                <a:latin typeface="Verdana"/>
                <a:cs typeface="Verdana"/>
              </a:rPr>
              <a:t>150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" dirty="0"/>
              <a:t>°</a:t>
            </a:r>
            <a:r>
              <a:rPr sz="2000" spc="-5" dirty="0">
                <a:latin typeface="Verdana"/>
                <a:cs typeface="Verdana"/>
              </a:rPr>
              <a:t>C</a:t>
            </a:r>
            <a:endParaRPr sz="2000" dirty="0">
              <a:latin typeface="Verdana"/>
              <a:cs typeface="Verdana"/>
            </a:endParaRPr>
          </a:p>
          <a:p>
            <a:pPr marL="695325" lvl="1" indent="-342265">
              <a:spcBef>
                <a:spcPts val="48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sz="2000" spc="-5" dirty="0">
                <a:latin typeface="Verdana"/>
                <a:cs typeface="Verdana"/>
              </a:rPr>
              <a:t>Output: </a:t>
            </a:r>
            <a:r>
              <a:rPr sz="2000" dirty="0">
                <a:latin typeface="Verdana"/>
                <a:cs typeface="Verdana"/>
              </a:rPr>
              <a:t>10 </a:t>
            </a:r>
            <a:r>
              <a:rPr sz="2000" spc="-5" dirty="0">
                <a:latin typeface="Verdana"/>
                <a:cs typeface="Verdana"/>
              </a:rPr>
              <a:t>mV/</a:t>
            </a:r>
            <a:r>
              <a:rPr sz="2000" spc="-5" dirty="0"/>
              <a:t>°</a:t>
            </a:r>
            <a:r>
              <a:rPr sz="2000" spc="-5" dirty="0">
                <a:latin typeface="Verdana"/>
                <a:cs typeface="Verdana"/>
              </a:rPr>
              <a:t>C</a:t>
            </a:r>
            <a:endParaRPr sz="2000" dirty="0">
              <a:latin typeface="Verdana"/>
              <a:cs typeface="Verdana"/>
            </a:endParaRPr>
          </a:p>
          <a:p>
            <a:pPr marL="695325" lvl="1" indent="-342265">
              <a:spcBef>
                <a:spcPts val="48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sz="2000" spc="-5" dirty="0">
                <a:latin typeface="Verdana"/>
                <a:cs typeface="Verdana"/>
              </a:rPr>
              <a:t>Accuracy: </a:t>
            </a:r>
            <a:r>
              <a:rPr sz="2000" dirty="0"/>
              <a:t>±</a:t>
            </a:r>
            <a:r>
              <a:rPr sz="2000" dirty="0">
                <a:latin typeface="Verdana"/>
                <a:cs typeface="Verdana"/>
              </a:rPr>
              <a:t>0.2 </a:t>
            </a:r>
            <a:r>
              <a:rPr sz="2000" dirty="0"/>
              <a:t>°</a:t>
            </a:r>
            <a:r>
              <a:rPr sz="2000" dirty="0">
                <a:latin typeface="Verdana"/>
                <a:cs typeface="Verdana"/>
              </a:rPr>
              <a:t>C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(typical)</a:t>
            </a:r>
            <a:endParaRPr lang="en-US" sz="2000" spc="-5" dirty="0">
              <a:latin typeface="Verdana"/>
              <a:cs typeface="Verdana"/>
            </a:endParaRPr>
          </a:p>
          <a:p>
            <a:pPr marL="695325" lvl="1" indent="-342265">
              <a:spcBef>
                <a:spcPts val="48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spc="-5" dirty="0">
                <a:latin typeface="Verdana"/>
                <a:cs typeface="Verdana"/>
              </a:rPr>
              <a:t>Gives Linear Output</a:t>
            </a:r>
          </a:p>
          <a:p>
            <a:pPr marL="695325" lvl="1" indent="-342265">
              <a:spcBef>
                <a:spcPts val="48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spc="-5" dirty="0">
                <a:latin typeface="Verdana"/>
                <a:cs typeface="Verdana"/>
              </a:rPr>
              <a:t>Datasheet for different modes</a:t>
            </a:r>
          </a:p>
          <a:p>
            <a:pPr marL="695325" lvl="1" indent="-342265">
              <a:spcBef>
                <a:spcPts val="48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endParaRPr sz="2000" spc="-5" dirty="0">
              <a:latin typeface="Verdana"/>
              <a:cs typeface="Verdana"/>
            </a:endParaRPr>
          </a:p>
          <a:p>
            <a:pPr marL="353060" lvl="1">
              <a:spcBef>
                <a:spcPts val="480"/>
              </a:spcBef>
              <a:buClr>
                <a:srgbClr val="3333CC"/>
              </a:buClr>
              <a:tabLst>
                <a:tab pos="695960" algn="l"/>
              </a:tabLst>
            </a:pPr>
            <a:endParaRPr sz="2000" dirty="0">
              <a:latin typeface="Verdana"/>
              <a:cs typeface="Verdana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095" y="3221474"/>
            <a:ext cx="3184924" cy="2343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01" y="5329822"/>
            <a:ext cx="3666421" cy="91044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7938FC2-2B42-4E7A-A6B6-8F40BCC1DCFE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71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LM35.…….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39227" y="1961219"/>
            <a:ext cx="524891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2800" spc="-10" dirty="0">
                <a:solidFill>
                  <a:srgbClr val="CC0000"/>
                </a:solidFill>
                <a:latin typeface="Verdana"/>
                <a:cs typeface="Verdana"/>
              </a:rPr>
              <a:t>Interfacing with Arduino</a:t>
            </a:r>
            <a:endParaRPr sz="2800" dirty="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5162" y="2912439"/>
            <a:ext cx="1885950" cy="23590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64" y="2912439"/>
            <a:ext cx="7123260" cy="281940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5511" y="3920612"/>
            <a:ext cx="2180642" cy="217285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373E25-7F58-40AE-BB05-B648D06FEB07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2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1F3864"/>
                </a:solidFill>
              </a:rPr>
              <a:t>Case </a:t>
            </a:r>
            <a:r>
              <a:rPr dirty="0">
                <a:solidFill>
                  <a:srgbClr val="1F3864"/>
                </a:solidFill>
              </a:rPr>
              <a:t>Study</a:t>
            </a:r>
            <a:r>
              <a:rPr lang="en-US" dirty="0">
                <a:solidFill>
                  <a:srgbClr val="1F3864"/>
                </a:solidFill>
              </a:rPr>
              <a:t> #2</a:t>
            </a:r>
            <a:endParaRPr dirty="0">
              <a:solidFill>
                <a:srgbClr val="1F3864"/>
              </a:solidFill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173564" y="1656080"/>
            <a:ext cx="11835556" cy="6357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3695" indent="-341630">
              <a:buFont typeface="Wingdings"/>
              <a:buChar char=""/>
              <a:tabLst>
                <a:tab pos="354330" algn="l"/>
              </a:tabLst>
            </a:pPr>
            <a:r>
              <a:rPr lang="en-US" sz="2400" dirty="0">
                <a:solidFill>
                  <a:srgbClr val="3333CC"/>
                </a:solidFill>
                <a:latin typeface="Verdana"/>
                <a:cs typeface="Verdana"/>
              </a:rPr>
              <a:t>LCD with I2C Interface</a:t>
            </a:r>
            <a:r>
              <a:rPr sz="2400" dirty="0">
                <a:solidFill>
                  <a:srgbClr val="3333CC"/>
                </a:solidFill>
                <a:latin typeface="Verdana"/>
                <a:cs typeface="Verdana"/>
              </a:rPr>
              <a:t>:</a:t>
            </a:r>
            <a:endParaRPr sz="2400" dirty="0">
              <a:latin typeface="Verdana"/>
              <a:cs typeface="Verdana"/>
            </a:endParaRP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b="1" spc="-5" dirty="0">
                <a:latin typeface="Verdana"/>
                <a:cs typeface="Verdana"/>
              </a:rPr>
              <a:t>Inter-Integrated Circuit:</a:t>
            </a:r>
            <a:r>
              <a:rPr lang="en-US" sz="2000" spc="-5" dirty="0">
                <a:latin typeface="Verdana"/>
                <a:cs typeface="Verdana"/>
              </a:rPr>
              <a:t> a two wire synchronous communication protocol</a:t>
            </a: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Verdana"/>
                <a:cs typeface="Verdana"/>
              </a:rPr>
              <a:t>Wires:</a:t>
            </a:r>
          </a:p>
          <a:p>
            <a:pPr marL="1609725" lvl="3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pt-BR" sz="2000" b="1" dirty="0"/>
              <a:t>SDA (Serial Data)</a:t>
            </a:r>
            <a:r>
              <a:rPr lang="pt-BR" sz="2000" dirty="0"/>
              <a:t> – transfers data</a:t>
            </a:r>
          </a:p>
          <a:p>
            <a:pPr marL="1609725" lvl="3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pt-BR" sz="2000" b="1" dirty="0"/>
              <a:t>SCL (Serial Clock)</a:t>
            </a:r>
            <a:r>
              <a:rPr lang="pt-BR" sz="2000" dirty="0"/>
              <a:t> – synchronizes data </a:t>
            </a:r>
            <a:r>
              <a:rPr lang="pt-BR" sz="2000" dirty="0"/>
              <a:t>transfer</a:t>
            </a: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Reduces number of pins </a:t>
            </a:r>
            <a:r>
              <a:rPr lang="en-US" altLang="en-US" sz="2000" dirty="0">
                <a:latin typeface="Arial" panose="020B0604020202020204" pitchFamily="34" charset="0"/>
              </a:rPr>
              <a:t>needed</a:t>
            </a:r>
            <a:r>
              <a:rPr lang="en-US" altLang="en-US" sz="2000" b="1" dirty="0"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latin typeface="Arial" panose="020B0604020202020204" pitchFamily="34" charset="0"/>
              </a:rPr>
              <a:t>to just 2 (SDA, SCL)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Easier wiring and cleaner circuit </a:t>
            </a:r>
            <a:r>
              <a:rPr lang="en-US" altLang="en-US" sz="2000" dirty="0">
                <a:latin typeface="Arial" panose="020B0604020202020204" pitchFamily="34" charset="0"/>
              </a:rPr>
              <a:t>design</a:t>
            </a: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Can connect multiple I2C devices with just 2 wires and </a:t>
            </a:r>
            <a:r>
              <a:rPr lang="en-US" altLang="en-US" sz="2000" b="1" dirty="0">
                <a:latin typeface="Arial" panose="020B0604020202020204" pitchFamily="34" charset="0"/>
              </a:rPr>
              <a:t>GND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b="1" dirty="0">
                <a:latin typeface="Verdana"/>
                <a:cs typeface="Verdana"/>
              </a:rPr>
              <a:t>LCD: Liquid Crystal Display</a:t>
            </a: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16x2 or 20x4 </a:t>
            </a:r>
            <a:r>
              <a:rPr lang="en-US" altLang="en-US" sz="2000" dirty="0">
                <a:latin typeface="Arial" panose="020B0604020202020204" pitchFamily="34" charset="0"/>
              </a:rPr>
              <a:t>characters LCD</a:t>
            </a: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Common I2C address: </a:t>
            </a:r>
            <a:r>
              <a:rPr lang="en-US" altLang="en-US" sz="2000" b="1" dirty="0">
                <a:latin typeface="Arial" panose="020B0604020202020204" pitchFamily="34" charset="0"/>
              </a:rPr>
              <a:t>0x27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</a:rPr>
              <a:t>or </a:t>
            </a:r>
            <a:r>
              <a:rPr lang="en-US" altLang="en-US" sz="2000" b="1" dirty="0">
                <a:latin typeface="Arial" panose="020B0604020202020204" pitchFamily="34" charset="0"/>
              </a:rPr>
              <a:t>0x3F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endParaRPr lang="en-US" sz="2000" b="1" dirty="0">
              <a:latin typeface="Verdana"/>
              <a:cs typeface="Verdana"/>
            </a:endParaRP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endParaRPr sz="2000" b="1" dirty="0">
              <a:latin typeface="Verdana"/>
              <a:cs typeface="Verdana"/>
            </a:endParaRPr>
          </a:p>
          <a:p>
            <a:pPr marL="695325" lvl="1" indent="-342265">
              <a:spcBef>
                <a:spcPts val="48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endParaRPr sz="2000" spc="-5" dirty="0">
              <a:latin typeface="Verdana"/>
              <a:cs typeface="Verdana"/>
            </a:endParaRPr>
          </a:p>
          <a:p>
            <a:pPr marL="353060" lvl="1">
              <a:spcBef>
                <a:spcPts val="480"/>
              </a:spcBef>
              <a:buClr>
                <a:srgbClr val="3333CC"/>
              </a:buClr>
              <a:tabLst>
                <a:tab pos="695960" algn="l"/>
              </a:tabLst>
            </a:pPr>
            <a:endParaRPr sz="2000" dirty="0">
              <a:latin typeface="Verdana"/>
              <a:cs typeface="Verdana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A1C5814-2A8D-408C-8150-F259EA4C614E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74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6433" y="974409"/>
            <a:ext cx="9232527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100"/>
              </a:spcBef>
              <a:buClr>
                <a:schemeClr val="dk1"/>
              </a:buClr>
              <a:buSzPts val="1800"/>
            </a:pPr>
            <a:r>
              <a:rPr lang="en-US" sz="4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Interfacing with Arduino</a:t>
            </a:r>
            <a:endParaRPr sz="4400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6" y="1663700"/>
            <a:ext cx="4671934" cy="2590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86300" y="5648523"/>
            <a:ext cx="6019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https://lastminuteengineers.com/i2c-lcd-arduino-tutorial/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33" y="4254500"/>
            <a:ext cx="4247800" cy="17018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2540000"/>
            <a:ext cx="3619500" cy="419100"/>
          </a:xfrm>
          <a:prstGeom prst="rect">
            <a:avLst/>
          </a:prstGeom>
        </p:spPr>
      </p:pic>
      <p:sp>
        <p:nvSpPr>
          <p:cNvPr id="14" name="object 3"/>
          <p:cNvSpPr txBox="1"/>
          <p:nvPr/>
        </p:nvSpPr>
        <p:spPr>
          <a:xfrm>
            <a:off x="4868544" y="3068598"/>
            <a:ext cx="3978911" cy="23718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125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Verdana"/>
                <a:cs typeface="Verdana"/>
              </a:rPr>
              <a:t>Library:</a:t>
            </a: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Verdana"/>
                <a:cs typeface="Verdana"/>
              </a:rPr>
              <a:t>LiquidCrystal_I2C</a:t>
            </a:r>
            <a:endParaRPr lang="en-US" sz="2000" dirty="0">
              <a:latin typeface="Verdana"/>
              <a:cs typeface="Verdana"/>
            </a:endParaRP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pt-BR" sz="2000" b="1" dirty="0"/>
              <a:t>0X3F: </a:t>
            </a:r>
            <a:r>
              <a:rPr lang="pt-BR" sz="2000" dirty="0"/>
              <a:t>Address</a:t>
            </a:r>
            <a:r>
              <a:rPr lang="pt-BR" sz="2000" b="1" dirty="0"/>
              <a:t> </a:t>
            </a:r>
            <a:endParaRPr lang="pt-BR" sz="2000" dirty="0"/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pt-BR" sz="2000" b="1" dirty="0"/>
              <a:t>16: </a:t>
            </a:r>
            <a:r>
              <a:rPr lang="pt-BR" sz="2000" dirty="0"/>
              <a:t>Number of characters per line</a:t>
            </a: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pt-BR" sz="2000" b="1" dirty="0"/>
              <a:t>2: </a:t>
            </a:r>
            <a:r>
              <a:rPr lang="pt-BR" sz="2000" dirty="0"/>
              <a:t>Number of Lines	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6621321-1EEC-42F3-A84A-28A4A23C1898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9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783" y="3451046"/>
            <a:ext cx="3886200" cy="2846941"/>
          </a:xfrm>
          <a:prstGeom prst="rect">
            <a:avLst/>
          </a:prstGeom>
        </p:spPr>
      </p:pic>
      <p:sp>
        <p:nvSpPr>
          <p:cNvPr id="8" name="object 2"/>
          <p:cNvSpPr txBox="1">
            <a:spLocks noGrp="1"/>
          </p:cNvSpPr>
          <p:nvPr>
            <p:ph type="title"/>
          </p:nvPr>
        </p:nvSpPr>
        <p:spPr>
          <a:xfrm>
            <a:off x="173564" y="873695"/>
            <a:ext cx="11180236" cy="702756"/>
          </a:xfrm>
          <a:prstGeom prst="rect">
            <a:avLst/>
          </a:prstGeom>
        </p:spPr>
        <p:txBody>
          <a:bodyPr spcFirstLastPara="1" vert="horz" wrap="square" lIns="0" tIns="12700" rIns="0" bIns="0" rtlCol="0" anchor="b" anchorCtr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Font typeface="Arial"/>
            </a:pPr>
            <a:r>
              <a:rPr dirty="0">
                <a:solidFill>
                  <a:srgbClr val="1F3864"/>
                </a:solidFill>
                <a:sym typeface="Arial"/>
              </a:rPr>
              <a:t>Case </a:t>
            </a:r>
            <a:r>
              <a:rPr dirty="0">
                <a:solidFill>
                  <a:srgbClr val="1F3864"/>
                </a:solidFill>
                <a:sym typeface="Arial"/>
              </a:rPr>
              <a:t>Study</a:t>
            </a:r>
            <a:r>
              <a:rPr lang="en-US" dirty="0">
                <a:solidFill>
                  <a:srgbClr val="1F3864"/>
                </a:solidFill>
                <a:sym typeface="Arial"/>
              </a:rPr>
              <a:t> #3 Servo Motor</a:t>
            </a:r>
            <a:endParaRPr dirty="0">
              <a:solidFill>
                <a:srgbClr val="1F3864"/>
              </a:solidFill>
              <a:sym typeface="Arial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-225638" y="1698371"/>
            <a:ext cx="11978640" cy="45518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Arial" panose="020B0604020202020204" pitchFamily="34" charset="0"/>
              </a:rPr>
              <a:t>a </a:t>
            </a:r>
            <a:r>
              <a:rPr lang="en-US" sz="2000" b="1" dirty="0">
                <a:latin typeface="Arial" panose="020B0604020202020204" pitchFamily="34" charset="0"/>
              </a:rPr>
              <a:t>rotary actuator</a:t>
            </a:r>
            <a:r>
              <a:rPr lang="en-US" sz="2000" dirty="0">
                <a:latin typeface="Arial" panose="020B0604020202020204" pitchFamily="34" charset="0"/>
              </a:rPr>
              <a:t> that precisely controls </a:t>
            </a:r>
            <a:r>
              <a:rPr lang="en-US" sz="2000" b="1" dirty="0">
                <a:latin typeface="Arial" panose="020B0604020202020204" pitchFamily="34" charset="0"/>
              </a:rPr>
              <a:t>angular position</a:t>
            </a:r>
            <a:r>
              <a:rPr lang="en-US" sz="2000" dirty="0">
                <a:latin typeface="Arial" panose="020B0604020202020204" pitchFamily="34" charset="0"/>
              </a:rPr>
              <a:t>.</a:t>
            </a: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Arial" panose="020B0604020202020204" pitchFamily="34" charset="0"/>
              </a:rPr>
              <a:t>combines a </a:t>
            </a:r>
            <a:r>
              <a:rPr lang="en-US" sz="2000" b="1" dirty="0">
                <a:latin typeface="Arial" panose="020B0604020202020204" pitchFamily="34" charset="0"/>
              </a:rPr>
              <a:t>DC motor</a:t>
            </a:r>
            <a:r>
              <a:rPr lang="en-US" sz="2000" dirty="0">
                <a:latin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</a:rPr>
              <a:t>gearbox</a:t>
            </a:r>
            <a:r>
              <a:rPr lang="en-US" sz="2000" dirty="0">
                <a:latin typeface="Arial" panose="020B0604020202020204" pitchFamily="34" charset="0"/>
              </a:rPr>
              <a:t>, </a:t>
            </a:r>
            <a:r>
              <a:rPr lang="en-US" sz="2000" b="1" dirty="0">
                <a:latin typeface="Arial" panose="020B0604020202020204" pitchFamily="34" charset="0"/>
              </a:rPr>
              <a:t>position sensor </a:t>
            </a:r>
            <a:r>
              <a:rPr lang="en-US" sz="2000" dirty="0">
                <a:latin typeface="Arial" panose="020B0604020202020204" pitchFamily="34" charset="0"/>
              </a:rPr>
              <a:t>(typically a potentiometer), and an </a:t>
            </a:r>
            <a:r>
              <a:rPr lang="en-US" sz="2000" b="1" dirty="0">
                <a:latin typeface="Arial" panose="020B0604020202020204" pitchFamily="34" charset="0"/>
              </a:rPr>
              <a:t>internal control circuit</a:t>
            </a:r>
            <a:r>
              <a:rPr lang="en-US" sz="2000" dirty="0">
                <a:latin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</a:endParaRP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b="1" dirty="0">
                <a:latin typeface="Verdana"/>
                <a:cs typeface="Verdana"/>
              </a:rPr>
              <a:t>Smart Actuator</a:t>
            </a: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Built-in </a:t>
            </a:r>
            <a:r>
              <a:rPr lang="en-US" altLang="en-US" sz="2000" b="1" dirty="0">
                <a:latin typeface="Arial" panose="020B0604020202020204" pitchFamily="34" charset="0"/>
              </a:rPr>
              <a:t>feedback </a:t>
            </a:r>
            <a:r>
              <a:rPr lang="en-US" altLang="en-US" sz="2000" dirty="0">
                <a:latin typeface="Arial" panose="020B0604020202020204" pitchFamily="34" charset="0"/>
              </a:rPr>
              <a:t>mechanism to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self-adjusts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reach the commanded angle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Receives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PWM control signal</a:t>
            </a:r>
          </a:p>
          <a:p>
            <a:pPr marL="1152525" lvl="2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Rotation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</a:p>
          <a:p>
            <a:pPr marL="1609725" lvl="3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1. Typically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0° 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180°</a:t>
            </a:r>
          </a:p>
          <a:p>
            <a:pPr marL="1609725" lvl="3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2. Continuous mode 360°</a:t>
            </a: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altLang="en-US" sz="2000" dirty="0">
                <a:latin typeface="Arial" panose="020B0604020202020204" pitchFamily="34" charset="0"/>
              </a:rPr>
              <a:t>Robotics (arm joints, wheels)</a:t>
            </a: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Drones, RC vehicles, Camera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82337E-0985-4AF0-992D-1F11BEF83412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1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4800" y="965195"/>
            <a:ext cx="87134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4400" b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Interfacing with Arduino</a:t>
            </a:r>
            <a:endParaRPr sz="4400" b="1" dirty="0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object 3"/>
          <p:cNvSpPr txBox="1"/>
          <p:nvPr/>
        </p:nvSpPr>
        <p:spPr>
          <a:xfrm>
            <a:off x="3307398" y="4243038"/>
            <a:ext cx="5486400" cy="1628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8125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Verdana"/>
                <a:cs typeface="Verdana"/>
              </a:rPr>
              <a:t>Library: </a:t>
            </a:r>
            <a:r>
              <a:rPr lang="en-US" sz="2000" dirty="0" err="1">
                <a:latin typeface="Verdana"/>
                <a:cs typeface="Verdana"/>
              </a:rPr>
              <a:t>Servo.h</a:t>
            </a:r>
            <a:endParaRPr lang="en-US" sz="2000" dirty="0">
              <a:latin typeface="Verdana"/>
              <a:cs typeface="Verdana"/>
            </a:endParaRP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Verdana"/>
                <a:cs typeface="Verdana"/>
              </a:rPr>
              <a:t>Create </a:t>
            </a:r>
            <a:r>
              <a:rPr lang="en-US" altLang="en-US" sz="2000" dirty="0">
                <a:solidFill>
                  <a:srgbClr val="1E2D35"/>
                </a:solidFill>
                <a:latin typeface="Consolas" panose="020B0609020204030204" pitchFamily="49" charset="0"/>
              </a:rPr>
              <a:t>Servo servo</a:t>
            </a:r>
            <a:r>
              <a:rPr lang="en-US" sz="2000" dirty="0">
                <a:latin typeface="Verdana"/>
                <a:cs typeface="Verdana"/>
              </a:rPr>
              <a:t> </a:t>
            </a:r>
            <a:r>
              <a:rPr lang="en-US" sz="2000" dirty="0" err="1">
                <a:latin typeface="Verdana"/>
                <a:cs typeface="Verdana"/>
              </a:rPr>
              <a:t>o</a:t>
            </a:r>
            <a:r>
              <a:rPr lang="en-US" sz="2000" dirty="0" err="1">
                <a:latin typeface="Verdana"/>
                <a:cs typeface="Verdana"/>
              </a:rPr>
              <a:t>bj</a:t>
            </a:r>
            <a:r>
              <a:rPr lang="en-US" sz="2000" dirty="0">
                <a:latin typeface="Verdana"/>
                <a:cs typeface="Verdana"/>
              </a:rPr>
              <a:t> </a:t>
            </a: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en-US" sz="2000" dirty="0">
                <a:latin typeface="Verdana"/>
                <a:cs typeface="Verdana"/>
              </a:rPr>
              <a:t>Attach control pin </a:t>
            </a:r>
            <a:r>
              <a:rPr lang="en-US" sz="2000" dirty="0" err="1">
                <a:latin typeface="Verdana"/>
                <a:cs typeface="Verdana"/>
              </a:rPr>
              <a:t>s</a:t>
            </a:r>
            <a:r>
              <a:rPr lang="en-US" altLang="en-US" sz="2000" dirty="0" err="1">
                <a:solidFill>
                  <a:srgbClr val="1E2D35"/>
                </a:solidFill>
                <a:latin typeface="Consolas" panose="020B0609020204030204" pitchFamily="49" charset="0"/>
              </a:rPr>
              <a:t>ervo.</a:t>
            </a:r>
            <a:r>
              <a:rPr lang="en-US" altLang="en-US" sz="2000" dirty="0" err="1">
                <a:solidFill>
                  <a:srgbClr val="3B78E7"/>
                </a:solidFill>
                <a:latin typeface="Consolas" panose="020B0609020204030204" pitchFamily="49" charset="0"/>
              </a:rPr>
              <a:t>attach</a:t>
            </a:r>
            <a:r>
              <a:rPr lang="en-US" altLang="en-US" sz="2000" dirty="0">
                <a:solidFill>
                  <a:srgbClr val="1E2D35"/>
                </a:solidFill>
                <a:latin typeface="Consolas" panose="020B0609020204030204" pitchFamily="49" charset="0"/>
              </a:rPr>
              <a:t>(9)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695325" lvl="1" indent="-342265">
              <a:spcBef>
                <a:spcPts val="1040"/>
              </a:spcBef>
              <a:buClr>
                <a:srgbClr val="3333CC"/>
              </a:buClr>
              <a:buFont typeface="Wingdings"/>
              <a:buChar char=""/>
              <a:tabLst>
                <a:tab pos="695960" algn="l"/>
              </a:tabLst>
            </a:pPr>
            <a:r>
              <a:rPr lang="pt-BR" sz="2000" b="1" dirty="0"/>
              <a:t> </a:t>
            </a:r>
            <a:r>
              <a:rPr lang="en-US" altLang="en-US" sz="2000" dirty="0" err="1">
                <a:solidFill>
                  <a:srgbClr val="1E2D35"/>
                </a:solidFill>
                <a:latin typeface="Consolas" panose="020B0609020204030204" pitchFamily="49" charset="0"/>
              </a:rPr>
              <a:t>servo.</a:t>
            </a:r>
            <a:r>
              <a:rPr lang="en-US" altLang="en-US" sz="2000" dirty="0" err="1">
                <a:solidFill>
                  <a:srgbClr val="3B78E7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2000" dirty="0">
                <a:solidFill>
                  <a:srgbClr val="1E2D35"/>
                </a:solidFill>
                <a:latin typeface="Consolas" panose="020B0609020204030204" pitchFamily="49" charset="0"/>
              </a:rPr>
              <a:t>(angle</a:t>
            </a:r>
            <a:r>
              <a:rPr lang="en-US" altLang="en-US" sz="2000" dirty="0">
                <a:solidFill>
                  <a:srgbClr val="1E2D35"/>
                </a:solidFill>
                <a:latin typeface="Consolas" panose="020B0609020204030204" pitchFamily="49" charset="0"/>
              </a:rPr>
              <a:t>)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307398" y="5871048"/>
            <a:ext cx="6172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https://lastminuteengineers.com/servo-motor-arduino-tutorial/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080158"/>
            <a:ext cx="2895600" cy="374047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07798" y="1553388"/>
            <a:ext cx="4572000" cy="153888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SG90 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servo motor to the Arduino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 to the 5V 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</a:t>
            </a:r>
            <a:endParaRPr lang="en-US" sz="2000" dirty="0">
              <a:solidFill>
                <a:srgbClr val="1919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Brown 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wire to the </a:t>
            </a:r>
            <a:r>
              <a:rPr lang="en-US" sz="2000" dirty="0">
                <a:solidFill>
                  <a:srgbClr val="1919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range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Yellow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wire to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PWM pin</a:t>
            </a:r>
            <a:endParaRPr lang="en-US" sz="2000" dirty="0">
              <a:solidFill>
                <a:srgbClr val="19191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191919"/>
              </a:solidFill>
              <a:latin typeface="Segoe UI" panose="020B0502040204020203" pitchFamily="34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9722" y="2912012"/>
            <a:ext cx="3952875" cy="1356865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ABB7FA-FABC-447E-B5CA-B89AF30B9619}" type="datetime4">
              <a:rPr lang="en-US" smtClean="0"/>
              <a:t>November 14,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 smtClean="0"/>
              <a:t>Lecture 5 – Smart Sensors and Smart Actuators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05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725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 txBox="1"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5400"/>
              <a:buFont typeface="Calibri"/>
              <a:buNone/>
            </a:pPr>
            <a:r>
              <a:rPr lang="en-US" sz="5400"/>
              <a:t>End of the Lecture</a:t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1256</Words>
  <Application>Microsoft Office PowerPoint</Application>
  <PresentationFormat>Widescreen</PresentationFormat>
  <Paragraphs>300</Paragraphs>
  <Slides>25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Consolas</vt:lpstr>
      <vt:lpstr>Segoe UI</vt:lpstr>
      <vt:lpstr>Times New Roman</vt:lpstr>
      <vt:lpstr>Verdana</vt:lpstr>
      <vt:lpstr>Wingdings</vt:lpstr>
      <vt:lpstr>Office Theme</vt:lpstr>
      <vt:lpstr>Lecture 5  SMART SENSORS and SMART ACTUATORS</vt:lpstr>
      <vt:lpstr>Lecture Objectives</vt:lpstr>
      <vt:lpstr>What is a Sensor</vt:lpstr>
      <vt:lpstr>Sensor Output</vt:lpstr>
      <vt:lpstr>Sensor Output</vt:lpstr>
      <vt:lpstr>Smart Sensors</vt:lpstr>
      <vt:lpstr>Level Of Integration</vt:lpstr>
      <vt:lpstr>Smart Sensor with Analog Output</vt:lpstr>
      <vt:lpstr>Smart Sensor with PWM Output</vt:lpstr>
      <vt:lpstr>Smart Sensor with Digital Output</vt:lpstr>
      <vt:lpstr>Smart Intelligent Sensor</vt:lpstr>
      <vt:lpstr>Smart Network Sensor</vt:lpstr>
      <vt:lpstr>Smart Actuators</vt:lpstr>
      <vt:lpstr>Smart Actuators</vt:lpstr>
      <vt:lpstr>Smart Actuators</vt:lpstr>
      <vt:lpstr>Advantages of Smart Sensor and Actuator (1)</vt:lpstr>
      <vt:lpstr>Advantages of Smart Sensor and Actuator (2)</vt:lpstr>
      <vt:lpstr>Case Study #1</vt:lpstr>
      <vt:lpstr>LM35.…….</vt:lpstr>
      <vt:lpstr>LM35.…….</vt:lpstr>
      <vt:lpstr>Case Study #2</vt:lpstr>
      <vt:lpstr>PowerPoint Presentation</vt:lpstr>
      <vt:lpstr>Case Study #3 Servo Motor</vt:lpstr>
      <vt:lpstr>PowerPoint Presentation</vt:lpstr>
      <vt:lpstr>End of the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9  Transducers – Sensors and Actuators</dc:title>
  <dc:creator>Akchayat Bikram Joshi</dc:creator>
  <cp:lastModifiedBy>Sandip</cp:lastModifiedBy>
  <cp:revision>32</cp:revision>
  <dcterms:created xsi:type="dcterms:W3CDTF">2020-07-29T02:48:43Z</dcterms:created>
  <dcterms:modified xsi:type="dcterms:W3CDTF">2025-11-14T17:26:20Z</dcterms:modified>
</cp:coreProperties>
</file>